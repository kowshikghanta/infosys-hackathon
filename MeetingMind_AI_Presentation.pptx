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1" r:id="rId2"/>
    <p:sldId id="262" r:id="rId3"/>
    <p:sldId id="263" r:id="rId4"/>
    <p:sldId id="264" r:id="rId5"/>
    <p:sldId id="265" r:id="rId6"/>
    <p:sldId id="266" r:id="rId7"/>
    <p:sldId id="267" r:id="rId8"/>
    <p:sldId id="268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D4428D-5941-4A61-A577-FAC7CE696506}" type="datetimeFigureOut">
              <a:t>10/4/2026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AD85C3-A503-4885-9E41-C9980C9855F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8846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 (20s): “Good morning judges! We are Team MeetingMind presenting Problem Statement EP-01: Smart Meeting Action Extractor in the Qualcomm Cloud AI track. We built MeetingMind AI to solve the massive accountability gap in post-meeting follow-ups using Qualcomm hardware and a deterministic zero-hallucination engine.”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 (50s): “Meetings produce unstructured chaos. But the biggest issue isn't summarizing what happened—it's establishing real accountability. When notes say 'Priya may test, but hasn't confirmed yet', a typical LLM tries to be helpful by guessing Priya is the owner and fabricating a deadline. For EP-01, success means refusing to guess, enforcing strict ownership, isolating undecided architecture forks, and delivering actionable deliverables.”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 (55s): “Our solution takes raw transcripts, processes them through a dual-layer engine, and delivers interactive action tables. The AI extracts evidence-backed entities; then our deterministic layer audits the output. The key differentiator is that instead of hallucinating missing data, it alerts the manager with the exact question to ask.”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 (55s): “Walking left to right through our architecture: the user interacts with our Streamlit frontend. The request routes to Cirrascale's Qualcomm Cloud AI hardware running DeepSeek-R1. We enforce an architectural Single-Request Invariant to protect the $3 budget. Our test suite includes 30 unit tests covering network drops, 401s, 429s, and edge cases, passing at 100%.”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 (45s): “We use Qualcomm Cloud AI running DeepSeek-R1-Distill-70B for deep reasoning and Llama-3.1-8B for edge speed. Because we optimized prompt conciseness, extraction completes in 25 seconds. And look at the unit economics: on Cirrascale's official pricing, an entire meeting analysis costs less than a tenth of a cent—under $1 a month for 1,000 meetings!”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 (35s): “For enterprise scalability, MeetingMind AI is built with zero persistent transcript storage for complete GDPR compliance. On Qualcomm Snapdragon X Elite laptops, this can even run entirely on-device on the NPU with zero cloud exposure. Our immediate roadmap includes two-way ticketing synchronization into Jira and an automated Slack bot for follow-up nudges.”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TO LIVE DEMO: “We will now switch directly to our running prototype at localhost:8501 to demonstrate live end-to-end extraction on Cirrascale Qualcomm Cloud AI hardware.”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FE5308-EC61-0E82-5318-2E5467E0B39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574594" y="5876215"/>
            <a:ext cx="1318963" cy="8186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F3739A-EEDD-E920-B64C-4BAF42FE111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574594" y="163118"/>
            <a:ext cx="1290881" cy="573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58CF6EF-51B3-F9BF-653F-611F4D66192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70911" y="5856565"/>
            <a:ext cx="1514686" cy="8383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16BA7EB-F111-8C47-C6DE-856C431C5918}"/>
              </a:ext>
            </a:extLst>
          </p:cNvPr>
          <p:cNvSpPr txBox="1"/>
          <p:nvPr userDrawn="1"/>
        </p:nvSpPr>
        <p:spPr>
          <a:xfrm>
            <a:off x="3823854" y="6371716"/>
            <a:ext cx="45442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0" i="0">
                <a:effectLst/>
                <a:latin typeface="+mn-lt"/>
              </a:rPr>
              <a:t>© 2026 Infosys Limited. All rights reserved. </a:t>
            </a:r>
          </a:p>
          <a:p>
            <a:endParaRPr lang="en-US" b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AF7831-804B-72A5-6574-FDC83C72188C}"/>
              </a:ext>
            </a:extLst>
          </p:cNvPr>
          <p:cNvSpPr txBox="1"/>
          <p:nvPr/>
        </p:nvSpPr>
        <p:spPr>
          <a:xfrm>
            <a:off x="1939636" y="1842655"/>
            <a:ext cx="8465128" cy="31089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4600" b="1">
                <a:solidFill>
                  <a:srgbClr val="003B7A"/>
                </a:solidFill>
                <a:latin typeface="Aptos Display"/>
              </a:rPr>
              <a:t>Hack-AI-Thon 2026</a:t>
            </a:r>
          </a:p>
          <a:p>
            <a:r>
              <a:rPr sz="2400">
                <a:solidFill>
                  <a:srgbClr val="475569"/>
                </a:solidFill>
                <a:latin typeface="Aptos Display"/>
              </a:rPr>
              <a:t>Solution Presentation</a:t>
            </a:r>
          </a:p>
          <a:p/>
          <a:p>
            <a:r>
              <a:rPr sz="2000" b="1">
                <a:solidFill>
                  <a:srgbClr val="003B7A"/>
                </a:solidFill>
                <a:latin typeface="Aptos"/>
              </a:rPr>
              <a:t>MeetingMind AI — Smart Meeting Action Extractor</a:t>
            </a:r>
          </a:p>
          <a:p>
            <a:r>
              <a:rPr sz="1300" b="0">
                <a:solidFill>
                  <a:srgbClr val="475569"/>
                </a:solidFill>
                <a:latin typeface="Aptos"/>
              </a:rPr>
              <a:t>Track 3: Engagement Platforms (EP-01)  •  Qualcomm Cloud AI Track</a:t>
            </a:r>
          </a:p>
        </p:txBody>
      </p:sp>
    </p:spTree>
    <p:extLst>
      <p:ext uri="{BB962C8B-B14F-4D97-AF65-F5344CB8AC3E}">
        <p14:creationId xmlns:p14="http://schemas.microsoft.com/office/powerpoint/2010/main" val="386943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93C5638-F773-A35E-B550-DEDD6A48FF1D}"/>
              </a:ext>
            </a:extLst>
          </p:cNvPr>
          <p:cNvSpPr/>
          <p:nvPr/>
        </p:nvSpPr>
        <p:spPr>
          <a:xfrm>
            <a:off x="475488" y="256032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 Introduction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2449A72-43FB-5240-7790-5D50EFB89B5D}"/>
              </a:ext>
            </a:extLst>
          </p:cNvPr>
          <p:cNvSpPr/>
          <p:nvPr/>
        </p:nvSpPr>
        <p:spPr>
          <a:xfrm>
            <a:off x="9875520" y="704088"/>
            <a:ext cx="1737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SUGGESTED TIME  0:20</a:t>
            </a:r>
            <a:endParaRPr lang="en-US" sz="8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3C06E83-2D18-2697-77D8-1766EDC40708}"/>
              </a:ext>
            </a:extLst>
          </p:cNvPr>
          <p:cNvSpPr/>
          <p:nvPr/>
        </p:nvSpPr>
        <p:spPr>
          <a:xfrm>
            <a:off x="566928" y="11338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007CC3"/>
                </a:solidFill>
              </a:rPr>
              <a:t>HACK-AI-THON 2026</a:t>
            </a:r>
            <a:endParaRPr lang="en-US" sz="1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6341152-32E0-DDA7-8E39-55C4BAD49756}"/>
              </a:ext>
            </a:extLst>
          </p:cNvPr>
          <p:cNvSpPr/>
          <p:nvPr/>
        </p:nvSpPr>
        <p:spPr>
          <a:xfrm>
            <a:off x="566928" y="1472184"/>
            <a:ext cx="6629400" cy="54864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2800" b="1">
                <a:solidFill>
                  <a:srgbClr val="003B7A"/>
                </a:solidFill>
                <a:latin typeface="Aptos"/>
              </a:rPr>
              <a:t>Team MeetingMind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239C95B-BCA9-CD44-D0BC-9ADFEFE95C8C}"/>
              </a:ext>
            </a:extLst>
          </p:cNvPr>
          <p:cNvSpPr/>
          <p:nvPr/>
        </p:nvSpPr>
        <p:spPr>
          <a:xfrm>
            <a:off x="7635240" y="1261872"/>
            <a:ext cx="406908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0ACF21D-B3D5-FAC8-B6C3-71127CBEF29B}"/>
              </a:ext>
            </a:extLst>
          </p:cNvPr>
          <p:cNvSpPr/>
          <p:nvPr/>
        </p:nvSpPr>
        <p:spPr>
          <a:xfrm>
            <a:off x="7799832" y="1389888"/>
            <a:ext cx="3739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5417A8"/>
                </a:solidFill>
              </a:rPr>
              <a:t>COLLEGE</a:t>
            </a:r>
            <a:endParaRPr lang="en-US" sz="8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8BAB699-72FC-A681-8C0C-72043C517529}"/>
              </a:ext>
            </a:extLst>
          </p:cNvPr>
          <p:cNvSpPr/>
          <p:nvPr/>
        </p:nvSpPr>
        <p:spPr>
          <a:xfrm>
            <a:off x="7799832" y="1655064"/>
            <a:ext cx="3739896" cy="448056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Aptos"/>
              </a:rPr>
              <a:t>Infosys IGNITE ENG NEXT 2026 | Hyderabad</a:t>
            </a: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3770BAD-2716-4762-7A11-4FAEBA04353A}"/>
              </a:ext>
            </a:extLst>
          </p:cNvPr>
          <p:cNvSpPr/>
          <p:nvPr/>
        </p:nvSpPr>
        <p:spPr>
          <a:xfrm>
            <a:off x="7635240" y="2395728"/>
            <a:ext cx="406908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E70026C-EA6C-6AEB-1F32-DC1449CBB31E}"/>
              </a:ext>
            </a:extLst>
          </p:cNvPr>
          <p:cNvSpPr/>
          <p:nvPr/>
        </p:nvSpPr>
        <p:spPr>
          <a:xfrm>
            <a:off x="7799832" y="2523744"/>
            <a:ext cx="3739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F28C28"/>
                </a:solidFill>
              </a:rPr>
              <a:t>TEAM MEMBERS</a:t>
            </a:r>
            <a:endParaRPr lang="en-US" sz="85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B53965F-8EB4-9570-D88A-5B5E958088E1}"/>
              </a:ext>
            </a:extLst>
          </p:cNvPr>
          <p:cNvSpPr/>
          <p:nvPr/>
        </p:nvSpPr>
        <p:spPr>
          <a:xfrm>
            <a:off x="7799832" y="2788920"/>
            <a:ext cx="3739896" cy="539496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Aptos"/>
              </a:rPr>
              <a:t>Kowshik Ghanta (Lead)  •  Team Member 2  •  Team Member 3</a:t>
            </a: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A634997F-2956-81EC-37B8-43AB96F19087}"/>
              </a:ext>
            </a:extLst>
          </p:cNvPr>
          <p:cNvSpPr/>
          <p:nvPr/>
        </p:nvSpPr>
        <p:spPr>
          <a:xfrm>
            <a:off x="290509" y="3557016"/>
            <a:ext cx="470916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84622B7B-239A-CE6B-DB89-A38E2DBB780D}"/>
              </a:ext>
            </a:extLst>
          </p:cNvPr>
          <p:cNvSpPr/>
          <p:nvPr/>
        </p:nvSpPr>
        <p:spPr>
          <a:xfrm>
            <a:off x="455101" y="3685032"/>
            <a:ext cx="4379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007CC3"/>
                </a:solidFill>
              </a:rPr>
              <a:t>SELECTED PROBLEM STATEMENT</a:t>
            </a:r>
            <a:endParaRPr lang="en-US" sz="85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8D9DE2A7-5A43-E453-A85B-37D123EB5DAF}"/>
              </a:ext>
            </a:extLst>
          </p:cNvPr>
          <p:cNvSpPr/>
          <p:nvPr/>
        </p:nvSpPr>
        <p:spPr>
          <a:xfrm>
            <a:off x="455101" y="3950208"/>
            <a:ext cx="4379976" cy="32918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1200" b="1">
                <a:solidFill>
                  <a:srgbClr val="003B7A"/>
                </a:solidFill>
                <a:latin typeface="Aptos"/>
              </a:rPr>
              <a:t>EP-01: Smart Meeting Action Extractor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1E5967C-DB75-3EAB-EFE9-2844FA56498A}"/>
              </a:ext>
            </a:extLst>
          </p:cNvPr>
          <p:cNvGrpSpPr/>
          <p:nvPr/>
        </p:nvGrpSpPr>
        <p:grpSpPr>
          <a:xfrm>
            <a:off x="7635240" y="3547872"/>
            <a:ext cx="2615184" cy="841248"/>
            <a:chOff x="7635240" y="3906737"/>
            <a:chExt cx="2615184" cy="841248"/>
          </a:xfrm>
        </p:grpSpPr>
        <p:sp>
          <p:nvSpPr>
            <p:cNvPr id="22" name="Shape 20">
              <a:extLst>
                <a:ext uri="{FF2B5EF4-FFF2-40B4-BE49-F238E27FC236}">
                  <a16:creationId xmlns:a16="http://schemas.microsoft.com/office/drawing/2014/main" id="{7BE944F7-38B5-64C7-930D-B72927FC746D}"/>
                </a:ext>
              </a:extLst>
            </p:cNvPr>
            <p:cNvSpPr/>
            <p:nvPr/>
          </p:nvSpPr>
          <p:spPr>
            <a:xfrm>
              <a:off x="7635240" y="3906737"/>
              <a:ext cx="2615184" cy="841248"/>
            </a:xfrm>
            <a:prstGeom prst="roundRect">
              <a:avLst>
                <a:gd name="adj" fmla="val 5435"/>
              </a:avLst>
            </a:prstGeom>
            <a:solidFill>
              <a:srgbClr val="FFFFFF"/>
            </a:solidFill>
            <a:ln w="12700">
              <a:solidFill>
                <a:srgbClr val="DCE5EC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ADC5DEF7-8576-092D-9F96-DAD18B227F78}"/>
                </a:ext>
              </a:extLst>
            </p:cNvPr>
            <p:cNvSpPr/>
            <p:nvPr/>
          </p:nvSpPr>
          <p:spPr>
            <a:xfrm>
              <a:off x="7799832" y="4034753"/>
              <a:ext cx="228600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kern="0" spc="70" dirty="0">
                  <a:solidFill>
                    <a:srgbClr val="5417A8"/>
                  </a:solidFill>
                </a:rPr>
                <a:t>TECHNOLOGY TRACK</a:t>
              </a:r>
              <a:endParaRPr lang="en-US" sz="850" dirty="0"/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E89A6BC1-C284-CB71-9496-E1F2258424E1}"/>
                </a:ext>
              </a:extLst>
            </p:cNvPr>
            <p:cNvSpPr/>
            <p:nvPr/>
          </p:nvSpPr>
          <p:spPr>
            <a:xfrm>
              <a:off x="7799832" y="4299929"/>
              <a:ext cx="2286000" cy="329184"/>
            </a:xfrm>
            <a:prstGeom prst="rect">
              <a:avLst/>
            </a:prstGeom>
            <a:noFill/>
            <a:ln/>
          </p:spPr>
          <p:txBody>
            <a:bodyPr wrap="square" lIns="36576" tIns="36576" rIns="36576" bIns="36576" rtlCol="0" anchor="ctr">
              <a:normAutofit/>
            </a:bodyPr>
            <a:lstStyle/>
            <a:p>
              <a:pPr algn="l"/>
              <a:r>
                <a:rPr sz="1100" b="1">
                  <a:solidFill>
                    <a:srgbClr val="003B7A"/>
                  </a:solidFill>
                  <a:latin typeface="Aptos"/>
                </a:rPr>
                <a:t>Qualcomm Cloud AI Playground</a:t>
              </a:r>
            </a:p>
          </p:txBody>
        </p:sp>
      </p:grpSp>
      <p:sp>
        <p:nvSpPr>
          <p:cNvPr id="29" name="Slide Number Placeholder 0">
            <a:extLst>
              <a:ext uri="{FF2B5EF4-FFF2-40B4-BE49-F238E27FC236}">
                <a16:creationId xmlns:a16="http://schemas.microsoft.com/office/drawing/2014/main" id="{7F0826ED-9BAD-C2DB-5431-D299FF747B6E}"/>
              </a:ext>
            </a:extLst>
          </p:cNvPr>
          <p:cNvSpPr txBox="1">
            <a:spLocks/>
          </p:cNvSpPr>
          <p:nvPr/>
        </p:nvSpPr>
        <p:spPr>
          <a:xfrm>
            <a:off x="11731752" y="6510528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 marL="0" algn="l" defTabSz="914400" rtl="0" eaLnBrk="1" latinLnBrk="0" hangingPunct="1">
              <a:defRPr sz="800" kern="1200">
                <a:solidFill>
                  <a:srgbClr val="8A96A3"/>
                </a:solidFill>
                <a:latin typeface="Aptos"/>
                <a:ea typeface="Aptos"/>
                <a:cs typeface="Apto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7021451-1387-4CA6-816F-3879F97B5CBC}" type="slidenum">
              <a:rPr lang="en-US" smtClean="0"/>
              <a:pPr algn="r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228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0052623C-23F0-F8E2-64EB-111E89A6EDBA}"/>
              </a:ext>
            </a:extLst>
          </p:cNvPr>
          <p:cNvSpPr/>
          <p:nvPr/>
        </p:nvSpPr>
        <p:spPr>
          <a:xfrm>
            <a:off x="475488" y="256032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46B4950A-3E35-1583-F0FA-3FA18DF704FF}"/>
              </a:ext>
            </a:extLst>
          </p:cNvPr>
          <p:cNvSpPr/>
          <p:nvPr/>
        </p:nvSpPr>
        <p:spPr>
          <a:xfrm>
            <a:off x="713232" y="1243584"/>
            <a:ext cx="6483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5417A8"/>
                </a:solidFill>
              </a:rPr>
              <a:t>ACTUAL PROBLEM STATEMENT</a:t>
            </a:r>
            <a:endParaRPr lang="en-US" sz="8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C28330B-AECD-6684-FE9B-DCE13D39A099}"/>
              </a:ext>
            </a:extLst>
          </p:cNvPr>
          <p:cNvSpPr/>
          <p:nvPr/>
        </p:nvSpPr>
        <p:spPr>
          <a:xfrm>
            <a:off x="713232" y="1508760"/>
            <a:ext cx="6483096" cy="722376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1150" b="0">
                <a:solidFill>
                  <a:srgbClr val="0F172A"/>
                </a:solidFill>
                <a:latin typeface="Aptos"/>
              </a:rPr>
              <a:t>Convert unstructured, messy meeting transcripts into structured decisions, accountable action items, designated owners, unambiguous due dates, and project risks.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871A307-2145-F941-36B5-7FB8E48AF6A3}"/>
              </a:ext>
            </a:extLst>
          </p:cNvPr>
          <p:cNvSpPr/>
          <p:nvPr/>
        </p:nvSpPr>
        <p:spPr>
          <a:xfrm>
            <a:off x="7735824" y="1243584"/>
            <a:ext cx="3803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F28C28"/>
                </a:solidFill>
              </a:rPr>
              <a:t>WHO IS AFFECTED?</a:t>
            </a:r>
            <a:endParaRPr lang="en-US" sz="85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E1E736B-0A2D-B024-1EB0-12A200895AC2}"/>
              </a:ext>
            </a:extLst>
          </p:cNvPr>
          <p:cNvSpPr/>
          <p:nvPr/>
        </p:nvSpPr>
        <p:spPr>
          <a:xfrm>
            <a:off x="7735824" y="1508760"/>
            <a:ext cx="3803904" cy="402336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Aptos"/>
              </a:rPr>
              <a:t>Engineering teams, sprint leads, project managers, scrum masters, and enterprise stakeholders.</a:t>
            </a: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9073DFEC-DABB-CC2B-0BA9-871FADDBD8B2}"/>
              </a:ext>
            </a:extLst>
          </p:cNvPr>
          <p:cNvSpPr/>
          <p:nvPr/>
        </p:nvSpPr>
        <p:spPr>
          <a:xfrm>
            <a:off x="7735824" y="2340864"/>
            <a:ext cx="3803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63A845"/>
                </a:solidFill>
              </a:rPr>
              <a:t>WHY DOES IT MATTER?</a:t>
            </a:r>
            <a:endParaRPr lang="en-US" sz="85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42C115EF-03A4-A284-3C57-500DFF669693}"/>
              </a:ext>
            </a:extLst>
          </p:cNvPr>
          <p:cNvSpPr/>
          <p:nvPr/>
        </p:nvSpPr>
        <p:spPr>
          <a:xfrm>
            <a:off x="7735824" y="2606040"/>
            <a:ext cx="3803904" cy="402336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Aptos"/>
              </a:rPr>
              <a:t>30%+ of employee time is spent in meetings. Up to 40% of deliverables are delayed or lost because meeting notes lack explicit owners, timelines are vague ('soon'), or casual proposals are mistaken for agreements.</a:t>
            </a: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6F43253D-9704-E340-ABBE-3C6F52C216CD}"/>
              </a:ext>
            </a:extLst>
          </p:cNvPr>
          <p:cNvSpPr/>
          <p:nvPr/>
        </p:nvSpPr>
        <p:spPr>
          <a:xfrm>
            <a:off x="713232" y="2706624"/>
            <a:ext cx="2889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007CC3"/>
                </a:solidFill>
              </a:rPr>
              <a:t>CURRENT GAP / PAIN POINT</a:t>
            </a:r>
            <a:endParaRPr lang="en-US" sz="850" dirty="0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4B3CD632-0098-5E4B-5432-77CD2893CAF3}"/>
              </a:ext>
            </a:extLst>
          </p:cNvPr>
          <p:cNvSpPr/>
          <p:nvPr/>
        </p:nvSpPr>
        <p:spPr>
          <a:xfrm>
            <a:off x="713232" y="2971800"/>
            <a:ext cx="2889504" cy="83210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Aptos"/>
              </a:rPr>
              <a:t>Existing AI tools provide passive narrative summaries. When forced to extract tasks, standard LLMs hallucinate owners who never volunteered, fabricate calendar dates, and smooth over unconfirmed commitments.</a:t>
            </a: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05F37750-2660-1AD0-F71B-75255FDEFAB9}"/>
              </a:ext>
            </a:extLst>
          </p:cNvPr>
          <p:cNvSpPr/>
          <p:nvPr/>
        </p:nvSpPr>
        <p:spPr>
          <a:xfrm>
            <a:off x="4123944" y="2706624"/>
            <a:ext cx="3072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F28C28"/>
                </a:solidFill>
              </a:rPr>
              <a:t>EVIDENCE / SCENARIO</a:t>
            </a:r>
            <a:endParaRPr lang="en-US" sz="850" dirty="0"/>
          </a:p>
        </p:txBody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824B9B85-9810-1D16-1FED-578C00F4DF52}"/>
              </a:ext>
            </a:extLst>
          </p:cNvPr>
          <p:cNvSpPr/>
          <p:nvPr/>
        </p:nvSpPr>
        <p:spPr>
          <a:xfrm>
            <a:off x="4123944" y="2971800"/>
            <a:ext cx="3072384" cy="83210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Aptos"/>
              </a:rPr>
              <a:t>Real transcript: 'Priya may handle testing, but hasn't confirmed yet. Deployment plan needed soon.' Naive LLMs assign Priya as confirmed owner and invent a date, creating hidden project risk.</a:t>
            </a:r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C355BF79-944B-C7CD-13BE-B68144B0EC3D}"/>
              </a:ext>
            </a:extLst>
          </p:cNvPr>
          <p:cNvSpPr/>
          <p:nvPr/>
        </p:nvSpPr>
        <p:spPr>
          <a:xfrm>
            <a:off x="7735824" y="3438144"/>
            <a:ext cx="3803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5417A8"/>
                </a:solidFill>
              </a:rPr>
              <a:t>SUCCESS DEFINITION</a:t>
            </a:r>
            <a:endParaRPr lang="en-US" sz="850" dirty="0"/>
          </a:p>
        </p:txBody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C74A84FE-3AA0-3CCB-062C-D940850ADC68}"/>
              </a:ext>
            </a:extLst>
          </p:cNvPr>
          <p:cNvSpPr/>
          <p:nvPr/>
        </p:nvSpPr>
        <p:spPr>
          <a:xfrm>
            <a:off x="7735824" y="3703320"/>
            <a:ext cx="3803904" cy="83210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Aptos"/>
              </a:rPr>
              <a:t>1. Verbatim extraction of confirmed tasks.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Aptos"/>
              </a:rPr>
              <a:t>2. Explicit null-handling for missing data (never guessing).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Aptos"/>
              </a:rPr>
              <a:t>3. Deterministic flags with targeted clarification questions.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Aptos"/>
              </a:rPr>
              <a:t>4. RFC-compliant Jira/Asana CSV and JSON export.</a:t>
            </a:r>
          </a:p>
        </p:txBody>
      </p:sp>
    </p:spTree>
    <p:extLst>
      <p:ext uri="{BB962C8B-B14F-4D97-AF65-F5344CB8AC3E}">
        <p14:creationId xmlns:p14="http://schemas.microsoft.com/office/powerpoint/2010/main" val="164864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0">
            <a:extLst>
              <a:ext uri="{FF2B5EF4-FFF2-40B4-BE49-F238E27FC236}">
                <a16:creationId xmlns:a16="http://schemas.microsoft.com/office/drawing/2014/main" id="{C67777A0-5038-444E-6934-D05CAB3438E6}"/>
              </a:ext>
            </a:extLst>
          </p:cNvPr>
          <p:cNvSpPr/>
          <p:nvPr/>
        </p:nvSpPr>
        <p:spPr>
          <a:xfrm>
            <a:off x="475488" y="256032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Proposed Solution</a:t>
            </a:r>
            <a:endParaRPr lang="en-US" sz="2400" dirty="0"/>
          </a:p>
        </p:txBody>
      </p:sp>
      <p:sp>
        <p:nvSpPr>
          <p:cNvPr id="19" name="Text 3">
            <a:extLst>
              <a:ext uri="{FF2B5EF4-FFF2-40B4-BE49-F238E27FC236}">
                <a16:creationId xmlns:a16="http://schemas.microsoft.com/office/drawing/2014/main" id="{A1441BD2-AB6B-3DF0-0186-49A3CEED3D65}"/>
              </a:ext>
            </a:extLst>
          </p:cNvPr>
          <p:cNvSpPr/>
          <p:nvPr/>
        </p:nvSpPr>
        <p:spPr>
          <a:xfrm>
            <a:off x="9875520" y="704088"/>
            <a:ext cx="1737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SUGGESTED TIME  0:55</a:t>
            </a:r>
            <a:endParaRPr lang="en-US" sz="850" dirty="0"/>
          </a:p>
        </p:txBody>
      </p:sp>
      <p:sp>
        <p:nvSpPr>
          <p:cNvPr id="21" name="Shape 5">
            <a:extLst>
              <a:ext uri="{FF2B5EF4-FFF2-40B4-BE49-F238E27FC236}">
                <a16:creationId xmlns:a16="http://schemas.microsoft.com/office/drawing/2014/main" id="{02F5BF56-0B35-42DC-FC64-F0F7939FA4C0}"/>
              </a:ext>
            </a:extLst>
          </p:cNvPr>
          <p:cNvSpPr/>
          <p:nvPr/>
        </p:nvSpPr>
        <p:spPr>
          <a:xfrm>
            <a:off x="548640" y="1097280"/>
            <a:ext cx="10930128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FE4182E2-5F1E-299E-4614-A89A59E0015E}"/>
              </a:ext>
            </a:extLst>
          </p:cNvPr>
          <p:cNvSpPr/>
          <p:nvPr/>
        </p:nvSpPr>
        <p:spPr>
          <a:xfrm>
            <a:off x="713232" y="1225296"/>
            <a:ext cx="10826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007CC3"/>
                </a:solidFill>
              </a:rPr>
              <a:t>SOLUTION IN ONE SENTENCE</a:t>
            </a:r>
            <a:endParaRPr lang="en-US" sz="850" dirty="0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A8AE62DF-DB97-F3CF-1EC2-0ACDD449B30C}"/>
              </a:ext>
            </a:extLst>
          </p:cNvPr>
          <p:cNvSpPr/>
          <p:nvPr/>
        </p:nvSpPr>
        <p:spPr>
          <a:xfrm>
            <a:off x="713232" y="1490472"/>
            <a:ext cx="10826496" cy="265176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 lnSpcReduction="10000"/>
          </a:bodyPr>
          <a:lstStyle/>
          <a:p>
            <a:pPr algn="l"/>
            <a:r>
              <a:rPr sz="1100" b="1">
                <a:solidFill>
                  <a:srgbClr val="003B7A"/>
                </a:solidFill>
                <a:latin typeface="Aptos"/>
              </a:rPr>
              <a:t>Our solution uses Qualcomm Cloud AI and a deterministic Python validation engine to help engineering teams extract accountable action items from messy notes with zero hallucination.</a:t>
            </a:r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371B941B-C86F-0BE1-920C-2A9E692B7C56}"/>
              </a:ext>
            </a:extLst>
          </p:cNvPr>
          <p:cNvSpPr/>
          <p:nvPr/>
        </p:nvSpPr>
        <p:spPr>
          <a:xfrm>
            <a:off x="658368" y="2121408"/>
            <a:ext cx="3319272" cy="1993392"/>
          </a:xfrm>
          <a:prstGeom prst="roundRect">
            <a:avLst>
              <a:gd name="adj" fmla="val 2294"/>
            </a:avLst>
          </a:prstGeom>
          <a:solidFill>
            <a:srgbClr val="EAF7FD"/>
          </a:solidFill>
          <a:ln w="1524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34A98571-1AFC-F292-9D09-AD0A4A068AE6}"/>
              </a:ext>
            </a:extLst>
          </p:cNvPr>
          <p:cNvSpPr/>
          <p:nvPr/>
        </p:nvSpPr>
        <p:spPr>
          <a:xfrm>
            <a:off x="822960" y="2313432"/>
            <a:ext cx="420624" cy="420624"/>
          </a:xfrm>
          <a:prstGeom prst="ellipse">
            <a:avLst/>
          </a:prstGeom>
          <a:solidFill>
            <a:srgbClr val="007CC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60C7AF9D-3541-089A-5E6B-56FCA466CCA5}"/>
              </a:ext>
            </a:extLst>
          </p:cNvPr>
          <p:cNvSpPr/>
          <p:nvPr/>
        </p:nvSpPr>
        <p:spPr>
          <a:xfrm>
            <a:off x="822960" y="2423160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0C1F7D41-1CDE-9DAC-EBC0-815C1D289558}"/>
              </a:ext>
            </a:extLst>
          </p:cNvPr>
          <p:cNvSpPr/>
          <p:nvPr/>
        </p:nvSpPr>
        <p:spPr>
          <a:xfrm>
            <a:off x="1371600" y="23408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INPUT</a:t>
            </a:r>
            <a:endParaRPr lang="en-US" sz="12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98E5604C-41B6-CF70-B0D8-4244465C2130}"/>
              </a:ext>
            </a:extLst>
          </p:cNvPr>
          <p:cNvSpPr/>
          <p:nvPr/>
        </p:nvSpPr>
        <p:spPr>
          <a:xfrm>
            <a:off x="841248" y="2889504"/>
            <a:ext cx="2944368" cy="83210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Aptos"/>
              </a:rPr>
              <a:t>Raw unstructured meeting notes, voice transcripts, or bullet points pasted into the web dashboard.</a:t>
            </a:r>
          </a:p>
          <a:p>
            <a:pPr algn="l"/>
          </a:p>
          <a:p>
            <a:pPr algn="l"/>
            <a:r>
              <a:rPr sz="950" b="0">
                <a:solidFill>
                  <a:srgbClr val="0F172A"/>
                </a:solidFill>
                <a:latin typeface="Aptos"/>
              </a:rPr>
              <a:t>• Includes 1-Click bundled benchmark notes for immediate evaluation.</a:t>
            </a:r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C6B2181D-543C-938E-9D4D-565CB48A781A}"/>
              </a:ext>
            </a:extLst>
          </p:cNvPr>
          <p:cNvSpPr/>
          <p:nvPr/>
        </p:nvSpPr>
        <p:spPr>
          <a:xfrm>
            <a:off x="4059936" y="2779776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CC3"/>
                </a:solidFill>
              </a:rPr>
              <a:t>›</a:t>
            </a:r>
            <a:endParaRPr lang="en-US" sz="2600" dirty="0"/>
          </a:p>
        </p:txBody>
      </p:sp>
      <p:sp>
        <p:nvSpPr>
          <p:cNvPr id="30" name="Shape 14">
            <a:extLst>
              <a:ext uri="{FF2B5EF4-FFF2-40B4-BE49-F238E27FC236}">
                <a16:creationId xmlns:a16="http://schemas.microsoft.com/office/drawing/2014/main" id="{F83C9B4A-5248-7ACA-C711-E148A2B6A329}"/>
              </a:ext>
            </a:extLst>
          </p:cNvPr>
          <p:cNvSpPr/>
          <p:nvPr/>
        </p:nvSpPr>
        <p:spPr>
          <a:xfrm>
            <a:off x="4370832" y="2121408"/>
            <a:ext cx="3319272" cy="1993392"/>
          </a:xfrm>
          <a:prstGeom prst="roundRect">
            <a:avLst>
              <a:gd name="adj" fmla="val 2294"/>
            </a:avLst>
          </a:prstGeom>
          <a:solidFill>
            <a:srgbClr val="F3EEFC"/>
          </a:solidFill>
          <a:ln w="15240">
            <a:solidFill>
              <a:srgbClr val="541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15">
            <a:extLst>
              <a:ext uri="{FF2B5EF4-FFF2-40B4-BE49-F238E27FC236}">
                <a16:creationId xmlns:a16="http://schemas.microsoft.com/office/drawing/2014/main" id="{3269B93A-F82B-3E8E-342E-8A1E7011E71B}"/>
              </a:ext>
            </a:extLst>
          </p:cNvPr>
          <p:cNvSpPr/>
          <p:nvPr/>
        </p:nvSpPr>
        <p:spPr>
          <a:xfrm>
            <a:off x="4535424" y="2313432"/>
            <a:ext cx="420624" cy="420624"/>
          </a:xfrm>
          <a:prstGeom prst="ellipse">
            <a:avLst/>
          </a:prstGeom>
          <a:solidFill>
            <a:srgbClr val="5417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9A002D95-7166-212D-1C2F-622F6CBAB794}"/>
              </a:ext>
            </a:extLst>
          </p:cNvPr>
          <p:cNvSpPr/>
          <p:nvPr/>
        </p:nvSpPr>
        <p:spPr>
          <a:xfrm>
            <a:off x="4535424" y="2423160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27141539-8D6F-3A4F-E553-2FA9E02C8629}"/>
              </a:ext>
            </a:extLst>
          </p:cNvPr>
          <p:cNvSpPr/>
          <p:nvPr/>
        </p:nvSpPr>
        <p:spPr>
          <a:xfrm>
            <a:off x="5084064" y="23408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PROCESS</a:t>
            </a:r>
            <a:endParaRPr lang="en-US" sz="1200" dirty="0"/>
          </a:p>
        </p:txBody>
      </p:sp>
      <p:sp>
        <p:nvSpPr>
          <p:cNvPr id="34" name="Text 18">
            <a:extLst>
              <a:ext uri="{FF2B5EF4-FFF2-40B4-BE49-F238E27FC236}">
                <a16:creationId xmlns:a16="http://schemas.microsoft.com/office/drawing/2014/main" id="{6644E157-AD38-7252-7CFB-3C77C815A5BF}"/>
              </a:ext>
            </a:extLst>
          </p:cNvPr>
          <p:cNvSpPr/>
          <p:nvPr/>
        </p:nvSpPr>
        <p:spPr>
          <a:xfrm>
            <a:off x="4553712" y="2889504"/>
            <a:ext cx="2944368" cy="83210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Aptos"/>
              </a:rPr>
              <a:t>Dual-Layer Processing: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Aptos"/>
              </a:rPr>
              <a:t>1. Qualcomm Cloud AI extracts entities backed by verbatim evidence quotes.</a:t>
            </a:r>
          </a:p>
          <a:p>
            <a:pPr algn="l"/>
            <a:r>
              <a:rPr sz="950" b="0">
                <a:solidFill>
                  <a:srgbClr val="0F172A"/>
                </a:solidFill>
                <a:latin typeface="Aptos"/>
              </a:rPr>
              <a:t>2. Deterministic Python engine audits missing owners, deadlines, tentative flags, and vague words.</a:t>
            </a:r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38C41653-B839-6E76-43DB-17B2C663CB71}"/>
              </a:ext>
            </a:extLst>
          </p:cNvPr>
          <p:cNvSpPr/>
          <p:nvPr/>
        </p:nvSpPr>
        <p:spPr>
          <a:xfrm>
            <a:off x="7772400" y="2779776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CC3"/>
                </a:solidFill>
              </a:rPr>
              <a:t>›</a:t>
            </a:r>
            <a:endParaRPr lang="en-US" sz="2600" dirty="0"/>
          </a:p>
        </p:txBody>
      </p:sp>
      <p:sp>
        <p:nvSpPr>
          <p:cNvPr id="36" name="Shape 20">
            <a:extLst>
              <a:ext uri="{FF2B5EF4-FFF2-40B4-BE49-F238E27FC236}">
                <a16:creationId xmlns:a16="http://schemas.microsoft.com/office/drawing/2014/main" id="{03B724BB-CD71-068B-CF5C-B061FDF3330C}"/>
              </a:ext>
            </a:extLst>
          </p:cNvPr>
          <p:cNvSpPr/>
          <p:nvPr/>
        </p:nvSpPr>
        <p:spPr>
          <a:xfrm>
            <a:off x="8083296" y="2121408"/>
            <a:ext cx="3319272" cy="1993392"/>
          </a:xfrm>
          <a:prstGeom prst="roundRect">
            <a:avLst>
              <a:gd name="adj" fmla="val 2294"/>
            </a:avLst>
          </a:prstGeom>
          <a:solidFill>
            <a:srgbClr val="EFF7E9"/>
          </a:solidFill>
          <a:ln w="15240">
            <a:solidFill>
              <a:srgbClr val="63A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21">
            <a:extLst>
              <a:ext uri="{FF2B5EF4-FFF2-40B4-BE49-F238E27FC236}">
                <a16:creationId xmlns:a16="http://schemas.microsoft.com/office/drawing/2014/main" id="{B6C195CA-E36C-C6E9-5728-77ADC354632A}"/>
              </a:ext>
            </a:extLst>
          </p:cNvPr>
          <p:cNvSpPr/>
          <p:nvPr/>
        </p:nvSpPr>
        <p:spPr>
          <a:xfrm>
            <a:off x="8247888" y="2313432"/>
            <a:ext cx="420624" cy="420624"/>
          </a:xfrm>
          <a:prstGeom prst="ellipse">
            <a:avLst/>
          </a:prstGeom>
          <a:solidFill>
            <a:srgbClr val="63A8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22">
            <a:extLst>
              <a:ext uri="{FF2B5EF4-FFF2-40B4-BE49-F238E27FC236}">
                <a16:creationId xmlns:a16="http://schemas.microsoft.com/office/drawing/2014/main" id="{FF0E0EEF-14EA-FC6A-9783-D69F6266522A}"/>
              </a:ext>
            </a:extLst>
          </p:cNvPr>
          <p:cNvSpPr/>
          <p:nvPr/>
        </p:nvSpPr>
        <p:spPr>
          <a:xfrm>
            <a:off x="8247888" y="2423160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39" name="Text 23">
            <a:extLst>
              <a:ext uri="{FF2B5EF4-FFF2-40B4-BE49-F238E27FC236}">
                <a16:creationId xmlns:a16="http://schemas.microsoft.com/office/drawing/2014/main" id="{FCDA84A9-3946-E20D-B806-C000556594E5}"/>
              </a:ext>
            </a:extLst>
          </p:cNvPr>
          <p:cNvSpPr/>
          <p:nvPr/>
        </p:nvSpPr>
        <p:spPr>
          <a:xfrm>
            <a:off x="8796528" y="23408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OUTPUT</a:t>
            </a:r>
            <a:endParaRPr lang="en-US" sz="1200" dirty="0"/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BE1C7975-0A5B-A11B-FFE7-40F40E440F07}"/>
              </a:ext>
            </a:extLst>
          </p:cNvPr>
          <p:cNvSpPr/>
          <p:nvPr/>
        </p:nvSpPr>
        <p:spPr>
          <a:xfrm>
            <a:off x="8266176" y="2889504"/>
            <a:ext cx="2944368" cy="83210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Aptos"/>
              </a:rPr>
              <a:t>Interactive Action Table with in-session triage, Decisions vs Proposals breakdown, targeted Clarification Questions, and 1-click Jira/Asana CSV &amp; JSON exports.</a:t>
            </a:r>
          </a:p>
        </p:txBody>
      </p:sp>
      <p:sp>
        <p:nvSpPr>
          <p:cNvPr id="41" name="Shape 25">
            <a:extLst>
              <a:ext uri="{FF2B5EF4-FFF2-40B4-BE49-F238E27FC236}">
                <a16:creationId xmlns:a16="http://schemas.microsoft.com/office/drawing/2014/main" id="{2387BDDC-1FD1-94F9-88EA-B1B1A5476958}"/>
              </a:ext>
            </a:extLst>
          </p:cNvPr>
          <p:cNvSpPr/>
          <p:nvPr/>
        </p:nvSpPr>
        <p:spPr>
          <a:xfrm>
            <a:off x="585066" y="4389120"/>
            <a:ext cx="10826496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2" name="Text 26">
            <a:extLst>
              <a:ext uri="{FF2B5EF4-FFF2-40B4-BE49-F238E27FC236}">
                <a16:creationId xmlns:a16="http://schemas.microsoft.com/office/drawing/2014/main" id="{88642670-7401-6942-FA9F-B4B48641D49E}"/>
              </a:ext>
            </a:extLst>
          </p:cNvPr>
          <p:cNvSpPr/>
          <p:nvPr/>
        </p:nvSpPr>
        <p:spPr>
          <a:xfrm>
            <a:off x="713232" y="4462272"/>
            <a:ext cx="10826496" cy="438912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/>
          <a:lstStyle/>
          <a:p>
            <a:pPr algn="l"/>
            <a:r>
              <a:rPr sz="1000" b="1">
                <a:solidFill>
                  <a:srgbClr val="003B7A"/>
                </a:solidFill>
                <a:latin typeface="Aptos"/>
              </a:rPr>
              <a:t>KEY VALUE / DIFFERENTIATOR: The Anti-Hallucination Engine — Strictly grounds tasks in verbatim quotes, refuses to invent missing data, and auto-generates targeted clarification questions.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30B5A7D-81E5-A6BD-24F6-B04017EACA9D}"/>
              </a:ext>
            </a:extLst>
          </p:cNvPr>
          <p:cNvGrpSpPr/>
          <p:nvPr/>
        </p:nvGrpSpPr>
        <p:grpSpPr>
          <a:xfrm>
            <a:off x="554486" y="5010912"/>
            <a:ext cx="10857076" cy="749808"/>
            <a:chOff x="444758" y="5065776"/>
            <a:chExt cx="11228832" cy="1033272"/>
          </a:xfrm>
        </p:grpSpPr>
        <p:sp>
          <p:nvSpPr>
            <p:cNvPr id="44" name="Shape 28">
              <a:extLst>
                <a:ext uri="{FF2B5EF4-FFF2-40B4-BE49-F238E27FC236}">
                  <a16:creationId xmlns:a16="http://schemas.microsoft.com/office/drawing/2014/main" id="{80037608-3A5E-88A3-5289-6D1A79AC9774}"/>
                </a:ext>
              </a:extLst>
            </p:cNvPr>
            <p:cNvSpPr/>
            <p:nvPr/>
          </p:nvSpPr>
          <p:spPr>
            <a:xfrm>
              <a:off x="444758" y="5065776"/>
              <a:ext cx="11228832" cy="960120"/>
            </a:xfrm>
            <a:prstGeom prst="roundRect">
              <a:avLst>
                <a:gd name="adj" fmla="val 5714"/>
              </a:avLst>
            </a:prstGeom>
            <a:solidFill>
              <a:srgbClr val="F8FAFC"/>
            </a:solidFill>
            <a:ln w="12700">
              <a:solidFill>
                <a:srgbClr val="DCE5E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29">
              <a:extLst>
                <a:ext uri="{FF2B5EF4-FFF2-40B4-BE49-F238E27FC236}">
                  <a16:creationId xmlns:a16="http://schemas.microsoft.com/office/drawing/2014/main" id="{E1095448-4699-DBDD-5246-5B6185E2FC94}"/>
                </a:ext>
              </a:extLst>
            </p:cNvPr>
            <p:cNvSpPr/>
            <p:nvPr/>
          </p:nvSpPr>
          <p:spPr>
            <a:xfrm>
              <a:off x="475488" y="5138928"/>
              <a:ext cx="82296" cy="960120"/>
            </a:xfrm>
            <a:prstGeom prst="rect">
              <a:avLst/>
            </a:prstGeom>
            <a:solidFill>
              <a:srgbClr val="007CC3"/>
            </a:solidFill>
            <a:ln w="12700">
              <a:solidFill>
                <a:srgbClr val="007CC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 30">
              <a:extLst>
                <a:ext uri="{FF2B5EF4-FFF2-40B4-BE49-F238E27FC236}">
                  <a16:creationId xmlns:a16="http://schemas.microsoft.com/office/drawing/2014/main" id="{5C4C2726-B3AE-9C1E-A76E-FC42254D9480}"/>
                </a:ext>
              </a:extLst>
            </p:cNvPr>
            <p:cNvSpPr/>
            <p:nvPr/>
          </p:nvSpPr>
          <p:spPr>
            <a:xfrm>
              <a:off x="713232" y="5266944"/>
              <a:ext cx="9601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70" dirty="0">
                  <a:solidFill>
                    <a:srgbClr val="007CC3"/>
                  </a:solidFill>
                </a:rPr>
                <a:t>WHAT TO SAY</a:t>
              </a:r>
              <a:endParaRPr lang="en-US" sz="900" dirty="0"/>
            </a:p>
          </p:txBody>
        </p:sp>
        <p:sp>
          <p:nvSpPr>
            <p:cNvPr id="47" name="Text 31">
              <a:extLst>
                <a:ext uri="{FF2B5EF4-FFF2-40B4-BE49-F238E27FC236}">
                  <a16:creationId xmlns:a16="http://schemas.microsoft.com/office/drawing/2014/main" id="{1955E233-948E-C5E8-2CA1-2F05E8F62F43}"/>
                </a:ext>
              </a:extLst>
            </p:cNvPr>
            <p:cNvSpPr/>
            <p:nvPr/>
          </p:nvSpPr>
          <p:spPr>
            <a:xfrm>
              <a:off x="1993392" y="5230368"/>
              <a:ext cx="9326880" cy="7955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/>
            <a:lstStyle/>
            <a:p>
              <a:pPr marL="177800" indent="-177800">
                <a:buSzPct val="100000"/>
                <a:buChar char="•"/>
              </a:pPr>
              <a:r>
                <a:rPr lang="en-US" sz="1100" dirty="0">
                  <a:solidFill>
                    <a:srgbClr val="111827"/>
                  </a:solidFill>
                </a:rPr>
                <a:t>Describe the end-to-end flow using one simple user journey.</a:t>
              </a:r>
              <a:endParaRPr lang="en-US" sz="1100" dirty="0"/>
            </a:p>
            <a:p>
              <a:pPr marL="177800" indent="-177800">
                <a:buSzPct val="100000"/>
                <a:buChar char="•"/>
              </a:pPr>
              <a:r>
                <a:rPr lang="en-US" sz="1100" dirty="0">
                  <a:solidFill>
                    <a:srgbClr val="111827"/>
                  </a:solidFill>
                </a:rPr>
                <a:t>Call out the benefit and what the working prototype proves today.</a:t>
              </a:r>
              <a:endParaRPr lang="en-US" sz="1100" dirty="0"/>
            </a:p>
          </p:txBody>
        </p:sp>
      </p:grpSp>
      <p:sp>
        <p:nvSpPr>
          <p:cNvPr id="48" name="Slide Number Placeholder 0">
            <a:extLst>
              <a:ext uri="{FF2B5EF4-FFF2-40B4-BE49-F238E27FC236}">
                <a16:creationId xmlns:a16="http://schemas.microsoft.com/office/drawing/2014/main" id="{22928792-56EE-DE35-07ED-8C021E41D61C}"/>
              </a:ext>
            </a:extLst>
          </p:cNvPr>
          <p:cNvSpPr txBox="1">
            <a:spLocks/>
          </p:cNvSpPr>
          <p:nvPr/>
        </p:nvSpPr>
        <p:spPr>
          <a:xfrm>
            <a:off x="11731752" y="6510528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 marL="0" algn="l" defTabSz="914400" rtl="0" eaLnBrk="1" latinLnBrk="0" hangingPunct="1">
              <a:defRPr sz="800" kern="1200">
                <a:solidFill>
                  <a:srgbClr val="8A96A3"/>
                </a:solidFill>
                <a:latin typeface="Aptos"/>
                <a:ea typeface="Aptos"/>
                <a:cs typeface="Apto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7021451-1387-4CA6-816F-3879F97B5CBC}" type="slidenum">
              <a:rPr lang="en-US" smtClean="0"/>
              <a:pPr algn="r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727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47E988-0908-036B-1455-F49B5EE4CE02}"/>
              </a:ext>
            </a:extLst>
          </p:cNvPr>
          <p:cNvSpPr/>
          <p:nvPr/>
        </p:nvSpPr>
        <p:spPr>
          <a:xfrm>
            <a:off x="475488" y="256032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&amp; Technical Design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EF15766-5E67-710C-418E-D286CF23B3CA}"/>
              </a:ext>
            </a:extLst>
          </p:cNvPr>
          <p:cNvSpPr/>
          <p:nvPr/>
        </p:nvSpPr>
        <p:spPr>
          <a:xfrm>
            <a:off x="475488" y="658368"/>
            <a:ext cx="882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3"/>
                </a:solidFill>
              </a:rPr>
              <a:t>Show the main components, data flow and engineering choices.</a:t>
            </a:r>
            <a:endParaRPr lang="en-US" sz="10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D5086C-A368-C401-F126-E27B82EBD8AF}"/>
              </a:ext>
            </a:extLst>
          </p:cNvPr>
          <p:cNvSpPr/>
          <p:nvPr/>
        </p:nvSpPr>
        <p:spPr>
          <a:xfrm>
            <a:off x="9875520" y="704088"/>
            <a:ext cx="1737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SUGGESTED TIME  0:55</a:t>
            </a:r>
            <a:endParaRPr lang="en-US" sz="85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FEEAEA4-6F1C-DA0D-70AF-1CD9E57D94C8}"/>
              </a:ext>
            </a:extLst>
          </p:cNvPr>
          <p:cNvSpPr/>
          <p:nvPr/>
        </p:nvSpPr>
        <p:spPr>
          <a:xfrm>
            <a:off x="621792" y="1517904"/>
            <a:ext cx="2249424" cy="1572768"/>
          </a:xfrm>
          <a:prstGeom prst="roundRect">
            <a:avLst>
              <a:gd name="adj" fmla="val 2907"/>
            </a:avLst>
          </a:prstGeom>
          <a:solidFill>
            <a:srgbClr val="EAF7FD"/>
          </a:solidFill>
          <a:ln w="17780">
            <a:solidFill>
              <a:srgbClr val="007CC3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C937AE1-9B9B-9199-A76E-B2B37B6D9BD0}"/>
              </a:ext>
            </a:extLst>
          </p:cNvPr>
          <p:cNvSpPr/>
          <p:nvPr/>
        </p:nvSpPr>
        <p:spPr>
          <a:xfrm>
            <a:off x="749808" y="1737360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7CC3"/>
                </a:solidFill>
              </a:rPr>
              <a:t>USER / DEVICE</a:t>
            </a:r>
            <a:endParaRPr lang="en-US" sz="11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4A228E3-0982-1FE1-33B3-FA931D03B8FF}"/>
              </a:ext>
            </a:extLst>
          </p:cNvPr>
          <p:cNvSpPr/>
          <p:nvPr/>
        </p:nvSpPr>
        <p:spPr>
          <a:xfrm>
            <a:off x="786384" y="2194560"/>
            <a:ext cx="1920240" cy="60350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Aptos"/>
              </a:rPr>
              <a:t>Web Browser / Engineering Team / Project Lead accessing Streamlit SaaS Dashboard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23D498E-63CB-4C98-5544-33DE014B29A8}"/>
              </a:ext>
            </a:extLst>
          </p:cNvPr>
          <p:cNvSpPr/>
          <p:nvPr/>
        </p:nvSpPr>
        <p:spPr>
          <a:xfrm>
            <a:off x="2935224" y="1993392"/>
            <a:ext cx="329184" cy="493776"/>
          </a:xfrm>
          <a:prstGeom prst="chevron">
            <a:avLst/>
          </a:prstGeom>
          <a:solidFill>
            <a:srgbClr val="B8C6D1"/>
          </a:solidFill>
          <a:ln w="12700">
            <a:solidFill>
              <a:srgbClr val="B8C6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5D5C12AC-8141-3434-DBF6-FE60CE10DF80}"/>
              </a:ext>
            </a:extLst>
          </p:cNvPr>
          <p:cNvSpPr/>
          <p:nvPr/>
        </p:nvSpPr>
        <p:spPr>
          <a:xfrm>
            <a:off x="3401568" y="1517904"/>
            <a:ext cx="2249424" cy="1572768"/>
          </a:xfrm>
          <a:prstGeom prst="roundRect">
            <a:avLst>
              <a:gd name="adj" fmla="val 2907"/>
            </a:avLst>
          </a:prstGeom>
          <a:solidFill>
            <a:srgbClr val="F3EEFC"/>
          </a:solidFill>
          <a:ln w="17780">
            <a:solidFill>
              <a:srgbClr val="5417A8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E952A89-57D4-EF0E-8424-40B83474870A}"/>
              </a:ext>
            </a:extLst>
          </p:cNvPr>
          <p:cNvSpPr/>
          <p:nvPr/>
        </p:nvSpPr>
        <p:spPr>
          <a:xfrm>
            <a:off x="3529584" y="1737360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417A8"/>
                </a:solidFill>
              </a:rPr>
              <a:t>APPLICATION / LOGIC</a:t>
            </a:r>
            <a:endParaRPr lang="en-US" sz="11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923AB16-A827-ACE5-2090-A44128AEECB2}"/>
              </a:ext>
            </a:extLst>
          </p:cNvPr>
          <p:cNvSpPr/>
          <p:nvPr/>
        </p:nvSpPr>
        <p:spPr>
          <a:xfrm>
            <a:off x="3566160" y="2194560"/>
            <a:ext cx="1920240" cy="60350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Aptos"/>
              </a:rPr>
              <a:t>Streamlit UI (v1.42+), Pydantic v2 validation contracts, Session State triage, and Pandas tabular pipeline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82C82C2-6F8D-2406-03EB-0A5055A55007}"/>
              </a:ext>
            </a:extLst>
          </p:cNvPr>
          <p:cNvSpPr/>
          <p:nvPr/>
        </p:nvSpPr>
        <p:spPr>
          <a:xfrm>
            <a:off x="5715000" y="1993392"/>
            <a:ext cx="329184" cy="493776"/>
          </a:xfrm>
          <a:prstGeom prst="chevron">
            <a:avLst/>
          </a:prstGeom>
          <a:solidFill>
            <a:srgbClr val="B8C6D1"/>
          </a:solidFill>
          <a:ln w="12700">
            <a:solidFill>
              <a:srgbClr val="B8C6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10E4247D-E843-275C-B984-C763628E6E99}"/>
              </a:ext>
            </a:extLst>
          </p:cNvPr>
          <p:cNvSpPr/>
          <p:nvPr/>
        </p:nvSpPr>
        <p:spPr>
          <a:xfrm>
            <a:off x="6181344" y="1517904"/>
            <a:ext cx="2249424" cy="1572768"/>
          </a:xfrm>
          <a:prstGeom prst="roundRect">
            <a:avLst>
              <a:gd name="adj" fmla="val 2907"/>
            </a:avLst>
          </a:prstGeom>
          <a:solidFill>
            <a:srgbClr val="FFF4E8"/>
          </a:solidFill>
          <a:ln w="17780">
            <a:solidFill>
              <a:srgbClr val="F28C28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A6340B7-0679-B082-38AB-44282D46E4BD}"/>
              </a:ext>
            </a:extLst>
          </p:cNvPr>
          <p:cNvSpPr/>
          <p:nvPr/>
        </p:nvSpPr>
        <p:spPr>
          <a:xfrm>
            <a:off x="6309360" y="1737360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</a:rPr>
              <a:t>AI / DATA LAYER</a:t>
            </a:r>
            <a:endParaRPr lang="en-US" sz="11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95BF9EA-54C5-31AA-4435-03439C09D40B}"/>
              </a:ext>
            </a:extLst>
          </p:cNvPr>
          <p:cNvSpPr/>
          <p:nvPr/>
        </p:nvSpPr>
        <p:spPr>
          <a:xfrm>
            <a:off x="6345936" y="2194560"/>
            <a:ext cx="1920240" cy="60350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Aptos"/>
              </a:rPr>
              <a:t>Cirrascale Qualcomm Cloud AI (/apis/v2), DeepSeek-R1-Distill-70B &amp; Llama-3.1-8B, zero-hallucination prompt contract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DC59F95-BE2E-2797-4BC0-17ADDD25224B}"/>
              </a:ext>
            </a:extLst>
          </p:cNvPr>
          <p:cNvSpPr/>
          <p:nvPr/>
        </p:nvSpPr>
        <p:spPr>
          <a:xfrm>
            <a:off x="8494776" y="1993392"/>
            <a:ext cx="329184" cy="493776"/>
          </a:xfrm>
          <a:prstGeom prst="chevron">
            <a:avLst/>
          </a:prstGeom>
          <a:solidFill>
            <a:srgbClr val="B8C6D1"/>
          </a:solidFill>
          <a:ln w="12700">
            <a:solidFill>
              <a:srgbClr val="B8C6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7EB9165A-67EC-3178-70D8-9B83A33FDD1D}"/>
              </a:ext>
            </a:extLst>
          </p:cNvPr>
          <p:cNvSpPr/>
          <p:nvPr/>
        </p:nvSpPr>
        <p:spPr>
          <a:xfrm>
            <a:off x="8961120" y="1517904"/>
            <a:ext cx="2249424" cy="1572768"/>
          </a:xfrm>
          <a:prstGeom prst="roundRect">
            <a:avLst>
              <a:gd name="adj" fmla="val 2907"/>
            </a:avLst>
          </a:prstGeom>
          <a:solidFill>
            <a:srgbClr val="EFF7E9"/>
          </a:solidFill>
          <a:ln w="17780">
            <a:solidFill>
              <a:srgbClr val="63A845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46464D4-1CD6-AB8D-F6AB-D7C4C45C1DEB}"/>
              </a:ext>
            </a:extLst>
          </p:cNvPr>
          <p:cNvSpPr/>
          <p:nvPr/>
        </p:nvSpPr>
        <p:spPr>
          <a:xfrm>
            <a:off x="9089136" y="1737360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3A845"/>
                </a:solidFill>
              </a:rPr>
              <a:t>OUTPUT / ACTION</a:t>
            </a:r>
            <a:endParaRPr lang="en-US" sz="11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05D073B-EE1E-AEE6-1073-30E6B79695C0}"/>
              </a:ext>
            </a:extLst>
          </p:cNvPr>
          <p:cNvSpPr/>
          <p:nvPr/>
        </p:nvSpPr>
        <p:spPr>
          <a:xfrm>
            <a:off x="9125712" y="2194560"/>
            <a:ext cx="1920240" cy="60350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Aptos"/>
              </a:rPr>
              <a:t>Interactive Action Table, Jira/Asana-ready CSV export, schema-validated JSON, and Clarification Alerts</a:t>
            </a: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9F9CAB70-B337-8320-AFC5-CB6BAACB78ED}"/>
              </a:ext>
            </a:extLst>
          </p:cNvPr>
          <p:cNvSpPr/>
          <p:nvPr/>
        </p:nvSpPr>
        <p:spPr>
          <a:xfrm>
            <a:off x="621792" y="3456432"/>
            <a:ext cx="3675888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4A828D5-1EA1-FFC3-C801-53E2D08CFAA6}"/>
              </a:ext>
            </a:extLst>
          </p:cNvPr>
          <p:cNvSpPr/>
          <p:nvPr/>
        </p:nvSpPr>
        <p:spPr>
          <a:xfrm>
            <a:off x="786384" y="3584448"/>
            <a:ext cx="3346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007CC3"/>
                </a:solidFill>
              </a:rPr>
              <a:t>TECHNOLOGY CHOICES</a:t>
            </a:r>
            <a:endParaRPr lang="en-US" sz="85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6E0F82F-940E-8150-FFD0-CB54E47DDFCE}"/>
              </a:ext>
            </a:extLst>
          </p:cNvPr>
          <p:cNvSpPr/>
          <p:nvPr/>
        </p:nvSpPr>
        <p:spPr>
          <a:xfrm>
            <a:off x="786384" y="3849624"/>
            <a:ext cx="3346704" cy="566928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Aptos"/>
              </a:rPr>
              <a:t>Python 3.12, Streamlit 1.42+, Pydantic v2, Requests, Pandas, Pytest, Cirrascale Qualcomm Cloud AI (OpenAI REST protocol)</a:t>
            </a: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87F13FAB-C1EC-0177-82D2-F896E864A152}"/>
              </a:ext>
            </a:extLst>
          </p:cNvPr>
          <p:cNvSpPr/>
          <p:nvPr/>
        </p:nvSpPr>
        <p:spPr>
          <a:xfrm>
            <a:off x="4480560" y="3456432"/>
            <a:ext cx="3675888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CC225F5-C44D-CE5D-5355-896FEC671C71}"/>
              </a:ext>
            </a:extLst>
          </p:cNvPr>
          <p:cNvSpPr/>
          <p:nvPr/>
        </p:nvSpPr>
        <p:spPr>
          <a:xfrm>
            <a:off x="4645152" y="3584448"/>
            <a:ext cx="3346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5417A8"/>
                </a:solidFill>
              </a:rPr>
              <a:t>ENGINEERING RATIONALE</a:t>
            </a:r>
            <a:endParaRPr lang="en-US" sz="85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82B0562F-A937-0D7F-DB67-97891BB9E2A5}"/>
              </a:ext>
            </a:extLst>
          </p:cNvPr>
          <p:cNvSpPr/>
          <p:nvPr/>
        </p:nvSpPr>
        <p:spPr>
          <a:xfrm>
            <a:off x="4645152" y="3849624"/>
            <a:ext cx="3346704" cy="566928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Aptos"/>
              </a:rPr>
              <a:t>• Single-Request Invariant: Guarantees staying within $3 budget (~3,820 runs).</a:t>
            </a:r>
          </a:p>
          <a:p>
            <a:pPr algn="l"/>
            <a:r>
              <a:rPr sz="850" b="0">
                <a:solidFill>
                  <a:srgbClr val="0F172A"/>
                </a:solidFill>
                <a:latin typeface="Aptos"/>
              </a:rPr>
              <a:t>• Separation of Concerns: LLM handles semantics; deterministic code audits business integrity.</a:t>
            </a: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815A366A-1EE2-88F4-56F2-42C078164B5E}"/>
              </a:ext>
            </a:extLst>
          </p:cNvPr>
          <p:cNvSpPr/>
          <p:nvPr/>
        </p:nvSpPr>
        <p:spPr>
          <a:xfrm>
            <a:off x="8339328" y="3456432"/>
            <a:ext cx="2871216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36686840-71C6-A9F9-75E4-170B0B1182B6}"/>
              </a:ext>
            </a:extLst>
          </p:cNvPr>
          <p:cNvSpPr/>
          <p:nvPr/>
        </p:nvSpPr>
        <p:spPr>
          <a:xfrm>
            <a:off x="8503920" y="3584448"/>
            <a:ext cx="2542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63A845"/>
                </a:solidFill>
              </a:rPr>
              <a:t>VALIDATION / RELIABILITY</a:t>
            </a:r>
            <a:endParaRPr lang="en-US" sz="85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C7CB37CB-C380-2D9F-165F-2A8122EB8261}"/>
              </a:ext>
            </a:extLst>
          </p:cNvPr>
          <p:cNvSpPr/>
          <p:nvPr/>
        </p:nvSpPr>
        <p:spPr>
          <a:xfrm>
            <a:off x="8503920" y="3849624"/>
            <a:ext cx="2542032" cy="566928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Aptos"/>
              </a:rPr>
              <a:t>• 30 Automated Pytest Tests (100% Pass Rate) covering schemas, heuristics, and network drops (401, 429, timeout).</a:t>
            </a:r>
          </a:p>
          <a:p>
            <a:pPr algn="l"/>
            <a:r>
              <a:rPr sz="850" b="0">
                <a:solidFill>
                  <a:srgbClr val="0F172A"/>
                </a:solidFill>
                <a:latin typeface="Aptos"/>
              </a:rPr>
              <a:t>• Fail-safe zero-credit benchmark mode.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9CECD31-9346-B133-361B-91810BDBDC9F}"/>
              </a:ext>
            </a:extLst>
          </p:cNvPr>
          <p:cNvGrpSpPr/>
          <p:nvPr/>
        </p:nvGrpSpPr>
        <p:grpSpPr>
          <a:xfrm>
            <a:off x="566928" y="4663440"/>
            <a:ext cx="10643616" cy="1088136"/>
            <a:chOff x="439137" y="4937760"/>
            <a:chExt cx="11228832" cy="1088136"/>
          </a:xfrm>
        </p:grpSpPr>
        <p:sp>
          <p:nvSpPr>
            <p:cNvPr id="31" name="Shape 29">
              <a:extLst>
                <a:ext uri="{FF2B5EF4-FFF2-40B4-BE49-F238E27FC236}">
                  <a16:creationId xmlns:a16="http://schemas.microsoft.com/office/drawing/2014/main" id="{432B9BDE-B7B0-9F10-900A-DBCB797ECDC0}"/>
                </a:ext>
              </a:extLst>
            </p:cNvPr>
            <p:cNvSpPr/>
            <p:nvPr/>
          </p:nvSpPr>
          <p:spPr>
            <a:xfrm>
              <a:off x="439137" y="4937760"/>
              <a:ext cx="11228832" cy="960120"/>
            </a:xfrm>
            <a:prstGeom prst="roundRect">
              <a:avLst>
                <a:gd name="adj" fmla="val 5714"/>
              </a:avLst>
            </a:prstGeom>
            <a:solidFill>
              <a:srgbClr val="F8FAFC"/>
            </a:solidFill>
            <a:ln w="12700">
              <a:solidFill>
                <a:srgbClr val="DCE5E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Shape 30">
              <a:extLst>
                <a:ext uri="{FF2B5EF4-FFF2-40B4-BE49-F238E27FC236}">
                  <a16:creationId xmlns:a16="http://schemas.microsoft.com/office/drawing/2014/main" id="{5154E5A4-0722-E4BF-5BA4-92434E8B54EF}"/>
                </a:ext>
              </a:extLst>
            </p:cNvPr>
            <p:cNvSpPr/>
            <p:nvPr/>
          </p:nvSpPr>
          <p:spPr>
            <a:xfrm>
              <a:off x="475488" y="4937760"/>
              <a:ext cx="82296" cy="960120"/>
            </a:xfrm>
            <a:prstGeom prst="rect">
              <a:avLst/>
            </a:prstGeom>
            <a:solidFill>
              <a:srgbClr val="5417A8"/>
            </a:solidFill>
            <a:ln w="12700">
              <a:solidFill>
                <a:srgbClr val="5417A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>
              <a:extLst>
                <a:ext uri="{FF2B5EF4-FFF2-40B4-BE49-F238E27FC236}">
                  <a16:creationId xmlns:a16="http://schemas.microsoft.com/office/drawing/2014/main" id="{8B99DE13-20C0-89C2-4080-05D8735E2B76}"/>
                </a:ext>
              </a:extLst>
            </p:cNvPr>
            <p:cNvSpPr/>
            <p:nvPr/>
          </p:nvSpPr>
          <p:spPr>
            <a:xfrm>
              <a:off x="749808" y="5050336"/>
              <a:ext cx="9601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70" dirty="0">
                  <a:solidFill>
                    <a:srgbClr val="5417A8"/>
                  </a:solidFill>
                </a:rPr>
                <a:t>WHAT TO SAY</a:t>
              </a:r>
              <a:endParaRPr lang="en-US" sz="900" dirty="0"/>
            </a:p>
          </p:txBody>
        </p:sp>
        <p:sp>
          <p:nvSpPr>
            <p:cNvPr id="34" name="Text 32">
              <a:extLst>
                <a:ext uri="{FF2B5EF4-FFF2-40B4-BE49-F238E27FC236}">
                  <a16:creationId xmlns:a16="http://schemas.microsoft.com/office/drawing/2014/main" id="{CE201EC5-B2F4-3153-A5BD-B26F8647F63D}"/>
                </a:ext>
              </a:extLst>
            </p:cNvPr>
            <p:cNvSpPr/>
            <p:nvPr/>
          </p:nvSpPr>
          <p:spPr>
            <a:xfrm>
              <a:off x="1993392" y="5230368"/>
              <a:ext cx="9326880" cy="7955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/>
            <a:lstStyle/>
            <a:p>
              <a:pPr marL="177800" indent="-177800">
                <a:buSzPct val="100000"/>
                <a:buChar char="•"/>
              </a:pPr>
              <a:r>
                <a:rPr lang="en-US" sz="1100" dirty="0">
                  <a:solidFill>
                    <a:srgbClr val="111827"/>
                  </a:solidFill>
                </a:rPr>
                <a:t>Walk left to right through the diagram and explain the most important design decision.</a:t>
              </a:r>
              <a:endParaRPr lang="en-US" sz="1100" dirty="0"/>
            </a:p>
            <a:p>
              <a:pPr marL="177800" indent="-177800">
                <a:buSzPct val="100000"/>
                <a:buChar char="•"/>
              </a:pPr>
              <a:r>
                <a:rPr lang="en-US" sz="1100" dirty="0">
                  <a:solidFill>
                    <a:srgbClr val="111827"/>
                  </a:solidFill>
                </a:rPr>
                <a:t>Mention one constraint, test or fallback that demonstrates engineering depth.</a:t>
              </a:r>
              <a:endParaRPr lang="en-US" sz="1100" dirty="0"/>
            </a:p>
          </p:txBody>
        </p:sp>
      </p:grpSp>
      <p:sp>
        <p:nvSpPr>
          <p:cNvPr id="35" name="Slide Number Placeholder 0">
            <a:extLst>
              <a:ext uri="{FF2B5EF4-FFF2-40B4-BE49-F238E27FC236}">
                <a16:creationId xmlns:a16="http://schemas.microsoft.com/office/drawing/2014/main" id="{F7E2D82D-0BB9-C325-982D-2E558A022841}"/>
              </a:ext>
            </a:extLst>
          </p:cNvPr>
          <p:cNvSpPr txBox="1">
            <a:spLocks/>
          </p:cNvSpPr>
          <p:nvPr/>
        </p:nvSpPr>
        <p:spPr>
          <a:xfrm>
            <a:off x="11731752" y="6510528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 marL="0" algn="l" defTabSz="914400" rtl="0" eaLnBrk="1" latinLnBrk="0" hangingPunct="1">
              <a:defRPr sz="800" kern="1200">
                <a:solidFill>
                  <a:srgbClr val="8A96A3"/>
                </a:solidFill>
                <a:latin typeface="Aptos"/>
                <a:ea typeface="Aptos"/>
                <a:cs typeface="Apto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7021451-1387-4CA6-816F-3879F97B5CBC}" type="slidenum">
              <a:rPr lang="en-US" smtClean="0"/>
              <a:pPr algn="r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607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0083E88-70F7-CA62-AE05-4BFEBB0BFC2C}"/>
              </a:ext>
            </a:extLst>
          </p:cNvPr>
          <p:cNvSpPr/>
          <p:nvPr/>
        </p:nvSpPr>
        <p:spPr>
          <a:xfrm>
            <a:off x="475488" y="256032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Usage &amp; Innovation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27B73A9-2566-B743-B014-B875767223F0}"/>
              </a:ext>
            </a:extLst>
          </p:cNvPr>
          <p:cNvSpPr/>
          <p:nvPr/>
        </p:nvSpPr>
        <p:spPr>
          <a:xfrm>
            <a:off x="475488" y="658368"/>
            <a:ext cx="882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3"/>
                </a:solidFill>
              </a:rPr>
              <a:t>Demonstrate meaningful AI use, not AI added only for appearance.</a:t>
            </a:r>
            <a:endParaRPr lang="en-US" sz="10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55C909D-A0E0-EA5E-27F8-6FE7B4FC5003}"/>
              </a:ext>
            </a:extLst>
          </p:cNvPr>
          <p:cNvSpPr/>
          <p:nvPr/>
        </p:nvSpPr>
        <p:spPr>
          <a:xfrm>
            <a:off x="9875520" y="704088"/>
            <a:ext cx="1737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SUGGESTED TIME  0:45</a:t>
            </a:r>
            <a:endParaRPr lang="en-US" sz="85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B0320BF-4576-44DC-008E-7170FC5D54B6}"/>
              </a:ext>
            </a:extLst>
          </p:cNvPr>
          <p:cNvSpPr/>
          <p:nvPr/>
        </p:nvSpPr>
        <p:spPr>
          <a:xfrm>
            <a:off x="548640" y="1097280"/>
            <a:ext cx="6565392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71FA962-3E84-81BE-E032-5CA447B1776D}"/>
              </a:ext>
            </a:extLst>
          </p:cNvPr>
          <p:cNvSpPr/>
          <p:nvPr/>
        </p:nvSpPr>
        <p:spPr>
          <a:xfrm>
            <a:off x="713232" y="1225296"/>
            <a:ext cx="6236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5417A8"/>
                </a:solidFill>
              </a:rPr>
              <a:t>AI CAPABILITY USED</a:t>
            </a:r>
            <a:endParaRPr lang="en-US" sz="8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477DE1A-2424-E361-E905-AE829023E9C0}"/>
              </a:ext>
            </a:extLst>
          </p:cNvPr>
          <p:cNvSpPr/>
          <p:nvPr/>
        </p:nvSpPr>
        <p:spPr>
          <a:xfrm>
            <a:off x="713232" y="1490472"/>
            <a:ext cx="6236208" cy="310896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 fontScale="62500" lnSpcReduction="20000"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Aptos"/>
              </a:rPr>
              <a:t>Hardware-accelerated LLM on Qualcomm Cloud AI (Cirrascale Inference Suite)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Aptos"/>
              </a:rPr>
              <a:t>• Models: DeepSeek-R1-Distill-Llama-70B &amp; Llama-3.1-8B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DE2606D-4FB8-66AE-31AE-BBCD9ED07D14}"/>
              </a:ext>
            </a:extLst>
          </p:cNvPr>
          <p:cNvSpPr/>
          <p:nvPr/>
        </p:nvSpPr>
        <p:spPr>
          <a:xfrm>
            <a:off x="7333488" y="1097280"/>
            <a:ext cx="4041648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A39E1F4-7B4A-2571-33FD-03D81EE95CD4}"/>
              </a:ext>
            </a:extLst>
          </p:cNvPr>
          <p:cNvSpPr/>
          <p:nvPr/>
        </p:nvSpPr>
        <p:spPr>
          <a:xfrm>
            <a:off x="7498080" y="1225296"/>
            <a:ext cx="4041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F28C28"/>
                </a:solidFill>
              </a:rPr>
              <a:t>INNOVATION / DIFFERENTIATION</a:t>
            </a:r>
            <a:endParaRPr lang="en-US" sz="8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70AF57C-9B6F-28FF-2071-1C1D8F02182C}"/>
              </a:ext>
            </a:extLst>
          </p:cNvPr>
          <p:cNvSpPr/>
          <p:nvPr/>
        </p:nvSpPr>
        <p:spPr>
          <a:xfrm>
            <a:off x="7498080" y="1490472"/>
            <a:ext cx="4041648" cy="310896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Aptos"/>
              </a:rPr>
              <a:t>Dual-Layer Hybrid Intelligence: Generative extraction paired with deterministic symbolic auditing. Proactively generates clarification questions instead of guessing.</a:t>
            </a: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25D3005-099E-9478-831C-E9C6F3ABC6F4}"/>
              </a:ext>
            </a:extLst>
          </p:cNvPr>
          <p:cNvSpPr/>
          <p:nvPr/>
        </p:nvSpPr>
        <p:spPr>
          <a:xfrm>
            <a:off x="548640" y="2194560"/>
            <a:ext cx="5358384" cy="1033272"/>
          </a:xfrm>
          <a:prstGeom prst="roundRect">
            <a:avLst>
              <a:gd name="adj" fmla="val 4425"/>
            </a:avLst>
          </a:prstGeom>
          <a:solidFill>
            <a:srgbClr val="EAF7FD"/>
          </a:solidFill>
          <a:ln w="12700">
            <a:solidFill>
              <a:srgbClr val="007C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1BDEBF7-3C23-C854-55C0-A36818548845}"/>
              </a:ext>
            </a:extLst>
          </p:cNvPr>
          <p:cNvSpPr/>
          <p:nvPr/>
        </p:nvSpPr>
        <p:spPr>
          <a:xfrm>
            <a:off x="731520" y="2359152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007CC3"/>
                </a:solidFill>
              </a:rPr>
              <a:t>AI ROLE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2136FE3-12A6-3BAF-937A-81862D7B9BF5}"/>
              </a:ext>
            </a:extLst>
          </p:cNvPr>
          <p:cNvSpPr/>
          <p:nvPr/>
        </p:nvSpPr>
        <p:spPr>
          <a:xfrm>
            <a:off x="2121408" y="2322576"/>
            <a:ext cx="3566160" cy="612648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Aptos"/>
              </a:rPr>
              <a:t>Semantic extraction of actionable tasks, isolation of confirmed decisions vs tentative proposals, and verbatim citation grounding.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D2541D1A-B196-3DE4-651B-3E516AF80947}"/>
              </a:ext>
            </a:extLst>
          </p:cNvPr>
          <p:cNvSpPr/>
          <p:nvPr/>
        </p:nvSpPr>
        <p:spPr>
          <a:xfrm>
            <a:off x="6126480" y="2194560"/>
            <a:ext cx="5358384" cy="1033272"/>
          </a:xfrm>
          <a:prstGeom prst="roundRect">
            <a:avLst>
              <a:gd name="adj" fmla="val 4425"/>
            </a:avLst>
          </a:prstGeom>
          <a:solidFill>
            <a:srgbClr val="F3EEFC"/>
          </a:solidFill>
          <a:ln w="12700">
            <a:solidFill>
              <a:srgbClr val="541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9C81BA97-A912-BF86-22A9-6DEE773C8CEE}"/>
              </a:ext>
            </a:extLst>
          </p:cNvPr>
          <p:cNvSpPr/>
          <p:nvPr/>
        </p:nvSpPr>
        <p:spPr>
          <a:xfrm>
            <a:off x="6309360" y="2359152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5417A8"/>
                </a:solidFill>
              </a:rPr>
              <a:t>INPUT &amp; MODEL</a:t>
            </a:r>
            <a:endParaRPr lang="en-US" sz="9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9921B6C-8162-664F-1834-EEB6928463BF}"/>
              </a:ext>
            </a:extLst>
          </p:cNvPr>
          <p:cNvSpPr/>
          <p:nvPr/>
        </p:nvSpPr>
        <p:spPr>
          <a:xfrm>
            <a:off x="7699248" y="2322576"/>
            <a:ext cx="3566160" cy="612648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Aptos"/>
              </a:rPr>
              <a:t>Cirrascale Qualcomm Cloud AI running DeepSeek-R1 (for reasoning traces) and Llama-3.1 (for fast edge inference).</a:t>
            </a: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A4A2DD8C-DD2D-F12D-5910-ED29B2FE1A09}"/>
              </a:ext>
            </a:extLst>
          </p:cNvPr>
          <p:cNvSpPr/>
          <p:nvPr/>
        </p:nvSpPr>
        <p:spPr>
          <a:xfrm>
            <a:off x="548640" y="3493008"/>
            <a:ext cx="5358384" cy="1033272"/>
          </a:xfrm>
          <a:prstGeom prst="roundRect">
            <a:avLst>
              <a:gd name="adj" fmla="val 4425"/>
            </a:avLst>
          </a:prstGeom>
          <a:solidFill>
            <a:srgbClr val="FFF4E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1749330-EA34-2AA5-7965-13FB7F9D9286}"/>
              </a:ext>
            </a:extLst>
          </p:cNvPr>
          <p:cNvSpPr/>
          <p:nvPr/>
        </p:nvSpPr>
        <p:spPr>
          <a:xfrm>
            <a:off x="731520" y="3657600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F28C28"/>
                </a:solidFill>
              </a:rPr>
              <a:t>QUALITY CHECK</a:t>
            </a:r>
            <a:endParaRPr lang="en-US" sz="9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55B06EA-D753-EFE8-671F-C1F733EB2D2F}"/>
              </a:ext>
            </a:extLst>
          </p:cNvPr>
          <p:cNvSpPr/>
          <p:nvPr/>
        </p:nvSpPr>
        <p:spPr>
          <a:xfrm>
            <a:off x="2121408" y="3621024"/>
            <a:ext cx="3566160" cy="612648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Aptos"/>
              </a:rPr>
              <a:t>Verbatim citations enforced for all tasks/decisions; reasoning constrained to &lt;50 words (slashing latency to 25s); Pydantic type validation; 30 unit tests.</a:t>
            </a: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1ED7539-4D80-3DA4-A54B-371DE4CBE611}"/>
              </a:ext>
            </a:extLst>
          </p:cNvPr>
          <p:cNvSpPr/>
          <p:nvPr/>
        </p:nvSpPr>
        <p:spPr>
          <a:xfrm>
            <a:off x="6126480" y="3493008"/>
            <a:ext cx="5358384" cy="1033272"/>
          </a:xfrm>
          <a:prstGeom prst="roundRect">
            <a:avLst>
              <a:gd name="adj" fmla="val 4425"/>
            </a:avLst>
          </a:prstGeom>
          <a:solidFill>
            <a:srgbClr val="EFF7E9"/>
          </a:solidFill>
          <a:ln w="12700">
            <a:solidFill>
              <a:srgbClr val="63A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3C18B500-DD37-72C7-18AF-26BF71E98CBE}"/>
              </a:ext>
            </a:extLst>
          </p:cNvPr>
          <p:cNvSpPr/>
          <p:nvPr/>
        </p:nvSpPr>
        <p:spPr>
          <a:xfrm>
            <a:off x="6309360" y="3657600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63A845"/>
                </a:solidFill>
              </a:rPr>
              <a:t>VALUE CREATED</a:t>
            </a:r>
            <a:endParaRPr lang="en-US" sz="9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C326B15-E05A-C924-5A52-BFA9E79A0C76}"/>
              </a:ext>
            </a:extLst>
          </p:cNvPr>
          <p:cNvSpPr/>
          <p:nvPr/>
        </p:nvSpPr>
        <p:spPr>
          <a:xfrm>
            <a:off x="7699248" y="3621024"/>
            <a:ext cx="3566160" cy="612648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Aptos"/>
              </a:rPr>
              <a:t>90% reduction in post-meeting triage time. Official Cirrascale unit economics: $0.00078 per meeting on 70B (&lt; 1/10th of a cent), costing &lt; $1.00/month for 1,000 enterprise meetings.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85829E1-6B93-F1D7-3CE8-A5CA27F8FECD}"/>
              </a:ext>
            </a:extLst>
          </p:cNvPr>
          <p:cNvGrpSpPr/>
          <p:nvPr/>
        </p:nvGrpSpPr>
        <p:grpSpPr>
          <a:xfrm>
            <a:off x="548640" y="4690872"/>
            <a:ext cx="10991088" cy="1120365"/>
            <a:chOff x="466344" y="4905531"/>
            <a:chExt cx="11237976" cy="1120365"/>
          </a:xfrm>
        </p:grpSpPr>
        <p:sp>
          <p:nvSpPr>
            <p:cNvPr id="25" name="Shape 23">
              <a:extLst>
                <a:ext uri="{FF2B5EF4-FFF2-40B4-BE49-F238E27FC236}">
                  <a16:creationId xmlns:a16="http://schemas.microsoft.com/office/drawing/2014/main" id="{A4E43D51-1B96-DC7B-F24F-EAE8EDC78953}"/>
                </a:ext>
              </a:extLst>
            </p:cNvPr>
            <p:cNvSpPr/>
            <p:nvPr/>
          </p:nvSpPr>
          <p:spPr>
            <a:xfrm>
              <a:off x="475488" y="4937760"/>
              <a:ext cx="11228832" cy="960120"/>
            </a:xfrm>
            <a:prstGeom prst="roundRect">
              <a:avLst>
                <a:gd name="adj" fmla="val 5714"/>
              </a:avLst>
            </a:prstGeom>
            <a:solidFill>
              <a:srgbClr val="F8FAFC"/>
            </a:solidFill>
            <a:ln w="12700">
              <a:solidFill>
                <a:srgbClr val="DCE5E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Shape 24">
              <a:extLst>
                <a:ext uri="{FF2B5EF4-FFF2-40B4-BE49-F238E27FC236}">
                  <a16:creationId xmlns:a16="http://schemas.microsoft.com/office/drawing/2014/main" id="{78932CB2-04C4-9119-FE7A-9815A0C9D929}"/>
                </a:ext>
              </a:extLst>
            </p:cNvPr>
            <p:cNvSpPr/>
            <p:nvPr/>
          </p:nvSpPr>
          <p:spPr>
            <a:xfrm>
              <a:off x="466344" y="4905531"/>
              <a:ext cx="82296" cy="960120"/>
            </a:xfrm>
            <a:prstGeom prst="rect">
              <a:avLst/>
            </a:prstGeom>
            <a:solidFill>
              <a:srgbClr val="F28C28"/>
            </a:solidFill>
            <a:ln w="12700">
              <a:solidFill>
                <a:srgbClr val="F28C2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1A5D14C5-8E1E-E916-6DA5-E3A2A3B3E825}"/>
                </a:ext>
              </a:extLst>
            </p:cNvPr>
            <p:cNvSpPr/>
            <p:nvPr/>
          </p:nvSpPr>
          <p:spPr>
            <a:xfrm>
              <a:off x="713232" y="5266944"/>
              <a:ext cx="9601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70" dirty="0">
                  <a:solidFill>
                    <a:srgbClr val="F28C28"/>
                  </a:solidFill>
                </a:rPr>
                <a:t>WHAT TO SAY</a:t>
              </a:r>
              <a:endParaRPr lang="en-US" sz="900" dirty="0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8E35749B-E88F-28FE-EAD4-28EF9504D9A7}"/>
                </a:ext>
              </a:extLst>
            </p:cNvPr>
            <p:cNvSpPr/>
            <p:nvPr/>
          </p:nvSpPr>
          <p:spPr>
            <a:xfrm>
              <a:off x="1993392" y="5230368"/>
              <a:ext cx="9326880" cy="7955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/>
            <a:lstStyle/>
            <a:p>
              <a:pPr marL="177800" indent="-177800">
                <a:buSzPct val="100000"/>
                <a:buChar char="•"/>
              </a:pPr>
              <a:r>
                <a:rPr lang="en-US" sz="1100" dirty="0">
                  <a:solidFill>
                    <a:srgbClr val="111827"/>
                  </a:solidFill>
                </a:rPr>
                <a:t>State exactly where AI is used and why a simpler rule-based approach is insufficient.</a:t>
              </a:r>
              <a:endParaRPr lang="en-US" sz="1100" dirty="0"/>
            </a:p>
            <a:p>
              <a:pPr marL="177800" indent="-177800">
                <a:buSzPct val="100000"/>
                <a:buChar char="•"/>
              </a:pPr>
              <a:r>
                <a:rPr lang="en-US" sz="1100" dirty="0">
                  <a:solidFill>
                    <a:srgbClr val="111827"/>
                  </a:solidFill>
                </a:rPr>
                <a:t>Be ready to explain data quality, reliability and what happens when AI is uncertain.</a:t>
              </a:r>
              <a:endParaRPr lang="en-US" sz="1100" dirty="0"/>
            </a:p>
          </p:txBody>
        </p:sp>
      </p:grpSp>
      <p:sp>
        <p:nvSpPr>
          <p:cNvPr id="29" name="Slide Number Placeholder 0">
            <a:extLst>
              <a:ext uri="{FF2B5EF4-FFF2-40B4-BE49-F238E27FC236}">
                <a16:creationId xmlns:a16="http://schemas.microsoft.com/office/drawing/2014/main" id="{1D029A2C-F19C-3F02-3469-DD4D706D2B00}"/>
              </a:ext>
            </a:extLst>
          </p:cNvPr>
          <p:cNvSpPr txBox="1">
            <a:spLocks/>
          </p:cNvSpPr>
          <p:nvPr/>
        </p:nvSpPr>
        <p:spPr>
          <a:xfrm>
            <a:off x="11731752" y="6510528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 marL="0" algn="l" defTabSz="914400" rtl="0" eaLnBrk="1" latinLnBrk="0" hangingPunct="1">
              <a:defRPr sz="800" kern="1200">
                <a:solidFill>
                  <a:srgbClr val="8A96A3"/>
                </a:solidFill>
                <a:latin typeface="Aptos"/>
                <a:ea typeface="Aptos"/>
                <a:cs typeface="Apto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7021451-1387-4CA6-816F-3879F97B5CBC}" type="slidenum">
              <a:rPr lang="en-US" smtClean="0"/>
              <a:pPr algn="r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116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BDF586-71D9-9229-8097-D3089FBBF03E}"/>
              </a:ext>
            </a:extLst>
          </p:cNvPr>
          <p:cNvSpPr/>
          <p:nvPr/>
        </p:nvSpPr>
        <p:spPr>
          <a:xfrm>
            <a:off x="475488" y="256032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Future Enhancements, Scalability &amp; Security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51ECCD-D428-5559-65E2-C0C33FD0C25F}"/>
              </a:ext>
            </a:extLst>
          </p:cNvPr>
          <p:cNvSpPr/>
          <p:nvPr/>
        </p:nvSpPr>
        <p:spPr>
          <a:xfrm>
            <a:off x="475488" y="658368"/>
            <a:ext cx="882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3"/>
                </a:solidFill>
              </a:rPr>
              <a:t>Present a credible next-step roadmap and the safeguards considered.</a:t>
            </a:r>
            <a:endParaRPr lang="en-US" sz="10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862B695-A59D-0E83-5A72-834BAD7DB910}"/>
              </a:ext>
            </a:extLst>
          </p:cNvPr>
          <p:cNvSpPr/>
          <p:nvPr/>
        </p:nvSpPr>
        <p:spPr>
          <a:xfrm>
            <a:off x="9875520" y="704088"/>
            <a:ext cx="1737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SUGGESTED TIME  0:35</a:t>
            </a:r>
            <a:endParaRPr lang="en-US" sz="85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49828B3-3E97-5779-FD97-F886A6DE30C8}"/>
              </a:ext>
            </a:extLst>
          </p:cNvPr>
          <p:cNvSpPr/>
          <p:nvPr/>
        </p:nvSpPr>
        <p:spPr>
          <a:xfrm>
            <a:off x="548640" y="1234440"/>
            <a:ext cx="3328416" cy="3328416"/>
          </a:xfrm>
          <a:prstGeom prst="roundRect">
            <a:avLst>
              <a:gd name="adj" fmla="val 1374"/>
            </a:avLst>
          </a:prstGeom>
          <a:solidFill>
            <a:srgbClr val="EAF7FD"/>
          </a:solidFill>
          <a:ln w="15240">
            <a:solidFill>
              <a:srgbClr val="007CC3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F8A0B38-3599-241D-D380-A5865C95561F}"/>
              </a:ext>
            </a:extLst>
          </p:cNvPr>
          <p:cNvSpPr/>
          <p:nvPr/>
        </p:nvSpPr>
        <p:spPr>
          <a:xfrm>
            <a:off x="731520" y="1517904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7CC3"/>
                </a:solidFill>
              </a:rPr>
              <a:t>NEXT ENHANCEMENTS</a:t>
            </a:r>
            <a:endParaRPr lang="en-US" sz="11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AB58F033-E8D4-7743-A174-24673F83D777}"/>
              </a:ext>
            </a:extLst>
          </p:cNvPr>
          <p:cNvSpPr/>
          <p:nvPr/>
        </p:nvSpPr>
        <p:spPr>
          <a:xfrm>
            <a:off x="804672" y="2057400"/>
            <a:ext cx="274320" cy="274320"/>
          </a:xfrm>
          <a:prstGeom prst="ellipse">
            <a:avLst/>
          </a:prstGeom>
          <a:solidFill>
            <a:srgbClr val="007CC3"/>
          </a:solidFill>
          <a:ln w="12700">
            <a:solidFill>
              <a:srgbClr val="007C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12CF532-F321-8AB0-4FF1-868F2FDD3AC5}"/>
              </a:ext>
            </a:extLst>
          </p:cNvPr>
          <p:cNvSpPr/>
          <p:nvPr/>
        </p:nvSpPr>
        <p:spPr>
          <a:xfrm>
            <a:off x="804672" y="2121408"/>
            <a:ext cx="274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1</a:t>
            </a:r>
            <a:endParaRPr lang="en-US" sz="7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6FA2070-0FA7-9D97-2294-792BC7D0BDE6}"/>
              </a:ext>
            </a:extLst>
          </p:cNvPr>
          <p:cNvSpPr/>
          <p:nvPr/>
        </p:nvSpPr>
        <p:spPr>
          <a:xfrm>
            <a:off x="1207008" y="2011680"/>
            <a:ext cx="2359152" cy="448056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Aptos"/>
              </a:rPr>
              <a:t>Live Audio &amp; On-Device NPU Transcription: Whisper model integration running locally on Snapdragon X Elite NPU hardware.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227D180F-D477-4BC2-3F0E-A4EA83FB1589}"/>
              </a:ext>
            </a:extLst>
          </p:cNvPr>
          <p:cNvSpPr/>
          <p:nvPr/>
        </p:nvSpPr>
        <p:spPr>
          <a:xfrm>
            <a:off x="804672" y="2807208"/>
            <a:ext cx="274320" cy="274320"/>
          </a:xfrm>
          <a:prstGeom prst="ellipse">
            <a:avLst/>
          </a:prstGeom>
          <a:solidFill>
            <a:srgbClr val="007CC3"/>
          </a:solidFill>
          <a:ln w="12700">
            <a:solidFill>
              <a:srgbClr val="007C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525CE00-3D5D-EF85-EB7B-867AB4B90E52}"/>
              </a:ext>
            </a:extLst>
          </p:cNvPr>
          <p:cNvSpPr/>
          <p:nvPr/>
        </p:nvSpPr>
        <p:spPr>
          <a:xfrm>
            <a:off x="804672" y="2871216"/>
            <a:ext cx="274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2</a:t>
            </a:r>
            <a:endParaRPr lang="en-US" sz="75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F1BE36D-EE88-F1E9-0499-5B9B0311F210}"/>
              </a:ext>
            </a:extLst>
          </p:cNvPr>
          <p:cNvSpPr/>
          <p:nvPr/>
        </p:nvSpPr>
        <p:spPr>
          <a:xfrm>
            <a:off x="1207008" y="2761488"/>
            <a:ext cx="2359152" cy="448056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Aptos"/>
              </a:rPr>
              <a:t>Two-Way Enterprise Ticketing: Direct REST API connectors for Jira, Linear, Asana, and GitHub Issues.</a:t>
            </a: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211B5BA5-3D31-80F2-D1B6-892A4751A9B6}"/>
              </a:ext>
            </a:extLst>
          </p:cNvPr>
          <p:cNvSpPr/>
          <p:nvPr/>
        </p:nvSpPr>
        <p:spPr>
          <a:xfrm>
            <a:off x="804672" y="3557016"/>
            <a:ext cx="274320" cy="274320"/>
          </a:xfrm>
          <a:prstGeom prst="ellipse">
            <a:avLst/>
          </a:prstGeom>
          <a:solidFill>
            <a:srgbClr val="007CC3"/>
          </a:solidFill>
          <a:ln w="12700">
            <a:solidFill>
              <a:srgbClr val="007C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6A98EE9-B47D-4B49-68F4-3D402C378950}"/>
              </a:ext>
            </a:extLst>
          </p:cNvPr>
          <p:cNvSpPr/>
          <p:nvPr/>
        </p:nvSpPr>
        <p:spPr>
          <a:xfrm>
            <a:off x="804672" y="3621024"/>
            <a:ext cx="274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3</a:t>
            </a:r>
            <a:endParaRPr lang="en-US" sz="75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90CD5BC-E538-5142-7305-AF217EE7C750}"/>
              </a:ext>
            </a:extLst>
          </p:cNvPr>
          <p:cNvSpPr/>
          <p:nvPr/>
        </p:nvSpPr>
        <p:spPr>
          <a:xfrm>
            <a:off x="1207008" y="3511296"/>
            <a:ext cx="2359152" cy="448056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Aptos"/>
              </a:rPr>
              <a:t>Automated Slack / Microsoft Teams Bot: Proactively pings owners on Slack to confirm tentative assignments or clarify vague deadlines.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4123D4AD-F615-C37C-E8D3-5A919619C21C}"/>
              </a:ext>
            </a:extLst>
          </p:cNvPr>
          <p:cNvSpPr/>
          <p:nvPr/>
        </p:nvSpPr>
        <p:spPr>
          <a:xfrm>
            <a:off x="4315968" y="1234440"/>
            <a:ext cx="3328416" cy="3328416"/>
          </a:xfrm>
          <a:prstGeom prst="roundRect">
            <a:avLst>
              <a:gd name="adj" fmla="val 1374"/>
            </a:avLst>
          </a:prstGeom>
          <a:solidFill>
            <a:srgbClr val="EFF7E9"/>
          </a:solidFill>
          <a:ln w="15240">
            <a:solidFill>
              <a:srgbClr val="63A845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78B694E-A30A-0B8A-FD8E-5860BD997613}"/>
              </a:ext>
            </a:extLst>
          </p:cNvPr>
          <p:cNvSpPr/>
          <p:nvPr/>
        </p:nvSpPr>
        <p:spPr>
          <a:xfrm>
            <a:off x="4498848" y="1517904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3A845"/>
                </a:solidFill>
              </a:rPr>
              <a:t>SCALABILITY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D6A46235-D561-ADBD-C4A3-3924B3265365}"/>
              </a:ext>
            </a:extLst>
          </p:cNvPr>
          <p:cNvSpPr/>
          <p:nvPr/>
        </p:nvSpPr>
        <p:spPr>
          <a:xfrm>
            <a:off x="4572000" y="2057400"/>
            <a:ext cx="274320" cy="274320"/>
          </a:xfrm>
          <a:prstGeom prst="ellipse">
            <a:avLst/>
          </a:prstGeom>
          <a:solidFill>
            <a:srgbClr val="63A845"/>
          </a:solidFill>
          <a:ln w="12700">
            <a:solidFill>
              <a:srgbClr val="63A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ACBD2492-C85F-DFD2-77A4-140CA990A449}"/>
              </a:ext>
            </a:extLst>
          </p:cNvPr>
          <p:cNvSpPr/>
          <p:nvPr/>
        </p:nvSpPr>
        <p:spPr>
          <a:xfrm>
            <a:off x="4572000" y="2121408"/>
            <a:ext cx="274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1</a:t>
            </a:r>
            <a:endParaRPr lang="en-US" sz="75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523C4A3-AF7A-BCF9-4C79-B65B8C93B5BF}"/>
              </a:ext>
            </a:extLst>
          </p:cNvPr>
          <p:cNvSpPr/>
          <p:nvPr/>
        </p:nvSpPr>
        <p:spPr>
          <a:xfrm>
            <a:off x="4974336" y="2011680"/>
            <a:ext cx="2359152" cy="448056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Aptos"/>
              </a:rPr>
              <a:t>Stateless microservice containerization deployable on Kubernetes across multi-tenant enterprise clusters.</a:t>
            </a: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A01F56B0-A693-A209-E08F-D159EC9E6AA5}"/>
              </a:ext>
            </a:extLst>
          </p:cNvPr>
          <p:cNvSpPr/>
          <p:nvPr/>
        </p:nvSpPr>
        <p:spPr>
          <a:xfrm>
            <a:off x="4572000" y="2807208"/>
            <a:ext cx="274320" cy="274320"/>
          </a:xfrm>
          <a:prstGeom prst="ellipse">
            <a:avLst/>
          </a:prstGeom>
          <a:solidFill>
            <a:srgbClr val="63A845"/>
          </a:solidFill>
          <a:ln w="12700">
            <a:solidFill>
              <a:srgbClr val="63A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274A77C-A71A-25BF-B7CB-E507D3F09840}"/>
              </a:ext>
            </a:extLst>
          </p:cNvPr>
          <p:cNvSpPr/>
          <p:nvPr/>
        </p:nvSpPr>
        <p:spPr>
          <a:xfrm>
            <a:off x="4572000" y="2871216"/>
            <a:ext cx="274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2</a:t>
            </a:r>
            <a:endParaRPr lang="en-US" sz="75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F59797C0-B1E9-1A06-FEAC-1BB1DF00DF40}"/>
              </a:ext>
            </a:extLst>
          </p:cNvPr>
          <p:cNvSpPr/>
          <p:nvPr/>
        </p:nvSpPr>
        <p:spPr>
          <a:xfrm>
            <a:off x="4974336" y="2761488"/>
            <a:ext cx="2359152" cy="448056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Aptos"/>
              </a:rPr>
              <a:t>100% on-device NPU processing on Snapdragon laptops via Qualcomm AI Hub with zero cloud cost.</a:t>
            </a: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DAA083A2-F0E1-5E36-65CB-1205E57A4789}"/>
              </a:ext>
            </a:extLst>
          </p:cNvPr>
          <p:cNvSpPr/>
          <p:nvPr/>
        </p:nvSpPr>
        <p:spPr>
          <a:xfrm>
            <a:off x="4572000" y="3557016"/>
            <a:ext cx="274320" cy="274320"/>
          </a:xfrm>
          <a:prstGeom prst="ellipse">
            <a:avLst/>
          </a:prstGeom>
          <a:solidFill>
            <a:srgbClr val="63A845"/>
          </a:solidFill>
          <a:ln w="12700">
            <a:solidFill>
              <a:srgbClr val="63A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955E400B-0DA7-FB30-AE56-027037CBC9EE}"/>
              </a:ext>
            </a:extLst>
          </p:cNvPr>
          <p:cNvSpPr/>
          <p:nvPr/>
        </p:nvSpPr>
        <p:spPr>
          <a:xfrm>
            <a:off x="4572000" y="3621024"/>
            <a:ext cx="274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3</a:t>
            </a:r>
            <a:endParaRPr lang="en-US" sz="75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EA808832-6AE1-4B46-E1CA-A2D73E9E145C}"/>
              </a:ext>
            </a:extLst>
          </p:cNvPr>
          <p:cNvSpPr/>
          <p:nvPr/>
        </p:nvSpPr>
        <p:spPr>
          <a:xfrm>
            <a:off x="4974336" y="3511296"/>
            <a:ext cx="2359152" cy="448056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Aptos"/>
              </a:rPr>
              <a:t>Token bucket rate-limiting with exponential backoff handling 10,000+ concurrent summaries.</a:t>
            </a: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94175C34-82E2-05B7-4850-C3D50815A80A}"/>
              </a:ext>
            </a:extLst>
          </p:cNvPr>
          <p:cNvSpPr/>
          <p:nvPr/>
        </p:nvSpPr>
        <p:spPr>
          <a:xfrm>
            <a:off x="8083296" y="1234440"/>
            <a:ext cx="3328416" cy="3328416"/>
          </a:xfrm>
          <a:prstGeom prst="roundRect">
            <a:avLst>
              <a:gd name="adj" fmla="val 1374"/>
            </a:avLst>
          </a:prstGeom>
          <a:solidFill>
            <a:srgbClr val="F3EEFC"/>
          </a:solidFill>
          <a:ln w="15240">
            <a:solidFill>
              <a:srgbClr val="5417A8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77E5A850-037C-C666-5AFF-114DA39F882E}"/>
              </a:ext>
            </a:extLst>
          </p:cNvPr>
          <p:cNvSpPr/>
          <p:nvPr/>
        </p:nvSpPr>
        <p:spPr>
          <a:xfrm>
            <a:off x="8266176" y="1517904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417A8"/>
                </a:solidFill>
              </a:rPr>
              <a:t>SECURITY &amp; RESPONSIBLE AI</a:t>
            </a:r>
            <a:endParaRPr lang="en-US" sz="110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572EF5A6-F6FE-D75C-601C-909357D3363E}"/>
              </a:ext>
            </a:extLst>
          </p:cNvPr>
          <p:cNvSpPr/>
          <p:nvPr/>
        </p:nvSpPr>
        <p:spPr>
          <a:xfrm>
            <a:off x="8339328" y="2057400"/>
            <a:ext cx="274320" cy="274320"/>
          </a:xfrm>
          <a:prstGeom prst="ellipse">
            <a:avLst/>
          </a:prstGeom>
          <a:solidFill>
            <a:srgbClr val="5417A8"/>
          </a:solidFill>
          <a:ln w="12700">
            <a:solidFill>
              <a:srgbClr val="541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20D54195-A988-4B53-E7FE-B97E5A03DAEF}"/>
              </a:ext>
            </a:extLst>
          </p:cNvPr>
          <p:cNvSpPr/>
          <p:nvPr/>
        </p:nvSpPr>
        <p:spPr>
          <a:xfrm>
            <a:off x="8339328" y="2121408"/>
            <a:ext cx="274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1</a:t>
            </a:r>
            <a:endParaRPr lang="en-US" sz="75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ADF6954F-1764-9F3A-7337-4A8FAACE97CB}"/>
              </a:ext>
            </a:extLst>
          </p:cNvPr>
          <p:cNvSpPr/>
          <p:nvPr/>
        </p:nvSpPr>
        <p:spPr>
          <a:xfrm>
            <a:off x="8741664" y="2011680"/>
            <a:ext cx="2359152" cy="448056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Aptos"/>
              </a:rPr>
              <a:t>Role-based enterprise access control (RBAC) and encrypted credential management (.env isolation).</a:t>
            </a: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A78230A6-A314-ECB7-1463-1135EBCEA2EC}"/>
              </a:ext>
            </a:extLst>
          </p:cNvPr>
          <p:cNvSpPr/>
          <p:nvPr/>
        </p:nvSpPr>
        <p:spPr>
          <a:xfrm>
            <a:off x="8339328" y="2807208"/>
            <a:ext cx="274320" cy="274320"/>
          </a:xfrm>
          <a:prstGeom prst="ellipse">
            <a:avLst/>
          </a:prstGeom>
          <a:solidFill>
            <a:srgbClr val="5417A8"/>
          </a:solidFill>
          <a:ln w="12700">
            <a:solidFill>
              <a:srgbClr val="541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F9156590-143F-3B3B-FF3A-C1648DD71AED}"/>
              </a:ext>
            </a:extLst>
          </p:cNvPr>
          <p:cNvSpPr/>
          <p:nvPr/>
        </p:nvSpPr>
        <p:spPr>
          <a:xfrm>
            <a:off x="8339328" y="2871216"/>
            <a:ext cx="274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2</a:t>
            </a:r>
            <a:endParaRPr lang="en-US" sz="75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0EE7A8D7-660E-8C1F-2A72-0B99BDA4970B}"/>
              </a:ext>
            </a:extLst>
          </p:cNvPr>
          <p:cNvSpPr/>
          <p:nvPr/>
        </p:nvSpPr>
        <p:spPr>
          <a:xfrm>
            <a:off x="8741664" y="2761488"/>
            <a:ext cx="2359152" cy="448056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Aptos"/>
              </a:rPr>
              <a:t>Zero persistent transcript retention — raw text is parsed in-memory and immediately purged (GDPR/HIPAA compliant).</a:t>
            </a: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E7D38FEE-337E-80C6-824A-B6C1C06ACFE3}"/>
              </a:ext>
            </a:extLst>
          </p:cNvPr>
          <p:cNvSpPr/>
          <p:nvPr/>
        </p:nvSpPr>
        <p:spPr>
          <a:xfrm>
            <a:off x="8339328" y="3557016"/>
            <a:ext cx="274320" cy="274320"/>
          </a:xfrm>
          <a:prstGeom prst="ellipse">
            <a:avLst/>
          </a:prstGeom>
          <a:solidFill>
            <a:srgbClr val="5417A8"/>
          </a:solidFill>
          <a:ln w="12700">
            <a:solidFill>
              <a:srgbClr val="541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329D6E21-2C3E-4C29-D882-BDBE35D311A2}"/>
              </a:ext>
            </a:extLst>
          </p:cNvPr>
          <p:cNvSpPr/>
          <p:nvPr/>
        </p:nvSpPr>
        <p:spPr>
          <a:xfrm>
            <a:off x="8339328" y="3621024"/>
            <a:ext cx="274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3</a:t>
            </a:r>
            <a:endParaRPr lang="en-US" sz="75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4E8A2C8-E883-48F1-9F5D-E38C087D7F5B}"/>
              </a:ext>
            </a:extLst>
          </p:cNvPr>
          <p:cNvSpPr/>
          <p:nvPr/>
        </p:nvSpPr>
        <p:spPr>
          <a:xfrm>
            <a:off x="8741664" y="3511296"/>
            <a:ext cx="2359152" cy="448056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Aptos"/>
              </a:rPr>
              <a:t>Human-in-the-loop triage: AI confidence signals with mandatory human sign-off before downstream ticketing export.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8AF663B-44B3-A460-4E36-390658D4A35F}"/>
              </a:ext>
            </a:extLst>
          </p:cNvPr>
          <p:cNvGrpSpPr/>
          <p:nvPr/>
        </p:nvGrpSpPr>
        <p:grpSpPr>
          <a:xfrm>
            <a:off x="601630" y="4809744"/>
            <a:ext cx="10810082" cy="621792"/>
            <a:chOff x="475488" y="5468112"/>
            <a:chExt cx="11228832" cy="621792"/>
          </a:xfrm>
        </p:grpSpPr>
        <p:sp>
          <p:nvSpPr>
            <p:cNvPr id="43" name="Shape 41">
              <a:extLst>
                <a:ext uri="{FF2B5EF4-FFF2-40B4-BE49-F238E27FC236}">
                  <a16:creationId xmlns:a16="http://schemas.microsoft.com/office/drawing/2014/main" id="{EA07F995-155A-7F82-35EC-57C0D2675BF7}"/>
                </a:ext>
              </a:extLst>
            </p:cNvPr>
            <p:cNvSpPr/>
            <p:nvPr/>
          </p:nvSpPr>
          <p:spPr>
            <a:xfrm>
              <a:off x="475488" y="5468112"/>
              <a:ext cx="11228832" cy="621792"/>
            </a:xfrm>
            <a:prstGeom prst="roundRect">
              <a:avLst>
                <a:gd name="adj" fmla="val 8824"/>
              </a:avLst>
            </a:prstGeom>
            <a:solidFill>
              <a:srgbClr val="F8FAFC"/>
            </a:solidFill>
            <a:ln w="12700">
              <a:solidFill>
                <a:srgbClr val="DCE5E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42">
              <a:extLst>
                <a:ext uri="{FF2B5EF4-FFF2-40B4-BE49-F238E27FC236}">
                  <a16:creationId xmlns:a16="http://schemas.microsoft.com/office/drawing/2014/main" id="{3790E51B-8A20-10D9-EE10-45CC89B643CB}"/>
                </a:ext>
              </a:extLst>
            </p:cNvPr>
            <p:cNvSpPr/>
            <p:nvPr/>
          </p:nvSpPr>
          <p:spPr>
            <a:xfrm>
              <a:off x="475488" y="5468112"/>
              <a:ext cx="82296" cy="621792"/>
            </a:xfrm>
            <a:prstGeom prst="rect">
              <a:avLst/>
            </a:prstGeom>
            <a:solidFill>
              <a:srgbClr val="63A845"/>
            </a:solidFill>
            <a:ln w="12700">
              <a:solidFill>
                <a:srgbClr val="63A84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 43">
              <a:extLst>
                <a:ext uri="{FF2B5EF4-FFF2-40B4-BE49-F238E27FC236}">
                  <a16:creationId xmlns:a16="http://schemas.microsoft.com/office/drawing/2014/main" id="{A3A70DFD-9EF8-4647-E39D-B89EA725BF93}"/>
                </a:ext>
              </a:extLst>
            </p:cNvPr>
            <p:cNvSpPr/>
            <p:nvPr/>
          </p:nvSpPr>
          <p:spPr>
            <a:xfrm>
              <a:off x="713232" y="5596128"/>
              <a:ext cx="9601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70" dirty="0">
                  <a:solidFill>
                    <a:srgbClr val="63A845"/>
                  </a:solidFill>
                </a:rPr>
                <a:t>WHAT TO SAY</a:t>
              </a:r>
              <a:endParaRPr lang="en-US" sz="900" dirty="0"/>
            </a:p>
          </p:txBody>
        </p:sp>
        <p:sp>
          <p:nvSpPr>
            <p:cNvPr id="46" name="Text 44">
              <a:extLst>
                <a:ext uri="{FF2B5EF4-FFF2-40B4-BE49-F238E27FC236}">
                  <a16:creationId xmlns:a16="http://schemas.microsoft.com/office/drawing/2014/main" id="{C15B45A3-CF6C-BE2C-9CBD-9C54F766EA9F}"/>
                </a:ext>
              </a:extLst>
            </p:cNvPr>
            <p:cNvSpPr/>
            <p:nvPr/>
          </p:nvSpPr>
          <p:spPr>
            <a:xfrm>
              <a:off x="1993392" y="5559552"/>
              <a:ext cx="9326880" cy="4572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/>
            <a:lstStyle/>
            <a:p>
              <a:pPr marL="177800" indent="-177800">
                <a:buSzPct val="100000"/>
                <a:buChar char="•"/>
              </a:pPr>
              <a:r>
                <a:rPr lang="en-US" sz="1100" dirty="0">
                  <a:solidFill>
                    <a:srgbClr val="111827"/>
                  </a:solidFill>
                </a:rPr>
                <a:t>Separate what works now from what is planned.</a:t>
              </a:r>
              <a:endParaRPr lang="en-US" sz="1100" dirty="0"/>
            </a:p>
            <a:p>
              <a:pPr marL="177800" indent="-177800">
                <a:buSzPct val="100000"/>
                <a:buChar char="•"/>
              </a:pPr>
              <a:r>
                <a:rPr lang="en-US" sz="1100" dirty="0">
                  <a:solidFill>
                    <a:srgbClr val="111827"/>
                  </a:solidFill>
                </a:rPr>
                <a:t>Prioritize one realistic enhancement and one important security safeguard.</a:t>
              </a:r>
              <a:endParaRPr lang="en-US" sz="1100" dirty="0"/>
            </a:p>
          </p:txBody>
        </p:sp>
      </p:grpSp>
      <p:sp>
        <p:nvSpPr>
          <p:cNvPr id="47" name="Slide Number Placeholder 0">
            <a:extLst>
              <a:ext uri="{FF2B5EF4-FFF2-40B4-BE49-F238E27FC236}">
                <a16:creationId xmlns:a16="http://schemas.microsoft.com/office/drawing/2014/main" id="{0506221D-ED44-2465-649A-FB3BBE3BC509}"/>
              </a:ext>
            </a:extLst>
          </p:cNvPr>
          <p:cNvSpPr txBox="1">
            <a:spLocks/>
          </p:cNvSpPr>
          <p:nvPr/>
        </p:nvSpPr>
        <p:spPr>
          <a:xfrm>
            <a:off x="11731752" y="6510528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 marL="0" algn="l" defTabSz="914400" rtl="0" eaLnBrk="1" latinLnBrk="0" hangingPunct="1">
              <a:defRPr sz="800" kern="1200">
                <a:solidFill>
                  <a:srgbClr val="8A96A3"/>
                </a:solidFill>
                <a:latin typeface="Aptos"/>
                <a:ea typeface="Aptos"/>
                <a:cs typeface="Apto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7021451-1387-4CA6-816F-3879F97B5CBC}" type="slidenum">
              <a:rPr lang="en-US" smtClean="0"/>
              <a:pPr algn="r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173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6E8202-D62C-BAF4-43B0-F1FC010967B8}"/>
              </a:ext>
            </a:extLst>
          </p:cNvPr>
          <p:cNvSpPr txBox="1"/>
          <p:nvPr/>
        </p:nvSpPr>
        <p:spPr>
          <a:xfrm>
            <a:off x="1097280" y="1371600"/>
            <a:ext cx="9966960" cy="4389120"/>
          </a:xfrm>
          <a:prstGeom prst="rect">
            <a:avLst/>
          </a:prstGeom>
          <a:noFill/>
        </p:spPr>
        <p:txBody>
          <a:bodyPr wrap="square" rtlCol="0" tIns="91440" bIns="91440">
            <a:spAutoFit/>
          </a:bodyPr>
          <a:lstStyle/>
          <a:p>
            <a:pPr algn="ctr"/>
            <a:r>
              <a:rPr sz="2800" b="1">
                <a:solidFill>
                  <a:srgbClr val="003B7A"/>
                </a:solidFill>
                <a:latin typeface="Aptos Display"/>
              </a:rPr>
              <a:t>LIVE DEMONSTRATION: MEETINGMIND AI</a:t>
            </a:r>
          </a:p>
          <a:p>
            <a:pPr algn="ctr"/>
            <a:r>
              <a:rPr sz="1300" b="1">
                <a:solidFill>
                  <a:srgbClr val="475569"/>
                </a:solidFill>
                <a:latin typeface="Aptos"/>
              </a:rPr>
              <a:t>Problem EP-01: Smart Meeting Action Extractor  •  Qualcomm Cloud AI Track  •  http://localhost:8501</a:t>
            </a:r>
          </a:p>
          <a:p/>
          <a:p>
            <a:pPr algn="l"/>
            <a:r>
              <a:rPr sz="1100">
                <a:solidFill>
                  <a:srgbClr val="0F172A"/>
                </a:solidFill>
                <a:latin typeface="Aptos"/>
              </a:rPr>
              <a:t>1. Sidebar Health Check: Live status indicator verifying active handshake with Cirrascale Qualcomm Cloud AI API.</a:t>
            </a:r>
          </a:p>
          <a:p/>
          <a:p>
            <a:pPr algn="l"/>
            <a:r>
              <a:rPr sz="1100">
                <a:solidFill>
                  <a:srgbClr val="0F172A"/>
                </a:solidFill>
                <a:latin typeface="Aptos"/>
              </a:rPr>
              <a:t>2. Messy Benchmark Transcript: 1-Click loading of real-world notes containing implicit commitments, tentative offers &amp; unassigned work.</a:t>
            </a:r>
          </a:p>
          <a:p/>
          <a:p>
            <a:pPr algn="l"/>
            <a:r>
              <a:rPr sz="1100">
                <a:solidFill>
                  <a:srgbClr val="0F172A"/>
                </a:solidFill>
                <a:latin typeface="Aptos"/>
              </a:rPr>
              <a:t>3. Live Hardware Execution: Real-time inference using DeepSeek-R1-Distill-70B on Qualcomm Cloud AI with verbatim quote grounding.</a:t>
            </a:r>
          </a:p>
          <a:p/>
          <a:p>
            <a:pPr algn="l"/>
            <a:r>
              <a:rPr sz="1100">
                <a:solidFill>
                  <a:srgbClr val="0F172A"/>
                </a:solidFill>
                <a:latin typeface="Aptos"/>
              </a:rPr>
              <a:t>4. Anti-Hallucination Triage: Interactive table isolating missing owners &amp; vague dates, surfacing proactive Clarification Questions.</a:t>
            </a:r>
          </a:p>
          <a:p/>
          <a:p>
            <a:pPr algn="l"/>
            <a:r>
              <a:rPr sz="1100">
                <a:solidFill>
                  <a:srgbClr val="0F172A"/>
                </a:solidFill>
                <a:latin typeface="Aptos"/>
              </a:rPr>
              <a:t>5. Enterprise Deliverables Export: 1-Click download of RFC-compliant Jira/Asana CSV and schema-validated JSON deliverables.</a:t>
            </a:r>
          </a:p>
        </p:txBody>
      </p:sp>
    </p:spTree>
    <p:extLst>
      <p:ext uri="{BB962C8B-B14F-4D97-AF65-F5344CB8AC3E}">
        <p14:creationId xmlns:p14="http://schemas.microsoft.com/office/powerpoint/2010/main" val="30573236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682</Words>
  <Application>Microsoft Office PowerPoint</Application>
  <PresentationFormat>Widescreen</PresentationFormat>
  <Paragraphs>119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Infosys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Hack-AI-Thon Student Briefing</dc:title>
  <dc:subject>Infosys ENG NEXT 2026 Hack-AI-Thon student briefing</dc:subject>
  <dc:creator>Venkat Kandhari</dc:creator>
  <cp:lastModifiedBy>Venkat Kandhari</cp:lastModifiedBy>
  <cp:revision>3</cp:revision>
  <dcterms:created xsi:type="dcterms:W3CDTF">2026-09-27T06:06:02Z</dcterms:created>
  <dcterms:modified xsi:type="dcterms:W3CDTF">2026-10-04T05:57:12Z</dcterms:modified>
</cp:coreProperties>
</file>