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1" r:id="rId2"/>
    <p:sldId id="262" r:id="rId3"/>
    <p:sldId id="263" r:id="rId4"/>
    <p:sldId id="264" r:id="rId5"/>
    <p:sldId id="265" r:id="rId6"/>
    <p:sldId id="266" r:id="rId7"/>
    <p:sldId id="267" r:id="rId8"/>
    <p:sldId id="268"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C5D4428D-5941-4A61-A577-FAC7CE696506}" type="datetimeFigureOut">
              <a:t>10/4/2026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9DAD85C3-A503-4885-9E41-C9980C9855F5}" type="slidenum">
              <a:t>‹#›</a:t>
            </a:fld>
            <a:endParaRPr lang="en-US"/>
          </a:p>
        </p:txBody>
      </p:sp>
    </p:spTree>
    <p:extLst>
      <p:ext uri="{BB962C8B-B14F-4D97-AF65-F5344CB8AC3E}">
        <p14:creationId xmlns:p14="http://schemas.microsoft.com/office/powerpoint/2010/main" val="911884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(20s): “Good morning judges! We are Team MeetingMind presenting Problem Statement EP-01: Smart Meeting Action Extractor in the Qualcomm Cloud AI track. We built MeetingMind AI to solve the massive accountability gap in post-meeting follow-ups using Qualcomm hardware and a deterministic zero-hallucination engine.”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(50s): “Meetings produce unstructured chaos. But the biggest issue isn't summarizing what happened—it's establishing real accountability. When notes say 'Priya may test, but hasn't confirmed yet', a typical LLM tries to be helpful by guessing Priya is the owner and fabricating a deadline. For EP-01, success means refusing to guess, enforcing strict ownership, isolating undecided architecture forks, and delivering actionable deliverables.”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(55s): “Our solution takes raw transcripts, processes them through a dual-layer engine, and delivers interactive action tables. The AI extracts evidence-backed entities; then our deterministic layer audits the output. The key differentiator is that instead of hallucinating missing data, it alerts the manager with the exact question to ask.”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(55s): “Walking left to right through our architecture: the user interacts with our Streamlit frontend. The request routes to Cirrascale's Qualcomm Cloud AI hardware running DeepSeek-R1. We enforce an architectural Single-Request Invariant to protect the $3 budget. Our test suite includes 31 unit tests covering network drops, 401s, 429s, and edge cases, passing at 100%.”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(45s): “We run DeepSeek-R1-Distill-70B on Qualcomm Cloud AI under 6 strict extraction rules: 1) Strict Factual Accuracy with null-handling, 2) Confirmed vs Tentative separation, 3) Vague commitment flagging, 4) Mandatory verbatim quotes, 5) Confidence scoring, and 6) Reasoning conciseness under 50 words to slash latency to 25s. On Cirrascale's official pricing, an entire meeting analysis costs under a tenth of a cent—less than $1 a month for 1,000 meetings!”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(35s): “For enterprise scalability, MeetingMind AI is built with zero persistent transcript storage for complete GDPR compliance. On Qualcomm Snapdragon X Elite laptops, this can even run entirely on-device on the NPU with zero cloud exposure. Our immediate roadmap includes two-way ticketing synchronization into Jira and an automated Slack bot for follow-up nudges.”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LIVE DEMO: “We will now switch directly to our running prototype at localhost:8501 to demonstrate live end-to-end extraction on Cirrascale Qualcomm Cloud AI hardware.”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FE5308-EC61-0E82-5318-2E5467E0B396}"/>
              </a:ext>
            </a:extLst>
          </p:cNvPr>
          <p:cNvPicPr>
            <a:picLocks noChangeAspect="1"/>
          </p:cNvPicPr>
          <p:nvPr userDrawn="1"/>
        </p:nvPicPr>
        <p:blipFill>
          <a:blip r:embed="rId3"/>
          <a:stretch>
            <a:fillRect/>
          </a:stretch>
        </p:blipFill>
        <p:spPr>
          <a:xfrm>
            <a:off x="10574594" y="5876215"/>
            <a:ext cx="1318963" cy="818667"/>
          </a:xfrm>
          <a:prstGeom prst="rect">
            <a:avLst/>
          </a:prstGeom>
        </p:spPr>
      </p:pic>
      <p:pic>
        <p:nvPicPr>
          <p:cNvPr id="5" name="Picture 4">
            <a:extLst>
              <a:ext uri="{FF2B5EF4-FFF2-40B4-BE49-F238E27FC236}">
                <a16:creationId xmlns:a16="http://schemas.microsoft.com/office/drawing/2014/main" id="{B5F3739A-EEDD-E920-B64C-4BAF42FE1117}"/>
              </a:ext>
            </a:extLst>
          </p:cNvPr>
          <p:cNvPicPr>
            <a:picLocks noChangeAspect="1"/>
          </p:cNvPicPr>
          <p:nvPr userDrawn="1"/>
        </p:nvPicPr>
        <p:blipFill>
          <a:blip r:embed="rId4"/>
          <a:stretch>
            <a:fillRect/>
          </a:stretch>
        </p:blipFill>
        <p:spPr>
          <a:xfrm>
            <a:off x="10574594" y="163118"/>
            <a:ext cx="1290881" cy="573334"/>
          </a:xfrm>
          <a:prstGeom prst="rect">
            <a:avLst/>
          </a:prstGeom>
        </p:spPr>
      </p:pic>
      <p:pic>
        <p:nvPicPr>
          <p:cNvPr id="7" name="Picture 6">
            <a:extLst>
              <a:ext uri="{FF2B5EF4-FFF2-40B4-BE49-F238E27FC236}">
                <a16:creationId xmlns:a16="http://schemas.microsoft.com/office/drawing/2014/main" id="{158CF6EF-51B3-F9BF-653F-611F4D661923}"/>
              </a:ext>
            </a:extLst>
          </p:cNvPr>
          <p:cNvPicPr>
            <a:picLocks noChangeAspect="1"/>
          </p:cNvPicPr>
          <p:nvPr userDrawn="1"/>
        </p:nvPicPr>
        <p:blipFill>
          <a:blip r:embed="rId5"/>
          <a:stretch>
            <a:fillRect/>
          </a:stretch>
        </p:blipFill>
        <p:spPr>
          <a:xfrm>
            <a:off x="170911" y="5856565"/>
            <a:ext cx="1514686" cy="838317"/>
          </a:xfrm>
          <a:prstGeom prst="rect">
            <a:avLst/>
          </a:prstGeom>
        </p:spPr>
      </p:pic>
      <p:sp>
        <p:nvSpPr>
          <p:cNvPr id="8" name="TextBox 7">
            <a:extLst>
              <a:ext uri="{FF2B5EF4-FFF2-40B4-BE49-F238E27FC236}">
                <a16:creationId xmlns:a16="http://schemas.microsoft.com/office/drawing/2014/main" id="{C16BA7EB-F111-8C47-C6DE-856C431C5918}"/>
              </a:ext>
            </a:extLst>
          </p:cNvPr>
          <p:cNvSpPr txBox="1"/>
          <p:nvPr userDrawn="1"/>
        </p:nvSpPr>
        <p:spPr>
          <a:xfrm>
            <a:off x="3823854" y="6371716"/>
            <a:ext cx="4544291"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a:effectLst/>
                <a:latin typeface="+mn-lt"/>
              </a:rPr>
              <a:t>© 2026 Infosys Limited. All rights reserved. </a:t>
            </a:r>
          </a:p>
          <a:p>
            <a:endParaRPr lang="en-US" b="0"/>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AF7831-804B-72A5-6574-FDC83C72188C}"/>
              </a:ext>
            </a:extLst>
          </p:cNvPr>
          <p:cNvSpPr txBox="1"/>
          <p:nvPr/>
        </p:nvSpPr>
        <p:spPr>
          <a:xfrm>
            <a:off x="1939636" y="1842655"/>
            <a:ext cx="8465128" cy="3108960"/>
          </a:xfrm>
          <a:prstGeom prst="rect">
            <a:avLst/>
          </a:prstGeom>
          <a:noFill/>
        </p:spPr>
        <p:txBody>
          <a:bodyPr wrap="square" rtlCol="0">
            <a:spAutoFit/>
          </a:bodyPr>
          <a:lstStyle/>
          <a:p>
            <a:r>
              <a:rPr sz="4600" b="1">
                <a:solidFill>
                  <a:srgbClr val="003B7A"/>
                </a:solidFill>
                <a:latin typeface="Aptos Display"/>
              </a:rPr>
              <a:t>Hack-AI-Thon 2026</a:t>
            </a:r>
          </a:p>
          <a:p>
            <a:r>
              <a:rPr sz="2400">
                <a:solidFill>
                  <a:srgbClr val="475569"/>
                </a:solidFill>
                <a:latin typeface="Aptos Display"/>
              </a:rPr>
              <a:t>Solution Presentation</a:t>
            </a:r>
          </a:p>
          <a:p/>
          <a:p>
            <a:r>
              <a:rPr sz="2000" b="1">
                <a:solidFill>
                  <a:srgbClr val="003B7A"/>
                </a:solidFill>
                <a:latin typeface="Aptos"/>
              </a:rPr>
              <a:t>MeetingMind AI — Smart Meeting Action Extractor</a:t>
            </a:r>
          </a:p>
          <a:p>
            <a:r>
              <a:rPr sz="1300" b="0">
                <a:solidFill>
                  <a:srgbClr val="475569"/>
                </a:solidFill>
                <a:latin typeface="Aptos"/>
              </a:rPr>
              <a:t>Track 3: Engagement Platforms (EP-01)  •  Qualcomm Cloud AI Track</a:t>
            </a:r>
          </a:p>
        </p:txBody>
      </p:sp>
    </p:spTree>
    <p:extLst>
      <p:ext uri="{BB962C8B-B14F-4D97-AF65-F5344CB8AC3E}">
        <p14:creationId xmlns:p14="http://schemas.microsoft.com/office/powerpoint/2010/main" val="3869430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93C5638-F773-A35E-B550-DEDD6A48FF1D}"/>
              </a:ext>
            </a:extLst>
          </p:cNvPr>
          <p:cNvSpPr/>
          <p:nvPr/>
        </p:nvSpPr>
        <p:spPr>
          <a:xfrm>
            <a:off x="475488" y="256032"/>
            <a:ext cx="8869680" cy="347472"/>
          </a:xfrm>
          <a:prstGeom prst="rect">
            <a:avLst/>
          </a:prstGeom>
          <a:noFill/>
          <a:ln/>
        </p:spPr>
        <p:txBody>
          <a:bodyPr wrap="square" lIns="0" tIns="0" rIns="0" bIns="0" rtlCol="0" anchor="ctr"/>
          <a:lstStyle/>
          <a:p>
            <a:pPr marL="0" indent="0">
              <a:buNone/>
            </a:pPr>
            <a:r>
              <a:rPr lang="en-US" sz="2400" dirty="0">
                <a:solidFill>
                  <a:srgbClr val="111827"/>
                </a:solidFill>
                <a:latin typeface="Aptos Display" pitchFamily="34" charset="0"/>
                <a:ea typeface="Aptos Display" pitchFamily="34" charset="-122"/>
                <a:cs typeface="Aptos Display" pitchFamily="34" charset="-120"/>
              </a:rPr>
              <a:t>Team Introduction</a:t>
            </a:r>
            <a:endParaRPr lang="en-US" sz="2400" dirty="0"/>
          </a:p>
        </p:txBody>
      </p:sp>
      <p:sp>
        <p:nvSpPr>
          <p:cNvPr id="5" name="Text 3">
            <a:extLst>
              <a:ext uri="{FF2B5EF4-FFF2-40B4-BE49-F238E27FC236}">
                <a16:creationId xmlns:a16="http://schemas.microsoft.com/office/drawing/2014/main" id="{E2449A72-43FB-5240-7790-5D50EFB89B5D}"/>
              </a:ext>
            </a:extLst>
          </p:cNvPr>
          <p:cNvSpPr/>
          <p:nvPr/>
        </p:nvSpPr>
        <p:spPr>
          <a:xfrm>
            <a:off x="9875520" y="704088"/>
            <a:ext cx="1737360" cy="128016"/>
          </a:xfrm>
          <a:prstGeom prst="rect">
            <a:avLst/>
          </a:prstGeom>
          <a:noFill/>
          <a:ln/>
        </p:spPr>
        <p:txBody>
          <a:bodyPr wrap="square" lIns="0" tIns="0" rIns="0" bIns="0" rtlCol="0" anchor="ctr"/>
          <a:lstStyle/>
          <a:p>
            <a:pPr marL="0" indent="0" algn="ctr">
              <a:buNone/>
            </a:pPr>
            <a:r>
              <a:rPr lang="en-US" sz="850" b="1" dirty="0">
                <a:solidFill>
                  <a:srgbClr val="FFFFFF"/>
                </a:solidFill>
              </a:rPr>
              <a:t>SUGGESTED TIME  0:20</a:t>
            </a:r>
            <a:endParaRPr lang="en-US" sz="850" dirty="0"/>
          </a:p>
        </p:txBody>
      </p:sp>
      <p:sp>
        <p:nvSpPr>
          <p:cNvPr id="7" name="Text 5">
            <a:extLst>
              <a:ext uri="{FF2B5EF4-FFF2-40B4-BE49-F238E27FC236}">
                <a16:creationId xmlns:a16="http://schemas.microsoft.com/office/drawing/2014/main" id="{33C06E83-2D18-2697-77D8-1766EDC40708}"/>
              </a:ext>
            </a:extLst>
          </p:cNvPr>
          <p:cNvSpPr/>
          <p:nvPr/>
        </p:nvSpPr>
        <p:spPr>
          <a:xfrm>
            <a:off x="566928" y="1133856"/>
            <a:ext cx="2926080" cy="219456"/>
          </a:xfrm>
          <a:prstGeom prst="rect">
            <a:avLst/>
          </a:prstGeom>
          <a:noFill/>
          <a:ln/>
        </p:spPr>
        <p:txBody>
          <a:bodyPr wrap="square" lIns="0" tIns="0" rIns="0" bIns="0" rtlCol="0" anchor="ctr"/>
          <a:lstStyle/>
          <a:p>
            <a:pPr marL="0" indent="0">
              <a:buNone/>
            </a:pPr>
            <a:r>
              <a:rPr lang="en-US" sz="1100" b="1" kern="0" spc="120" dirty="0">
                <a:solidFill>
                  <a:srgbClr val="007CC3"/>
                </a:solidFill>
              </a:rPr>
              <a:t>HACK-AI-THON 2026</a:t>
            </a:r>
            <a:endParaRPr lang="en-US" sz="1100" dirty="0"/>
          </a:p>
        </p:txBody>
      </p:sp>
      <p:sp>
        <p:nvSpPr>
          <p:cNvPr id="8" name="Text 6">
            <a:extLst>
              <a:ext uri="{FF2B5EF4-FFF2-40B4-BE49-F238E27FC236}">
                <a16:creationId xmlns:a16="http://schemas.microsoft.com/office/drawing/2014/main" id="{26341152-32E0-DDA7-8E39-55C4BAD49756}"/>
              </a:ext>
            </a:extLst>
          </p:cNvPr>
          <p:cNvSpPr/>
          <p:nvPr/>
        </p:nvSpPr>
        <p:spPr>
          <a:xfrm>
            <a:off x="566928" y="1472184"/>
            <a:ext cx="6629400" cy="548640"/>
          </a:xfrm>
          <a:prstGeom prst="rect">
            <a:avLst/>
          </a:prstGeom>
          <a:noFill/>
          <a:ln/>
        </p:spPr>
        <p:txBody>
          <a:bodyPr wrap="square" lIns="36576" tIns="36576" rIns="36576" bIns="36576" rtlCol="0" anchor="ctr">
            <a:normAutofit/>
          </a:bodyPr>
          <a:lstStyle/>
          <a:p>
            <a:pPr algn="l"/>
            <a:r>
              <a:rPr sz="2800" b="1">
                <a:solidFill>
                  <a:srgbClr val="003B7A"/>
                </a:solidFill>
                <a:latin typeface="Aptos"/>
              </a:rPr>
              <a:t>Team MeetingMind</a:t>
            </a:r>
          </a:p>
        </p:txBody>
      </p:sp>
      <p:sp>
        <p:nvSpPr>
          <p:cNvPr id="10" name="Shape 8">
            <a:extLst>
              <a:ext uri="{FF2B5EF4-FFF2-40B4-BE49-F238E27FC236}">
                <a16:creationId xmlns:a16="http://schemas.microsoft.com/office/drawing/2014/main" id="{0239C95B-BCA9-CD44-D0BC-9ADFEFE95C8C}"/>
              </a:ext>
            </a:extLst>
          </p:cNvPr>
          <p:cNvSpPr/>
          <p:nvPr/>
        </p:nvSpPr>
        <p:spPr>
          <a:xfrm>
            <a:off x="7635240" y="1261872"/>
            <a:ext cx="4069080" cy="960120"/>
          </a:xfrm>
          <a:prstGeom prst="roundRect">
            <a:avLst>
              <a:gd name="adj" fmla="val 4762"/>
            </a:avLst>
          </a:prstGeom>
          <a:solidFill>
            <a:srgbClr val="FFFFFF"/>
          </a:solidFill>
          <a:ln w="12700">
            <a:solidFill>
              <a:srgbClr val="DCE5EC"/>
            </a:solidFill>
            <a:prstDash val="solid"/>
          </a:ln>
          <a:effectLst>
            <a:outerShdw blurRad="15240" dist="6350" dir="2700000" algn="bl" rotWithShape="0">
              <a:srgbClr val="000000">
                <a:alpha val="12000"/>
              </a:srgbClr>
            </a:outerShdw>
          </a:effectLst>
        </p:spPr>
        <p:txBody>
          <a:bodyPr/>
          <a:lstStyle/>
          <a:p>
            <a:endParaRPr lang="en-US"/>
          </a:p>
        </p:txBody>
      </p:sp>
      <p:sp>
        <p:nvSpPr>
          <p:cNvPr id="11" name="Text 9">
            <a:extLst>
              <a:ext uri="{FF2B5EF4-FFF2-40B4-BE49-F238E27FC236}">
                <a16:creationId xmlns:a16="http://schemas.microsoft.com/office/drawing/2014/main" id="{E0ACF21D-B3D5-FAC8-B6C3-71127CBEF29B}"/>
              </a:ext>
            </a:extLst>
          </p:cNvPr>
          <p:cNvSpPr/>
          <p:nvPr/>
        </p:nvSpPr>
        <p:spPr>
          <a:xfrm>
            <a:off x="7799832" y="1389888"/>
            <a:ext cx="3739896" cy="164592"/>
          </a:xfrm>
          <a:prstGeom prst="rect">
            <a:avLst/>
          </a:prstGeom>
          <a:noFill/>
          <a:ln/>
        </p:spPr>
        <p:txBody>
          <a:bodyPr wrap="square" lIns="0" tIns="0" rIns="0" bIns="0" rtlCol="0" anchor="ctr"/>
          <a:lstStyle/>
          <a:p>
            <a:pPr marL="0" indent="0">
              <a:buNone/>
            </a:pPr>
            <a:r>
              <a:rPr lang="en-US" sz="850" b="1" kern="0" spc="70" dirty="0">
                <a:solidFill>
                  <a:srgbClr val="5417A8"/>
                </a:solidFill>
              </a:rPr>
              <a:t>COLLEGE</a:t>
            </a:r>
            <a:endParaRPr lang="en-US" sz="850" dirty="0"/>
          </a:p>
        </p:txBody>
      </p:sp>
      <p:sp>
        <p:nvSpPr>
          <p:cNvPr id="12" name="Text 10">
            <a:extLst>
              <a:ext uri="{FF2B5EF4-FFF2-40B4-BE49-F238E27FC236}">
                <a16:creationId xmlns:a16="http://schemas.microsoft.com/office/drawing/2014/main" id="{18BAB699-72FC-A681-8C0C-72043C517529}"/>
              </a:ext>
            </a:extLst>
          </p:cNvPr>
          <p:cNvSpPr/>
          <p:nvPr/>
        </p:nvSpPr>
        <p:spPr>
          <a:xfrm>
            <a:off x="7799832" y="1655064"/>
            <a:ext cx="3739896" cy="448056"/>
          </a:xfrm>
          <a:prstGeom prst="rect">
            <a:avLst/>
          </a:prstGeom>
          <a:noFill/>
          <a:ln/>
        </p:spPr>
        <p:txBody>
          <a:bodyPr wrap="square" lIns="36576" tIns="36576" rIns="36576" bIns="36576" rtlCol="0" anchor="ctr">
            <a:normAutofit/>
          </a:bodyPr>
          <a:lstStyle/>
          <a:p>
            <a:pPr algn="l"/>
            <a:r>
              <a:rPr sz="1200" b="0">
                <a:solidFill>
                  <a:srgbClr val="0F172A"/>
                </a:solidFill>
                <a:latin typeface="Aptos"/>
              </a:rPr>
              <a:t>Infosys IGNITE ENG NEXT 2026 | Hyderabad</a:t>
            </a:r>
          </a:p>
        </p:txBody>
      </p:sp>
      <p:sp>
        <p:nvSpPr>
          <p:cNvPr id="13" name="Shape 11">
            <a:extLst>
              <a:ext uri="{FF2B5EF4-FFF2-40B4-BE49-F238E27FC236}">
                <a16:creationId xmlns:a16="http://schemas.microsoft.com/office/drawing/2014/main" id="{53770BAD-2716-4762-7A11-4FAEBA04353A}"/>
              </a:ext>
            </a:extLst>
          </p:cNvPr>
          <p:cNvSpPr/>
          <p:nvPr/>
        </p:nvSpPr>
        <p:spPr>
          <a:xfrm>
            <a:off x="7635240" y="2395728"/>
            <a:ext cx="4069080" cy="1051560"/>
          </a:xfrm>
          <a:prstGeom prst="roundRect">
            <a:avLst>
              <a:gd name="adj" fmla="val 4348"/>
            </a:avLst>
          </a:prstGeom>
          <a:solidFill>
            <a:srgbClr val="FFFFFF"/>
          </a:solidFill>
          <a:ln w="12700">
            <a:solidFill>
              <a:srgbClr val="DCE5EC"/>
            </a:solidFill>
            <a:prstDash val="solid"/>
          </a:ln>
          <a:effectLst/>
        </p:spPr>
        <p:txBody>
          <a:bodyPr/>
          <a:lstStyle/>
          <a:p>
            <a:endParaRPr lang="en-US"/>
          </a:p>
        </p:txBody>
      </p:sp>
      <p:sp>
        <p:nvSpPr>
          <p:cNvPr id="14" name="Text 12">
            <a:extLst>
              <a:ext uri="{FF2B5EF4-FFF2-40B4-BE49-F238E27FC236}">
                <a16:creationId xmlns:a16="http://schemas.microsoft.com/office/drawing/2014/main" id="{AE70026C-EA6C-6AEB-1F32-DC1449CBB31E}"/>
              </a:ext>
            </a:extLst>
          </p:cNvPr>
          <p:cNvSpPr/>
          <p:nvPr/>
        </p:nvSpPr>
        <p:spPr>
          <a:xfrm>
            <a:off x="7799832" y="2523744"/>
            <a:ext cx="3739896" cy="164592"/>
          </a:xfrm>
          <a:prstGeom prst="rect">
            <a:avLst/>
          </a:prstGeom>
          <a:noFill/>
          <a:ln/>
        </p:spPr>
        <p:txBody>
          <a:bodyPr wrap="square" lIns="0" tIns="0" rIns="0" bIns="0" rtlCol="0" anchor="ctr"/>
          <a:lstStyle/>
          <a:p>
            <a:pPr marL="0" indent="0">
              <a:buNone/>
            </a:pPr>
            <a:r>
              <a:rPr lang="en-US" sz="850" b="1" kern="0" spc="70" dirty="0">
                <a:solidFill>
                  <a:srgbClr val="F28C28"/>
                </a:solidFill>
              </a:rPr>
              <a:t>TEAM MEMBERS</a:t>
            </a:r>
            <a:endParaRPr lang="en-US" sz="850" dirty="0"/>
          </a:p>
        </p:txBody>
      </p:sp>
      <p:sp>
        <p:nvSpPr>
          <p:cNvPr id="15" name="Text 13">
            <a:extLst>
              <a:ext uri="{FF2B5EF4-FFF2-40B4-BE49-F238E27FC236}">
                <a16:creationId xmlns:a16="http://schemas.microsoft.com/office/drawing/2014/main" id="{0B53965F-8EB4-9570-D88A-5B5E958088E1}"/>
              </a:ext>
            </a:extLst>
          </p:cNvPr>
          <p:cNvSpPr/>
          <p:nvPr/>
        </p:nvSpPr>
        <p:spPr>
          <a:xfrm>
            <a:off x="7799832" y="2788920"/>
            <a:ext cx="3739896" cy="539496"/>
          </a:xfrm>
          <a:prstGeom prst="rect">
            <a:avLst/>
          </a:prstGeom>
          <a:noFill/>
          <a:ln/>
        </p:spPr>
        <p:txBody>
          <a:bodyPr wrap="square" lIns="36576" tIns="36576" rIns="36576" bIns="36576" rtlCol="0" anchor="ctr">
            <a:normAutofit/>
          </a:bodyPr>
          <a:lstStyle/>
          <a:p>
            <a:pPr algn="l"/>
            <a:r>
              <a:rPr sz="1200" b="0">
                <a:solidFill>
                  <a:srgbClr val="0F172A"/>
                </a:solidFill>
                <a:latin typeface="Aptos"/>
              </a:rPr>
              <a:t>Kowshik Ghanta (Lead)  •  Team Member 2  •  Team Member 3</a:t>
            </a:r>
          </a:p>
        </p:txBody>
      </p:sp>
      <p:sp>
        <p:nvSpPr>
          <p:cNvPr id="19" name="Shape 17">
            <a:extLst>
              <a:ext uri="{FF2B5EF4-FFF2-40B4-BE49-F238E27FC236}">
                <a16:creationId xmlns:a16="http://schemas.microsoft.com/office/drawing/2014/main" id="{A634997F-2956-81EC-37B8-43AB96F19087}"/>
              </a:ext>
            </a:extLst>
          </p:cNvPr>
          <p:cNvSpPr/>
          <p:nvPr/>
        </p:nvSpPr>
        <p:spPr>
          <a:xfrm>
            <a:off x="290509" y="3557016"/>
            <a:ext cx="4709160" cy="841248"/>
          </a:xfrm>
          <a:prstGeom prst="roundRect">
            <a:avLst>
              <a:gd name="adj" fmla="val 5435"/>
            </a:avLst>
          </a:prstGeom>
          <a:solidFill>
            <a:srgbClr val="FFFFFF"/>
          </a:solidFill>
          <a:ln w="12700">
            <a:solidFill>
              <a:srgbClr val="DCE5EC"/>
            </a:solidFill>
            <a:prstDash val="solid"/>
          </a:ln>
          <a:effectLst/>
        </p:spPr>
        <p:txBody>
          <a:bodyPr/>
          <a:lstStyle/>
          <a:p>
            <a:endParaRPr lang="en-US"/>
          </a:p>
        </p:txBody>
      </p:sp>
      <p:sp>
        <p:nvSpPr>
          <p:cNvPr id="20" name="Text 18">
            <a:extLst>
              <a:ext uri="{FF2B5EF4-FFF2-40B4-BE49-F238E27FC236}">
                <a16:creationId xmlns:a16="http://schemas.microsoft.com/office/drawing/2014/main" id="{84622B7B-239A-CE6B-DB89-A38E2DBB780D}"/>
              </a:ext>
            </a:extLst>
          </p:cNvPr>
          <p:cNvSpPr/>
          <p:nvPr/>
        </p:nvSpPr>
        <p:spPr>
          <a:xfrm>
            <a:off x="455101" y="3685032"/>
            <a:ext cx="4379976" cy="164592"/>
          </a:xfrm>
          <a:prstGeom prst="rect">
            <a:avLst/>
          </a:prstGeom>
          <a:noFill/>
          <a:ln/>
        </p:spPr>
        <p:txBody>
          <a:bodyPr wrap="square" lIns="0" tIns="0" rIns="0" bIns="0" rtlCol="0" anchor="ctr"/>
          <a:lstStyle/>
          <a:p>
            <a:pPr marL="0" indent="0">
              <a:buNone/>
            </a:pPr>
            <a:r>
              <a:rPr lang="en-US" sz="850" b="1" kern="0" spc="70" dirty="0">
                <a:solidFill>
                  <a:srgbClr val="007CC3"/>
                </a:solidFill>
              </a:rPr>
              <a:t>SELECTED PROBLEM STATEMENT</a:t>
            </a:r>
            <a:endParaRPr lang="en-US" sz="850" dirty="0"/>
          </a:p>
        </p:txBody>
      </p:sp>
      <p:sp>
        <p:nvSpPr>
          <p:cNvPr id="21" name="Text 19">
            <a:extLst>
              <a:ext uri="{FF2B5EF4-FFF2-40B4-BE49-F238E27FC236}">
                <a16:creationId xmlns:a16="http://schemas.microsoft.com/office/drawing/2014/main" id="{8D9DE2A7-5A43-E453-A85B-37D123EB5DAF}"/>
              </a:ext>
            </a:extLst>
          </p:cNvPr>
          <p:cNvSpPr/>
          <p:nvPr/>
        </p:nvSpPr>
        <p:spPr>
          <a:xfrm>
            <a:off x="455101" y="3950208"/>
            <a:ext cx="4379976" cy="329184"/>
          </a:xfrm>
          <a:prstGeom prst="rect">
            <a:avLst/>
          </a:prstGeom>
          <a:noFill/>
          <a:ln/>
        </p:spPr>
        <p:txBody>
          <a:bodyPr wrap="square" lIns="36576" tIns="36576" rIns="36576" bIns="36576" rtlCol="0" anchor="ctr">
            <a:normAutofit/>
          </a:bodyPr>
          <a:lstStyle/>
          <a:p>
            <a:pPr algn="l"/>
            <a:r>
              <a:rPr sz="1200" b="1">
                <a:solidFill>
                  <a:srgbClr val="003B7A"/>
                </a:solidFill>
                <a:latin typeface="Aptos"/>
              </a:rPr>
              <a:t>EP-01: Smart Meeting Action Extractor</a:t>
            </a:r>
          </a:p>
        </p:txBody>
      </p:sp>
      <p:grpSp>
        <p:nvGrpSpPr>
          <p:cNvPr id="30" name="Group 29">
            <a:extLst>
              <a:ext uri="{FF2B5EF4-FFF2-40B4-BE49-F238E27FC236}">
                <a16:creationId xmlns:a16="http://schemas.microsoft.com/office/drawing/2014/main" id="{61E5967C-DB75-3EAB-EFE9-2844FA56498A}"/>
              </a:ext>
            </a:extLst>
          </p:cNvPr>
          <p:cNvGrpSpPr/>
          <p:nvPr/>
        </p:nvGrpSpPr>
        <p:grpSpPr>
          <a:xfrm>
            <a:off x="7635240" y="3547872"/>
            <a:ext cx="2615184" cy="841248"/>
            <a:chOff x="7635240" y="3906737"/>
            <a:chExt cx="2615184" cy="841248"/>
          </a:xfrm>
        </p:grpSpPr>
        <p:sp>
          <p:nvSpPr>
            <p:cNvPr id="22" name="Shape 20">
              <a:extLst>
                <a:ext uri="{FF2B5EF4-FFF2-40B4-BE49-F238E27FC236}">
                  <a16:creationId xmlns:a16="http://schemas.microsoft.com/office/drawing/2014/main" id="{7BE944F7-38B5-64C7-930D-B72927FC746D}"/>
                </a:ext>
              </a:extLst>
            </p:cNvPr>
            <p:cNvSpPr/>
            <p:nvPr/>
          </p:nvSpPr>
          <p:spPr>
            <a:xfrm>
              <a:off x="7635240" y="3906737"/>
              <a:ext cx="2615184" cy="841248"/>
            </a:xfrm>
            <a:prstGeom prst="roundRect">
              <a:avLst>
                <a:gd name="adj" fmla="val 5435"/>
              </a:avLst>
            </a:prstGeom>
            <a:solidFill>
              <a:srgbClr val="FFFFFF"/>
            </a:solidFill>
            <a:ln w="12700">
              <a:solidFill>
                <a:srgbClr val="DCE5EC"/>
              </a:solidFill>
              <a:prstDash val="solid"/>
            </a:ln>
            <a:effectLst/>
          </p:spPr>
          <p:txBody>
            <a:bodyPr/>
            <a:lstStyle/>
            <a:p>
              <a:endParaRPr lang="en-US"/>
            </a:p>
          </p:txBody>
        </p:sp>
        <p:sp>
          <p:nvSpPr>
            <p:cNvPr id="23" name="Text 21">
              <a:extLst>
                <a:ext uri="{FF2B5EF4-FFF2-40B4-BE49-F238E27FC236}">
                  <a16:creationId xmlns:a16="http://schemas.microsoft.com/office/drawing/2014/main" id="{ADC5DEF7-8576-092D-9F96-DAD18B227F78}"/>
                </a:ext>
              </a:extLst>
            </p:cNvPr>
            <p:cNvSpPr/>
            <p:nvPr/>
          </p:nvSpPr>
          <p:spPr>
            <a:xfrm>
              <a:off x="7799832" y="4034753"/>
              <a:ext cx="2286000" cy="164592"/>
            </a:xfrm>
            <a:prstGeom prst="rect">
              <a:avLst/>
            </a:prstGeom>
            <a:noFill/>
            <a:ln/>
          </p:spPr>
          <p:txBody>
            <a:bodyPr wrap="square" lIns="0" tIns="0" rIns="0" bIns="0" rtlCol="0" anchor="ctr"/>
            <a:lstStyle/>
            <a:p>
              <a:pPr marL="0" indent="0">
                <a:buNone/>
              </a:pPr>
              <a:r>
                <a:rPr lang="en-US" sz="850" b="1" kern="0" spc="70" dirty="0">
                  <a:solidFill>
                    <a:srgbClr val="5417A8"/>
                  </a:solidFill>
                </a:rPr>
                <a:t>TECHNOLOGY TRACK</a:t>
              </a:r>
              <a:endParaRPr lang="en-US" sz="850" dirty="0"/>
            </a:p>
          </p:txBody>
        </p:sp>
        <p:sp>
          <p:nvSpPr>
            <p:cNvPr id="24" name="Text 22">
              <a:extLst>
                <a:ext uri="{FF2B5EF4-FFF2-40B4-BE49-F238E27FC236}">
                  <a16:creationId xmlns:a16="http://schemas.microsoft.com/office/drawing/2014/main" id="{E89A6BC1-C284-CB71-9496-E1F2258424E1}"/>
                </a:ext>
              </a:extLst>
            </p:cNvPr>
            <p:cNvSpPr/>
            <p:nvPr/>
          </p:nvSpPr>
          <p:spPr>
            <a:xfrm>
              <a:off x="7799832" y="4299929"/>
              <a:ext cx="2286000" cy="329184"/>
            </a:xfrm>
            <a:prstGeom prst="rect">
              <a:avLst/>
            </a:prstGeom>
            <a:noFill/>
            <a:ln/>
          </p:spPr>
          <p:txBody>
            <a:bodyPr wrap="square" lIns="36576" tIns="36576" rIns="36576" bIns="36576" rtlCol="0" anchor="ctr">
              <a:normAutofit/>
            </a:bodyPr>
            <a:lstStyle/>
            <a:p>
              <a:pPr algn="l"/>
              <a:r>
                <a:rPr sz="1100" b="1">
                  <a:solidFill>
                    <a:srgbClr val="003B7A"/>
                  </a:solidFill>
                  <a:latin typeface="Aptos"/>
                </a:rPr>
                <a:t>Qualcomm Cloud AI Playground</a:t>
              </a:r>
            </a:p>
          </p:txBody>
        </p:sp>
      </p:grpSp>
      <p:sp>
        <p:nvSpPr>
          <p:cNvPr id="29" name="Slide Number Placeholder 0">
            <a:extLst>
              <a:ext uri="{FF2B5EF4-FFF2-40B4-BE49-F238E27FC236}">
                <a16:creationId xmlns:a16="http://schemas.microsoft.com/office/drawing/2014/main" id="{7F0826ED-9BAD-C2DB-5431-D299FF747B6E}"/>
              </a:ext>
            </a:extLst>
          </p:cNvPr>
          <p:cNvSpPr txBox="1">
            <a:spLocks/>
          </p:cNvSpPr>
          <p:nvPr/>
        </p:nvSpPr>
        <p:spPr>
          <a:xfrm>
            <a:off x="11731752" y="6510528"/>
            <a:ext cx="228600" cy="146304"/>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800" kern="1200">
                <a:solidFill>
                  <a:srgbClr val="8A96A3"/>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2</a:t>
            </a:fld>
            <a:endParaRPr lang="en-US"/>
          </a:p>
        </p:txBody>
      </p:sp>
    </p:spTree>
    <p:extLst>
      <p:ext uri="{BB962C8B-B14F-4D97-AF65-F5344CB8AC3E}">
        <p14:creationId xmlns:p14="http://schemas.microsoft.com/office/powerpoint/2010/main" val="1139228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0052623C-23F0-F8E2-64EB-111E89A6EDBA}"/>
              </a:ext>
            </a:extLst>
          </p:cNvPr>
          <p:cNvSpPr/>
          <p:nvPr/>
        </p:nvSpPr>
        <p:spPr>
          <a:xfrm>
            <a:off x="475488" y="256032"/>
            <a:ext cx="8869680" cy="347472"/>
          </a:xfrm>
          <a:prstGeom prst="rect">
            <a:avLst/>
          </a:prstGeom>
          <a:noFill/>
          <a:ln/>
        </p:spPr>
        <p:txBody>
          <a:bodyPr wrap="square" lIns="0" tIns="0" rIns="0" bIns="0" rtlCol="0" anchor="ctr"/>
          <a:lstStyle/>
          <a:p>
            <a:pPr marL="0" indent="0">
              <a:buNone/>
            </a:pPr>
            <a:r>
              <a:rPr lang="en-US" sz="2400" dirty="0">
                <a:solidFill>
                  <a:srgbClr val="111827"/>
                </a:solidFill>
                <a:latin typeface="Aptos Display" pitchFamily="34" charset="0"/>
                <a:ea typeface="Aptos Display" pitchFamily="34" charset="-122"/>
                <a:cs typeface="Aptos Display" pitchFamily="34" charset="-120"/>
              </a:rPr>
              <a:t>Problem Statement</a:t>
            </a:r>
            <a:endParaRPr lang="en-US" sz="2400" dirty="0"/>
          </a:p>
        </p:txBody>
      </p:sp>
      <p:sp>
        <p:nvSpPr>
          <p:cNvPr id="7" name="Text 6">
            <a:extLst>
              <a:ext uri="{FF2B5EF4-FFF2-40B4-BE49-F238E27FC236}">
                <a16:creationId xmlns:a16="http://schemas.microsoft.com/office/drawing/2014/main" id="{46B4950A-3E35-1583-F0FA-3FA18DF704FF}"/>
              </a:ext>
            </a:extLst>
          </p:cNvPr>
          <p:cNvSpPr/>
          <p:nvPr/>
        </p:nvSpPr>
        <p:spPr>
          <a:xfrm>
            <a:off x="713232" y="1243584"/>
            <a:ext cx="6483096" cy="164592"/>
          </a:xfrm>
          <a:prstGeom prst="rect">
            <a:avLst/>
          </a:prstGeom>
          <a:noFill/>
          <a:ln/>
        </p:spPr>
        <p:txBody>
          <a:bodyPr wrap="square" lIns="0" tIns="0" rIns="0" bIns="0" rtlCol="0" anchor="ctr"/>
          <a:lstStyle/>
          <a:p>
            <a:pPr marL="0" indent="0">
              <a:buNone/>
            </a:pPr>
            <a:r>
              <a:rPr lang="en-US" sz="850" b="1" kern="0" spc="70" dirty="0">
                <a:solidFill>
                  <a:srgbClr val="5417A8"/>
                </a:solidFill>
              </a:rPr>
              <a:t>ACTUAL PROBLEM STATEMENT</a:t>
            </a:r>
            <a:endParaRPr lang="en-US" sz="850" dirty="0"/>
          </a:p>
        </p:txBody>
      </p:sp>
      <p:sp>
        <p:nvSpPr>
          <p:cNvPr id="9" name="Text 7">
            <a:extLst>
              <a:ext uri="{FF2B5EF4-FFF2-40B4-BE49-F238E27FC236}">
                <a16:creationId xmlns:a16="http://schemas.microsoft.com/office/drawing/2014/main" id="{0C28330B-AECD-6684-FE9B-DCE13D39A099}"/>
              </a:ext>
            </a:extLst>
          </p:cNvPr>
          <p:cNvSpPr/>
          <p:nvPr/>
        </p:nvSpPr>
        <p:spPr>
          <a:xfrm>
            <a:off x="713232" y="1508760"/>
            <a:ext cx="6483096" cy="722376"/>
          </a:xfrm>
          <a:prstGeom prst="rect">
            <a:avLst/>
          </a:prstGeom>
          <a:noFill/>
          <a:ln/>
        </p:spPr>
        <p:txBody>
          <a:bodyPr wrap="square" lIns="36576" tIns="36576" rIns="36576" bIns="36576" rtlCol="0" anchor="ctr">
            <a:normAutofit/>
          </a:bodyPr>
          <a:lstStyle/>
          <a:p>
            <a:pPr algn="l"/>
            <a:r>
              <a:rPr sz="1150" b="0">
                <a:solidFill>
                  <a:srgbClr val="0F172A"/>
                </a:solidFill>
                <a:latin typeface="Aptos"/>
              </a:rPr>
              <a:t>Convert unstructured, messy meeting transcripts into structured decisions, accountable action items, designated owners, unambiguous due dates, and project risks.</a:t>
            </a:r>
          </a:p>
        </p:txBody>
      </p:sp>
      <p:sp>
        <p:nvSpPr>
          <p:cNvPr id="11" name="Text 9">
            <a:extLst>
              <a:ext uri="{FF2B5EF4-FFF2-40B4-BE49-F238E27FC236}">
                <a16:creationId xmlns:a16="http://schemas.microsoft.com/office/drawing/2014/main" id="{E871A307-2145-F941-36B5-7FB8E48AF6A3}"/>
              </a:ext>
            </a:extLst>
          </p:cNvPr>
          <p:cNvSpPr/>
          <p:nvPr/>
        </p:nvSpPr>
        <p:spPr>
          <a:xfrm>
            <a:off x="7735824" y="1243584"/>
            <a:ext cx="3803904" cy="164592"/>
          </a:xfrm>
          <a:prstGeom prst="rect">
            <a:avLst/>
          </a:prstGeom>
          <a:noFill/>
          <a:ln/>
        </p:spPr>
        <p:txBody>
          <a:bodyPr wrap="square" lIns="0" tIns="0" rIns="0" bIns="0" rtlCol="0" anchor="ctr"/>
          <a:lstStyle/>
          <a:p>
            <a:pPr marL="0" indent="0">
              <a:buNone/>
            </a:pPr>
            <a:r>
              <a:rPr lang="en-US" sz="850" b="1" kern="0" spc="70" dirty="0">
                <a:solidFill>
                  <a:srgbClr val="F28C28"/>
                </a:solidFill>
              </a:rPr>
              <a:t>WHO IS AFFECTED?</a:t>
            </a:r>
            <a:endParaRPr lang="en-US" sz="850" dirty="0"/>
          </a:p>
        </p:txBody>
      </p:sp>
      <p:sp>
        <p:nvSpPr>
          <p:cNvPr id="13" name="Text 10">
            <a:extLst>
              <a:ext uri="{FF2B5EF4-FFF2-40B4-BE49-F238E27FC236}">
                <a16:creationId xmlns:a16="http://schemas.microsoft.com/office/drawing/2014/main" id="{0E1E736B-0A2D-B024-1EB0-12A200895AC2}"/>
              </a:ext>
            </a:extLst>
          </p:cNvPr>
          <p:cNvSpPr/>
          <p:nvPr/>
        </p:nvSpPr>
        <p:spPr>
          <a:xfrm>
            <a:off x="7735824" y="1508760"/>
            <a:ext cx="3803904" cy="402336"/>
          </a:xfrm>
          <a:prstGeom prst="rect">
            <a:avLst/>
          </a:prstGeom>
          <a:noFill/>
          <a:ln/>
        </p:spPr>
        <p:txBody>
          <a:bodyPr wrap="square" lIns="36576" tIns="36576" rIns="36576" bIns="36576" rtlCol="0" anchor="ctr">
            <a:normAutofit/>
          </a:bodyPr>
          <a:lstStyle/>
          <a:p>
            <a:pPr algn="l"/>
            <a:r>
              <a:rPr sz="1050" b="0">
                <a:solidFill>
                  <a:srgbClr val="0F172A"/>
                </a:solidFill>
                <a:latin typeface="Aptos"/>
              </a:rPr>
              <a:t>Engineering teams, sprint leads, project managers, scrum masters, and enterprise stakeholders.</a:t>
            </a:r>
          </a:p>
        </p:txBody>
      </p:sp>
      <p:sp>
        <p:nvSpPr>
          <p:cNvPr id="15" name="Text 12">
            <a:extLst>
              <a:ext uri="{FF2B5EF4-FFF2-40B4-BE49-F238E27FC236}">
                <a16:creationId xmlns:a16="http://schemas.microsoft.com/office/drawing/2014/main" id="{9073DFEC-DABB-CC2B-0BA9-871FADDBD8B2}"/>
              </a:ext>
            </a:extLst>
          </p:cNvPr>
          <p:cNvSpPr/>
          <p:nvPr/>
        </p:nvSpPr>
        <p:spPr>
          <a:xfrm>
            <a:off x="7735824" y="2340864"/>
            <a:ext cx="3803904" cy="164592"/>
          </a:xfrm>
          <a:prstGeom prst="rect">
            <a:avLst/>
          </a:prstGeom>
          <a:noFill/>
          <a:ln/>
        </p:spPr>
        <p:txBody>
          <a:bodyPr wrap="square" lIns="0" tIns="0" rIns="0" bIns="0" rtlCol="0" anchor="ctr"/>
          <a:lstStyle/>
          <a:p>
            <a:pPr marL="0" indent="0">
              <a:buNone/>
            </a:pPr>
            <a:r>
              <a:rPr lang="en-US" sz="850" b="1" kern="0" spc="70" dirty="0">
                <a:solidFill>
                  <a:srgbClr val="63A845"/>
                </a:solidFill>
              </a:rPr>
              <a:t>WHY DOES IT MATTER?</a:t>
            </a:r>
            <a:endParaRPr lang="en-US" sz="850" dirty="0"/>
          </a:p>
        </p:txBody>
      </p:sp>
      <p:sp>
        <p:nvSpPr>
          <p:cNvPr id="17" name="Text 13">
            <a:extLst>
              <a:ext uri="{FF2B5EF4-FFF2-40B4-BE49-F238E27FC236}">
                <a16:creationId xmlns:a16="http://schemas.microsoft.com/office/drawing/2014/main" id="{42C115EF-03A4-A284-3C57-500DFF669693}"/>
              </a:ext>
            </a:extLst>
          </p:cNvPr>
          <p:cNvSpPr/>
          <p:nvPr/>
        </p:nvSpPr>
        <p:spPr>
          <a:xfrm>
            <a:off x="7735824" y="2606040"/>
            <a:ext cx="3803904" cy="402336"/>
          </a:xfrm>
          <a:prstGeom prst="rect">
            <a:avLst/>
          </a:prstGeom>
          <a:noFill/>
          <a:ln/>
        </p:spPr>
        <p:txBody>
          <a:bodyPr wrap="square" lIns="36576" tIns="36576" rIns="36576" bIns="36576" rtlCol="0" anchor="ctr">
            <a:normAutofit/>
          </a:bodyPr>
          <a:lstStyle/>
          <a:p>
            <a:pPr algn="l"/>
            <a:r>
              <a:rPr sz="950" b="0">
                <a:solidFill>
                  <a:srgbClr val="0F172A"/>
                </a:solidFill>
                <a:latin typeface="Aptos"/>
              </a:rPr>
              <a:t>30%+ of employee time is spent in meetings. Up to 40% of deliverables are delayed or lost because meeting notes lack explicit owners, timelines are vague ('soon'), or casual proposals are mistaken for agreements.</a:t>
            </a:r>
          </a:p>
        </p:txBody>
      </p:sp>
      <p:sp>
        <p:nvSpPr>
          <p:cNvPr id="19" name="Text 15">
            <a:extLst>
              <a:ext uri="{FF2B5EF4-FFF2-40B4-BE49-F238E27FC236}">
                <a16:creationId xmlns:a16="http://schemas.microsoft.com/office/drawing/2014/main" id="{6F43253D-9704-E340-ABBE-3C6F52C216CD}"/>
              </a:ext>
            </a:extLst>
          </p:cNvPr>
          <p:cNvSpPr/>
          <p:nvPr/>
        </p:nvSpPr>
        <p:spPr>
          <a:xfrm>
            <a:off x="713232" y="2706624"/>
            <a:ext cx="2889504" cy="164592"/>
          </a:xfrm>
          <a:prstGeom prst="rect">
            <a:avLst/>
          </a:prstGeom>
          <a:noFill/>
          <a:ln/>
        </p:spPr>
        <p:txBody>
          <a:bodyPr wrap="square" lIns="0" tIns="0" rIns="0" bIns="0" rtlCol="0" anchor="ctr"/>
          <a:lstStyle/>
          <a:p>
            <a:pPr marL="0" indent="0">
              <a:buNone/>
            </a:pPr>
            <a:r>
              <a:rPr lang="en-US" sz="850" b="1" kern="0" spc="70" dirty="0">
                <a:solidFill>
                  <a:srgbClr val="007CC3"/>
                </a:solidFill>
              </a:rPr>
              <a:t>CURRENT GAP / PAIN POINT</a:t>
            </a:r>
            <a:endParaRPr lang="en-US" sz="850" dirty="0"/>
          </a:p>
        </p:txBody>
      </p:sp>
      <p:sp>
        <p:nvSpPr>
          <p:cNvPr id="21" name="Text 16">
            <a:extLst>
              <a:ext uri="{FF2B5EF4-FFF2-40B4-BE49-F238E27FC236}">
                <a16:creationId xmlns:a16="http://schemas.microsoft.com/office/drawing/2014/main" id="{4B3CD632-0098-5E4B-5432-77CD2893CAF3}"/>
              </a:ext>
            </a:extLst>
          </p:cNvPr>
          <p:cNvSpPr/>
          <p:nvPr/>
        </p:nvSpPr>
        <p:spPr>
          <a:xfrm>
            <a:off x="713232" y="2971800"/>
            <a:ext cx="2889504" cy="832104"/>
          </a:xfrm>
          <a:prstGeom prst="rect">
            <a:avLst/>
          </a:prstGeom>
          <a:noFill/>
          <a:ln/>
        </p:spPr>
        <p:txBody>
          <a:bodyPr wrap="square" lIns="36576" tIns="36576" rIns="36576" bIns="36576" rtlCol="0" anchor="ctr">
            <a:normAutofit/>
          </a:bodyPr>
          <a:lstStyle/>
          <a:p>
            <a:pPr algn="l"/>
            <a:r>
              <a:rPr sz="950" b="0">
                <a:solidFill>
                  <a:srgbClr val="0F172A"/>
                </a:solidFill>
                <a:latin typeface="Aptos"/>
              </a:rPr>
              <a:t>Existing AI tools provide passive narrative summaries. When forced to extract tasks, standard LLMs hallucinate owners who never volunteered, fabricate calendar dates, and smooth over unconfirmed commitments.</a:t>
            </a:r>
          </a:p>
        </p:txBody>
      </p:sp>
      <p:sp>
        <p:nvSpPr>
          <p:cNvPr id="23" name="Text 18">
            <a:extLst>
              <a:ext uri="{FF2B5EF4-FFF2-40B4-BE49-F238E27FC236}">
                <a16:creationId xmlns:a16="http://schemas.microsoft.com/office/drawing/2014/main" id="{05F37750-2660-1AD0-F71B-75255FDEFAB9}"/>
              </a:ext>
            </a:extLst>
          </p:cNvPr>
          <p:cNvSpPr/>
          <p:nvPr/>
        </p:nvSpPr>
        <p:spPr>
          <a:xfrm>
            <a:off x="4123944" y="2706624"/>
            <a:ext cx="3072384" cy="164592"/>
          </a:xfrm>
          <a:prstGeom prst="rect">
            <a:avLst/>
          </a:prstGeom>
          <a:noFill/>
          <a:ln/>
        </p:spPr>
        <p:txBody>
          <a:bodyPr wrap="square" lIns="0" tIns="0" rIns="0" bIns="0" rtlCol="0" anchor="ctr"/>
          <a:lstStyle/>
          <a:p>
            <a:pPr marL="0" indent="0">
              <a:buNone/>
            </a:pPr>
            <a:r>
              <a:rPr lang="en-US" sz="850" b="1" kern="0" spc="70" dirty="0">
                <a:solidFill>
                  <a:srgbClr val="F28C28"/>
                </a:solidFill>
              </a:rPr>
              <a:t>EVIDENCE / SCENARIO</a:t>
            </a:r>
            <a:endParaRPr lang="en-US" sz="850" dirty="0"/>
          </a:p>
        </p:txBody>
      </p:sp>
      <p:sp>
        <p:nvSpPr>
          <p:cNvPr id="25" name="Text 19">
            <a:extLst>
              <a:ext uri="{FF2B5EF4-FFF2-40B4-BE49-F238E27FC236}">
                <a16:creationId xmlns:a16="http://schemas.microsoft.com/office/drawing/2014/main" id="{824B9B85-9810-1D16-1FED-578C00F4DF52}"/>
              </a:ext>
            </a:extLst>
          </p:cNvPr>
          <p:cNvSpPr/>
          <p:nvPr/>
        </p:nvSpPr>
        <p:spPr>
          <a:xfrm>
            <a:off x="4123944" y="2971800"/>
            <a:ext cx="3072384" cy="832104"/>
          </a:xfrm>
          <a:prstGeom prst="rect">
            <a:avLst/>
          </a:prstGeom>
          <a:noFill/>
          <a:ln/>
        </p:spPr>
        <p:txBody>
          <a:bodyPr wrap="square" lIns="36576" tIns="36576" rIns="36576" bIns="36576" rtlCol="0" anchor="ctr">
            <a:normAutofit/>
          </a:bodyPr>
          <a:lstStyle/>
          <a:p>
            <a:pPr algn="l"/>
            <a:r>
              <a:rPr sz="950" b="0">
                <a:solidFill>
                  <a:srgbClr val="0F172A"/>
                </a:solidFill>
                <a:latin typeface="Aptos"/>
              </a:rPr>
              <a:t>Real transcript: 'Priya may handle testing, but hasn't confirmed yet. Deployment plan needed soon.' Naive LLMs assign Priya as confirmed owner and invent a date, creating hidden project risk.</a:t>
            </a:r>
          </a:p>
        </p:txBody>
      </p:sp>
      <p:sp>
        <p:nvSpPr>
          <p:cNvPr id="27" name="Text 21">
            <a:extLst>
              <a:ext uri="{FF2B5EF4-FFF2-40B4-BE49-F238E27FC236}">
                <a16:creationId xmlns:a16="http://schemas.microsoft.com/office/drawing/2014/main" id="{C355BF79-944B-C7CD-13BE-B68144B0EC3D}"/>
              </a:ext>
            </a:extLst>
          </p:cNvPr>
          <p:cNvSpPr/>
          <p:nvPr/>
        </p:nvSpPr>
        <p:spPr>
          <a:xfrm>
            <a:off x="7735824" y="3438144"/>
            <a:ext cx="3803904" cy="164592"/>
          </a:xfrm>
          <a:prstGeom prst="rect">
            <a:avLst/>
          </a:prstGeom>
          <a:noFill/>
          <a:ln/>
        </p:spPr>
        <p:txBody>
          <a:bodyPr wrap="square" lIns="0" tIns="0" rIns="0" bIns="0" rtlCol="0" anchor="ctr"/>
          <a:lstStyle/>
          <a:p>
            <a:pPr marL="0" indent="0">
              <a:buNone/>
            </a:pPr>
            <a:r>
              <a:rPr lang="en-US" sz="850" b="1" kern="0" spc="70" dirty="0">
                <a:solidFill>
                  <a:srgbClr val="5417A8"/>
                </a:solidFill>
              </a:rPr>
              <a:t>SUCCESS DEFINITION</a:t>
            </a:r>
            <a:endParaRPr lang="en-US" sz="850" dirty="0"/>
          </a:p>
        </p:txBody>
      </p:sp>
      <p:sp>
        <p:nvSpPr>
          <p:cNvPr id="29" name="Text 22">
            <a:extLst>
              <a:ext uri="{FF2B5EF4-FFF2-40B4-BE49-F238E27FC236}">
                <a16:creationId xmlns:a16="http://schemas.microsoft.com/office/drawing/2014/main" id="{C74A84FE-3AA0-3CCB-062C-D940850ADC68}"/>
              </a:ext>
            </a:extLst>
          </p:cNvPr>
          <p:cNvSpPr/>
          <p:nvPr/>
        </p:nvSpPr>
        <p:spPr>
          <a:xfrm>
            <a:off x="7735824" y="3703320"/>
            <a:ext cx="3803904" cy="832104"/>
          </a:xfrm>
          <a:prstGeom prst="rect">
            <a:avLst/>
          </a:prstGeom>
          <a:noFill/>
          <a:ln/>
        </p:spPr>
        <p:txBody>
          <a:bodyPr wrap="square" lIns="36576" tIns="36576" rIns="36576" bIns="36576" rtlCol="0" anchor="ctr">
            <a:normAutofit/>
          </a:bodyPr>
          <a:lstStyle/>
          <a:p>
            <a:pPr algn="l"/>
            <a:r>
              <a:rPr sz="950" b="0">
                <a:solidFill>
                  <a:srgbClr val="0F172A"/>
                </a:solidFill>
                <a:latin typeface="Aptos"/>
              </a:rPr>
              <a:t>1. Verbatim extraction of confirmed tasks.</a:t>
            </a:r>
          </a:p>
          <a:p>
            <a:pPr algn="l"/>
            <a:r>
              <a:rPr sz="950" b="0">
                <a:solidFill>
                  <a:srgbClr val="0F172A"/>
                </a:solidFill>
                <a:latin typeface="Aptos"/>
              </a:rPr>
              <a:t>2. Explicit null-handling for missing data (never guessing).</a:t>
            </a:r>
          </a:p>
          <a:p>
            <a:pPr algn="l"/>
            <a:r>
              <a:rPr sz="950" b="0">
                <a:solidFill>
                  <a:srgbClr val="0F172A"/>
                </a:solidFill>
                <a:latin typeface="Aptos"/>
              </a:rPr>
              <a:t>3. Deterministic flags with targeted clarification questions.</a:t>
            </a:r>
          </a:p>
          <a:p>
            <a:pPr algn="l"/>
            <a:r>
              <a:rPr sz="950" b="0">
                <a:solidFill>
                  <a:srgbClr val="0F172A"/>
                </a:solidFill>
                <a:latin typeface="Aptos"/>
              </a:rPr>
              <a:t>4. RFC-compliant Jira/Asana CSV and JSON export.</a:t>
            </a:r>
          </a:p>
        </p:txBody>
      </p:sp>
    </p:spTree>
    <p:extLst>
      <p:ext uri="{BB962C8B-B14F-4D97-AF65-F5344CB8AC3E}">
        <p14:creationId xmlns:p14="http://schemas.microsoft.com/office/powerpoint/2010/main" val="164864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0">
            <a:extLst>
              <a:ext uri="{FF2B5EF4-FFF2-40B4-BE49-F238E27FC236}">
                <a16:creationId xmlns:a16="http://schemas.microsoft.com/office/drawing/2014/main" id="{C67777A0-5038-444E-6934-D05CAB3438E6}"/>
              </a:ext>
            </a:extLst>
          </p:cNvPr>
          <p:cNvSpPr/>
          <p:nvPr/>
        </p:nvSpPr>
        <p:spPr>
          <a:xfrm>
            <a:off x="475488" y="256032"/>
            <a:ext cx="8869680" cy="347472"/>
          </a:xfrm>
          <a:prstGeom prst="rect">
            <a:avLst/>
          </a:prstGeom>
          <a:noFill/>
          <a:ln/>
        </p:spPr>
        <p:txBody>
          <a:bodyPr wrap="square" lIns="0" tIns="0" rIns="0" bIns="0" rtlCol="0" anchor="ctr"/>
          <a:lstStyle/>
          <a:p>
            <a:pPr marL="0" indent="0">
              <a:buNone/>
            </a:pPr>
            <a:r>
              <a:rPr lang="en-US" sz="2400" dirty="0">
                <a:solidFill>
                  <a:srgbClr val="111827"/>
                </a:solidFill>
                <a:latin typeface="Aptos Display" pitchFamily="34" charset="0"/>
                <a:ea typeface="Aptos Display" pitchFamily="34" charset="-122"/>
                <a:cs typeface="Aptos Display" pitchFamily="34" charset="-120"/>
              </a:rPr>
              <a:t>Proposed Solution</a:t>
            </a:r>
            <a:endParaRPr lang="en-US" sz="2400" dirty="0"/>
          </a:p>
        </p:txBody>
      </p:sp>
      <p:sp>
        <p:nvSpPr>
          <p:cNvPr id="19" name="Text 3">
            <a:extLst>
              <a:ext uri="{FF2B5EF4-FFF2-40B4-BE49-F238E27FC236}">
                <a16:creationId xmlns:a16="http://schemas.microsoft.com/office/drawing/2014/main" id="{A1441BD2-AB6B-3DF0-0186-49A3CEED3D65}"/>
              </a:ext>
            </a:extLst>
          </p:cNvPr>
          <p:cNvSpPr/>
          <p:nvPr/>
        </p:nvSpPr>
        <p:spPr>
          <a:xfrm>
            <a:off x="9875520" y="704088"/>
            <a:ext cx="1737360" cy="128016"/>
          </a:xfrm>
          <a:prstGeom prst="rect">
            <a:avLst/>
          </a:prstGeom>
          <a:noFill/>
          <a:ln/>
        </p:spPr>
        <p:txBody>
          <a:bodyPr wrap="square" lIns="0" tIns="0" rIns="0" bIns="0" rtlCol="0" anchor="ctr"/>
          <a:lstStyle/>
          <a:p>
            <a:pPr marL="0" indent="0" algn="ctr">
              <a:buNone/>
            </a:pPr>
            <a:r>
              <a:rPr lang="en-US" sz="850" b="1" dirty="0">
                <a:solidFill>
                  <a:srgbClr val="FFFFFF"/>
                </a:solidFill>
              </a:rPr>
              <a:t>SUGGESTED TIME  0:55</a:t>
            </a:r>
            <a:endParaRPr lang="en-US" sz="850" dirty="0"/>
          </a:p>
        </p:txBody>
      </p:sp>
      <p:sp>
        <p:nvSpPr>
          <p:cNvPr id="21" name="Shape 5">
            <a:extLst>
              <a:ext uri="{FF2B5EF4-FFF2-40B4-BE49-F238E27FC236}">
                <a16:creationId xmlns:a16="http://schemas.microsoft.com/office/drawing/2014/main" id="{02F5BF56-0B35-42DC-FC64-F0F7939FA4C0}"/>
              </a:ext>
            </a:extLst>
          </p:cNvPr>
          <p:cNvSpPr/>
          <p:nvPr/>
        </p:nvSpPr>
        <p:spPr>
          <a:xfrm>
            <a:off x="548640" y="1097280"/>
            <a:ext cx="10930128" cy="777240"/>
          </a:xfrm>
          <a:prstGeom prst="roundRect">
            <a:avLst>
              <a:gd name="adj" fmla="val 5882"/>
            </a:avLst>
          </a:prstGeom>
          <a:solidFill>
            <a:srgbClr val="FFFFFF"/>
          </a:solidFill>
          <a:ln w="12700">
            <a:solidFill>
              <a:srgbClr val="DCE5EC"/>
            </a:solidFill>
            <a:prstDash val="solid"/>
          </a:ln>
          <a:effectLst/>
        </p:spPr>
        <p:txBody>
          <a:bodyPr/>
          <a:lstStyle/>
          <a:p>
            <a:endParaRPr lang="en-US"/>
          </a:p>
        </p:txBody>
      </p:sp>
      <p:sp>
        <p:nvSpPr>
          <p:cNvPr id="22" name="Text 6">
            <a:extLst>
              <a:ext uri="{FF2B5EF4-FFF2-40B4-BE49-F238E27FC236}">
                <a16:creationId xmlns:a16="http://schemas.microsoft.com/office/drawing/2014/main" id="{FE4182E2-5F1E-299E-4614-A89A59E0015E}"/>
              </a:ext>
            </a:extLst>
          </p:cNvPr>
          <p:cNvSpPr/>
          <p:nvPr/>
        </p:nvSpPr>
        <p:spPr>
          <a:xfrm>
            <a:off x="713232" y="1225296"/>
            <a:ext cx="10826496" cy="164592"/>
          </a:xfrm>
          <a:prstGeom prst="rect">
            <a:avLst/>
          </a:prstGeom>
          <a:noFill/>
          <a:ln/>
        </p:spPr>
        <p:txBody>
          <a:bodyPr wrap="square" lIns="0" tIns="0" rIns="0" bIns="0" rtlCol="0" anchor="ctr"/>
          <a:lstStyle/>
          <a:p>
            <a:pPr marL="0" indent="0">
              <a:buNone/>
            </a:pPr>
            <a:r>
              <a:rPr lang="en-US" sz="850" b="1" kern="0" spc="70" dirty="0">
                <a:solidFill>
                  <a:srgbClr val="007CC3"/>
                </a:solidFill>
              </a:rPr>
              <a:t>SOLUTION IN ONE SENTENCE</a:t>
            </a:r>
            <a:endParaRPr lang="en-US" sz="850" dirty="0"/>
          </a:p>
        </p:txBody>
      </p:sp>
      <p:sp>
        <p:nvSpPr>
          <p:cNvPr id="23" name="Text 7">
            <a:extLst>
              <a:ext uri="{FF2B5EF4-FFF2-40B4-BE49-F238E27FC236}">
                <a16:creationId xmlns:a16="http://schemas.microsoft.com/office/drawing/2014/main" id="{A8AE62DF-DB97-F3CF-1EC2-0ACDD449B30C}"/>
              </a:ext>
            </a:extLst>
          </p:cNvPr>
          <p:cNvSpPr/>
          <p:nvPr/>
        </p:nvSpPr>
        <p:spPr>
          <a:xfrm>
            <a:off x="713232" y="1490472"/>
            <a:ext cx="10826496" cy="265176"/>
          </a:xfrm>
          <a:prstGeom prst="rect">
            <a:avLst/>
          </a:prstGeom>
          <a:noFill/>
          <a:ln/>
        </p:spPr>
        <p:txBody>
          <a:bodyPr wrap="square" lIns="36576" tIns="36576" rIns="36576" bIns="36576" rtlCol="0" anchor="ctr">
            <a:normAutofit lnSpcReduction="10000"/>
          </a:bodyPr>
          <a:lstStyle/>
          <a:p>
            <a:pPr algn="l"/>
            <a:r>
              <a:rPr sz="1100" b="1">
                <a:solidFill>
                  <a:srgbClr val="003B7A"/>
                </a:solidFill>
                <a:latin typeface="Aptos"/>
              </a:rPr>
              <a:t>Our solution uses Qualcomm Cloud AI and a deterministic Python validation engine to help engineering teams extract accountable action items from messy notes with zero hallucination.</a:t>
            </a:r>
          </a:p>
        </p:txBody>
      </p:sp>
      <p:sp>
        <p:nvSpPr>
          <p:cNvPr id="24" name="Shape 8">
            <a:extLst>
              <a:ext uri="{FF2B5EF4-FFF2-40B4-BE49-F238E27FC236}">
                <a16:creationId xmlns:a16="http://schemas.microsoft.com/office/drawing/2014/main" id="{371B941B-C86F-0BE1-920C-2A9E692B7C56}"/>
              </a:ext>
            </a:extLst>
          </p:cNvPr>
          <p:cNvSpPr/>
          <p:nvPr/>
        </p:nvSpPr>
        <p:spPr>
          <a:xfrm>
            <a:off x="658368" y="2121408"/>
            <a:ext cx="3319272" cy="1993392"/>
          </a:xfrm>
          <a:prstGeom prst="roundRect">
            <a:avLst>
              <a:gd name="adj" fmla="val 2294"/>
            </a:avLst>
          </a:prstGeom>
          <a:solidFill>
            <a:srgbClr val="EAF7FD"/>
          </a:solidFill>
          <a:ln w="15240">
            <a:solidFill>
              <a:srgbClr val="00AEEF"/>
            </a:solidFill>
            <a:prstDash val="solid"/>
          </a:ln>
        </p:spPr>
        <p:txBody>
          <a:bodyPr/>
          <a:lstStyle/>
          <a:p>
            <a:endParaRPr lang="en-US"/>
          </a:p>
        </p:txBody>
      </p:sp>
      <p:sp>
        <p:nvSpPr>
          <p:cNvPr id="25" name="Shape 9">
            <a:extLst>
              <a:ext uri="{FF2B5EF4-FFF2-40B4-BE49-F238E27FC236}">
                <a16:creationId xmlns:a16="http://schemas.microsoft.com/office/drawing/2014/main" id="{34A98571-1AFC-F292-9D09-AD0A4A068AE6}"/>
              </a:ext>
            </a:extLst>
          </p:cNvPr>
          <p:cNvSpPr/>
          <p:nvPr/>
        </p:nvSpPr>
        <p:spPr>
          <a:xfrm>
            <a:off x="822960" y="2313432"/>
            <a:ext cx="420624" cy="420624"/>
          </a:xfrm>
          <a:prstGeom prst="ellipse">
            <a:avLst/>
          </a:prstGeom>
          <a:solidFill>
            <a:srgbClr val="007CC3"/>
          </a:solidFill>
          <a:ln w="12700">
            <a:solidFill>
              <a:srgbClr val="FFFFFF">
                <a:alpha val="0"/>
              </a:srgbClr>
            </a:solidFill>
            <a:prstDash val="solid"/>
          </a:ln>
        </p:spPr>
        <p:txBody>
          <a:bodyPr/>
          <a:lstStyle/>
          <a:p>
            <a:endParaRPr lang="en-US"/>
          </a:p>
        </p:txBody>
      </p:sp>
      <p:sp>
        <p:nvSpPr>
          <p:cNvPr id="26" name="Text 10">
            <a:extLst>
              <a:ext uri="{FF2B5EF4-FFF2-40B4-BE49-F238E27FC236}">
                <a16:creationId xmlns:a16="http://schemas.microsoft.com/office/drawing/2014/main" id="{60C7AF9D-3541-089A-5E6B-56FCA466CCA5}"/>
              </a:ext>
            </a:extLst>
          </p:cNvPr>
          <p:cNvSpPr/>
          <p:nvPr/>
        </p:nvSpPr>
        <p:spPr>
          <a:xfrm>
            <a:off x="822960" y="2423160"/>
            <a:ext cx="420624" cy="109728"/>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27" name="Text 11">
            <a:extLst>
              <a:ext uri="{FF2B5EF4-FFF2-40B4-BE49-F238E27FC236}">
                <a16:creationId xmlns:a16="http://schemas.microsoft.com/office/drawing/2014/main" id="{0C1F7D41-1CDE-9DAC-EBC0-815C1D289558}"/>
              </a:ext>
            </a:extLst>
          </p:cNvPr>
          <p:cNvSpPr/>
          <p:nvPr/>
        </p:nvSpPr>
        <p:spPr>
          <a:xfrm>
            <a:off x="1371600" y="2340864"/>
            <a:ext cx="2286000" cy="219456"/>
          </a:xfrm>
          <a:prstGeom prst="rect">
            <a:avLst/>
          </a:prstGeom>
          <a:noFill/>
          <a:ln/>
        </p:spPr>
        <p:txBody>
          <a:bodyPr wrap="square" lIns="0" tIns="0" rIns="0" bIns="0" rtlCol="0" anchor="ctr"/>
          <a:lstStyle/>
          <a:p>
            <a:pPr marL="0" indent="0">
              <a:buNone/>
            </a:pPr>
            <a:r>
              <a:rPr lang="en-US" sz="1200" b="1" dirty="0">
                <a:solidFill>
                  <a:srgbClr val="111827"/>
                </a:solidFill>
              </a:rPr>
              <a:t>INPUT</a:t>
            </a:r>
            <a:endParaRPr lang="en-US" sz="1200" dirty="0"/>
          </a:p>
        </p:txBody>
      </p:sp>
      <p:sp>
        <p:nvSpPr>
          <p:cNvPr id="28" name="Text 12">
            <a:extLst>
              <a:ext uri="{FF2B5EF4-FFF2-40B4-BE49-F238E27FC236}">
                <a16:creationId xmlns:a16="http://schemas.microsoft.com/office/drawing/2014/main" id="{98E5604C-41B6-CF70-B0D8-4244465C2130}"/>
              </a:ext>
            </a:extLst>
          </p:cNvPr>
          <p:cNvSpPr/>
          <p:nvPr/>
        </p:nvSpPr>
        <p:spPr>
          <a:xfrm>
            <a:off x="841248" y="2889504"/>
            <a:ext cx="2944368" cy="832104"/>
          </a:xfrm>
          <a:prstGeom prst="rect">
            <a:avLst/>
          </a:prstGeom>
          <a:noFill/>
          <a:ln/>
        </p:spPr>
        <p:txBody>
          <a:bodyPr wrap="square" lIns="36576" tIns="36576" rIns="36576" bIns="36576" rtlCol="0" anchor="ctr">
            <a:normAutofit/>
          </a:bodyPr>
          <a:lstStyle/>
          <a:p>
            <a:pPr algn="l"/>
            <a:r>
              <a:rPr sz="950" b="0">
                <a:solidFill>
                  <a:srgbClr val="0F172A"/>
                </a:solidFill>
                <a:latin typeface="Aptos"/>
              </a:rPr>
              <a:t>Raw unstructured meeting notes, voice transcripts, or bullet points pasted into the web dashboard.</a:t>
            </a:r>
          </a:p>
          <a:p>
            <a:pPr algn="l"/>
          </a:p>
          <a:p>
            <a:pPr algn="l"/>
            <a:r>
              <a:rPr sz="950" b="0">
                <a:solidFill>
                  <a:srgbClr val="0F172A"/>
                </a:solidFill>
                <a:latin typeface="Aptos"/>
              </a:rPr>
              <a:t>• Includes 1-Click bundled benchmark notes for immediate evaluation.</a:t>
            </a:r>
          </a:p>
        </p:txBody>
      </p:sp>
      <p:sp>
        <p:nvSpPr>
          <p:cNvPr id="29" name="Text 13">
            <a:extLst>
              <a:ext uri="{FF2B5EF4-FFF2-40B4-BE49-F238E27FC236}">
                <a16:creationId xmlns:a16="http://schemas.microsoft.com/office/drawing/2014/main" id="{C6B2181D-543C-938E-9D4D-565CB48A781A}"/>
              </a:ext>
            </a:extLst>
          </p:cNvPr>
          <p:cNvSpPr/>
          <p:nvPr/>
        </p:nvSpPr>
        <p:spPr>
          <a:xfrm>
            <a:off x="4059936" y="2779776"/>
            <a:ext cx="228600" cy="320040"/>
          </a:xfrm>
          <a:prstGeom prst="rect">
            <a:avLst/>
          </a:prstGeom>
          <a:noFill/>
          <a:ln/>
        </p:spPr>
        <p:txBody>
          <a:bodyPr wrap="square" lIns="0" tIns="0" rIns="0" bIns="0" rtlCol="0" anchor="ctr"/>
          <a:lstStyle/>
          <a:p>
            <a:pPr marL="0" indent="0" algn="ctr">
              <a:buNone/>
            </a:pPr>
            <a:r>
              <a:rPr lang="en-US" sz="2600" b="1" dirty="0">
                <a:solidFill>
                  <a:srgbClr val="007CC3"/>
                </a:solidFill>
              </a:rPr>
              <a:t>›</a:t>
            </a:r>
            <a:endParaRPr lang="en-US" sz="2600" dirty="0"/>
          </a:p>
        </p:txBody>
      </p:sp>
      <p:sp>
        <p:nvSpPr>
          <p:cNvPr id="30" name="Shape 14">
            <a:extLst>
              <a:ext uri="{FF2B5EF4-FFF2-40B4-BE49-F238E27FC236}">
                <a16:creationId xmlns:a16="http://schemas.microsoft.com/office/drawing/2014/main" id="{F83C9B4A-5248-7ACA-C711-E148A2B6A329}"/>
              </a:ext>
            </a:extLst>
          </p:cNvPr>
          <p:cNvSpPr/>
          <p:nvPr/>
        </p:nvSpPr>
        <p:spPr>
          <a:xfrm>
            <a:off x="4370832" y="2121408"/>
            <a:ext cx="3319272" cy="1993392"/>
          </a:xfrm>
          <a:prstGeom prst="roundRect">
            <a:avLst>
              <a:gd name="adj" fmla="val 2294"/>
            </a:avLst>
          </a:prstGeom>
          <a:solidFill>
            <a:srgbClr val="F3EEFC"/>
          </a:solidFill>
          <a:ln w="15240">
            <a:solidFill>
              <a:srgbClr val="5417A8"/>
            </a:solidFill>
            <a:prstDash val="solid"/>
          </a:ln>
        </p:spPr>
        <p:txBody>
          <a:bodyPr/>
          <a:lstStyle/>
          <a:p>
            <a:endParaRPr lang="en-US"/>
          </a:p>
        </p:txBody>
      </p:sp>
      <p:sp>
        <p:nvSpPr>
          <p:cNvPr id="31" name="Shape 15">
            <a:extLst>
              <a:ext uri="{FF2B5EF4-FFF2-40B4-BE49-F238E27FC236}">
                <a16:creationId xmlns:a16="http://schemas.microsoft.com/office/drawing/2014/main" id="{3269B93A-F82B-3E8E-342E-8A1E7011E71B}"/>
              </a:ext>
            </a:extLst>
          </p:cNvPr>
          <p:cNvSpPr/>
          <p:nvPr/>
        </p:nvSpPr>
        <p:spPr>
          <a:xfrm>
            <a:off x="4535424" y="2313432"/>
            <a:ext cx="420624" cy="420624"/>
          </a:xfrm>
          <a:prstGeom prst="ellipse">
            <a:avLst/>
          </a:prstGeom>
          <a:solidFill>
            <a:srgbClr val="5417A8"/>
          </a:solidFill>
          <a:ln w="12700">
            <a:solidFill>
              <a:srgbClr val="FFFFFF">
                <a:alpha val="0"/>
              </a:srgbClr>
            </a:solidFill>
            <a:prstDash val="solid"/>
          </a:ln>
        </p:spPr>
        <p:txBody>
          <a:bodyPr/>
          <a:lstStyle/>
          <a:p>
            <a:endParaRPr lang="en-US"/>
          </a:p>
        </p:txBody>
      </p:sp>
      <p:sp>
        <p:nvSpPr>
          <p:cNvPr id="32" name="Text 16">
            <a:extLst>
              <a:ext uri="{FF2B5EF4-FFF2-40B4-BE49-F238E27FC236}">
                <a16:creationId xmlns:a16="http://schemas.microsoft.com/office/drawing/2014/main" id="{9A002D95-7166-212D-1C2F-622F6CBAB794}"/>
              </a:ext>
            </a:extLst>
          </p:cNvPr>
          <p:cNvSpPr/>
          <p:nvPr/>
        </p:nvSpPr>
        <p:spPr>
          <a:xfrm>
            <a:off x="4535424" y="2423160"/>
            <a:ext cx="420624" cy="109728"/>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33" name="Text 17">
            <a:extLst>
              <a:ext uri="{FF2B5EF4-FFF2-40B4-BE49-F238E27FC236}">
                <a16:creationId xmlns:a16="http://schemas.microsoft.com/office/drawing/2014/main" id="{27141539-8D6F-3A4F-E553-2FA9E02C8629}"/>
              </a:ext>
            </a:extLst>
          </p:cNvPr>
          <p:cNvSpPr/>
          <p:nvPr/>
        </p:nvSpPr>
        <p:spPr>
          <a:xfrm>
            <a:off x="5084064" y="2340864"/>
            <a:ext cx="2286000" cy="219456"/>
          </a:xfrm>
          <a:prstGeom prst="rect">
            <a:avLst/>
          </a:prstGeom>
          <a:noFill/>
          <a:ln/>
        </p:spPr>
        <p:txBody>
          <a:bodyPr wrap="square" lIns="0" tIns="0" rIns="0" bIns="0" rtlCol="0" anchor="ctr"/>
          <a:lstStyle/>
          <a:p>
            <a:pPr marL="0" indent="0">
              <a:buNone/>
            </a:pPr>
            <a:r>
              <a:rPr lang="en-US" sz="1200" b="1" dirty="0">
                <a:solidFill>
                  <a:srgbClr val="111827"/>
                </a:solidFill>
              </a:rPr>
              <a:t>PROCESS</a:t>
            </a:r>
            <a:endParaRPr lang="en-US" sz="1200" dirty="0"/>
          </a:p>
        </p:txBody>
      </p:sp>
      <p:sp>
        <p:nvSpPr>
          <p:cNvPr id="34" name="Text 18">
            <a:extLst>
              <a:ext uri="{FF2B5EF4-FFF2-40B4-BE49-F238E27FC236}">
                <a16:creationId xmlns:a16="http://schemas.microsoft.com/office/drawing/2014/main" id="{6644E157-AD38-7252-7CFB-3C77C815A5BF}"/>
              </a:ext>
            </a:extLst>
          </p:cNvPr>
          <p:cNvSpPr/>
          <p:nvPr/>
        </p:nvSpPr>
        <p:spPr>
          <a:xfrm>
            <a:off x="4553712" y="2889504"/>
            <a:ext cx="2944368" cy="832104"/>
          </a:xfrm>
          <a:prstGeom prst="rect">
            <a:avLst/>
          </a:prstGeom>
          <a:noFill/>
          <a:ln/>
        </p:spPr>
        <p:txBody>
          <a:bodyPr wrap="square" lIns="36576" tIns="36576" rIns="36576" bIns="36576" rtlCol="0" anchor="ctr">
            <a:normAutofit/>
          </a:bodyPr>
          <a:lstStyle/>
          <a:p>
            <a:pPr algn="l"/>
            <a:r>
              <a:rPr sz="900" b="0">
                <a:solidFill>
                  <a:srgbClr val="0F172A"/>
                </a:solidFill>
                <a:latin typeface="Aptos"/>
              </a:rPr>
              <a:t>Dual-Layer Processing:</a:t>
            </a:r>
          </a:p>
          <a:p>
            <a:pPr algn="l"/>
            <a:r>
              <a:rPr sz="900" b="0">
                <a:solidFill>
                  <a:srgbClr val="0F172A"/>
                </a:solidFill>
                <a:latin typeface="Aptos"/>
              </a:rPr>
              <a:t>1. Qualcomm Cloud AI extracts entities governed by 6 Strict Rules.</a:t>
            </a:r>
          </a:p>
          <a:p>
            <a:pPr algn="l"/>
            <a:r>
              <a:rPr sz="900" b="0">
                <a:solidFill>
                  <a:srgbClr val="0F172A"/>
                </a:solidFill>
                <a:latin typeface="Aptos"/>
              </a:rPr>
              <a:t>2. Deterministic Python engine audits missing owners, deadlines, tentative flags, and vague words.</a:t>
            </a:r>
          </a:p>
        </p:txBody>
      </p:sp>
      <p:sp>
        <p:nvSpPr>
          <p:cNvPr id="35" name="Text 19">
            <a:extLst>
              <a:ext uri="{FF2B5EF4-FFF2-40B4-BE49-F238E27FC236}">
                <a16:creationId xmlns:a16="http://schemas.microsoft.com/office/drawing/2014/main" id="{38C41653-B839-6E76-43DB-17B2C663CB71}"/>
              </a:ext>
            </a:extLst>
          </p:cNvPr>
          <p:cNvSpPr/>
          <p:nvPr/>
        </p:nvSpPr>
        <p:spPr>
          <a:xfrm>
            <a:off x="7772400" y="2779776"/>
            <a:ext cx="228600" cy="320040"/>
          </a:xfrm>
          <a:prstGeom prst="rect">
            <a:avLst/>
          </a:prstGeom>
          <a:noFill/>
          <a:ln/>
        </p:spPr>
        <p:txBody>
          <a:bodyPr wrap="square" lIns="0" tIns="0" rIns="0" bIns="0" rtlCol="0" anchor="ctr"/>
          <a:lstStyle/>
          <a:p>
            <a:pPr marL="0" indent="0" algn="ctr">
              <a:buNone/>
            </a:pPr>
            <a:r>
              <a:rPr lang="en-US" sz="2600" b="1" dirty="0">
                <a:solidFill>
                  <a:srgbClr val="007CC3"/>
                </a:solidFill>
              </a:rPr>
              <a:t>›</a:t>
            </a:r>
            <a:endParaRPr lang="en-US" sz="2600" dirty="0"/>
          </a:p>
        </p:txBody>
      </p:sp>
      <p:sp>
        <p:nvSpPr>
          <p:cNvPr id="36" name="Shape 20">
            <a:extLst>
              <a:ext uri="{FF2B5EF4-FFF2-40B4-BE49-F238E27FC236}">
                <a16:creationId xmlns:a16="http://schemas.microsoft.com/office/drawing/2014/main" id="{03B724BB-CD71-068B-CF5C-B061FDF3330C}"/>
              </a:ext>
            </a:extLst>
          </p:cNvPr>
          <p:cNvSpPr/>
          <p:nvPr/>
        </p:nvSpPr>
        <p:spPr>
          <a:xfrm>
            <a:off x="8083296" y="2121408"/>
            <a:ext cx="3319272" cy="1993392"/>
          </a:xfrm>
          <a:prstGeom prst="roundRect">
            <a:avLst>
              <a:gd name="adj" fmla="val 2294"/>
            </a:avLst>
          </a:prstGeom>
          <a:solidFill>
            <a:srgbClr val="EFF7E9"/>
          </a:solidFill>
          <a:ln w="15240">
            <a:solidFill>
              <a:srgbClr val="63A845"/>
            </a:solidFill>
            <a:prstDash val="solid"/>
          </a:ln>
        </p:spPr>
        <p:txBody>
          <a:bodyPr/>
          <a:lstStyle/>
          <a:p>
            <a:endParaRPr lang="en-US"/>
          </a:p>
        </p:txBody>
      </p:sp>
      <p:sp>
        <p:nvSpPr>
          <p:cNvPr id="37" name="Shape 21">
            <a:extLst>
              <a:ext uri="{FF2B5EF4-FFF2-40B4-BE49-F238E27FC236}">
                <a16:creationId xmlns:a16="http://schemas.microsoft.com/office/drawing/2014/main" id="{B6C195CA-E36C-C6E9-5728-77ADC354632A}"/>
              </a:ext>
            </a:extLst>
          </p:cNvPr>
          <p:cNvSpPr/>
          <p:nvPr/>
        </p:nvSpPr>
        <p:spPr>
          <a:xfrm>
            <a:off x="8247888" y="2313432"/>
            <a:ext cx="420624" cy="420624"/>
          </a:xfrm>
          <a:prstGeom prst="ellipse">
            <a:avLst/>
          </a:prstGeom>
          <a:solidFill>
            <a:srgbClr val="63A845"/>
          </a:solidFill>
          <a:ln w="12700">
            <a:solidFill>
              <a:srgbClr val="FFFFFF">
                <a:alpha val="0"/>
              </a:srgbClr>
            </a:solidFill>
            <a:prstDash val="solid"/>
          </a:ln>
        </p:spPr>
        <p:txBody>
          <a:bodyPr/>
          <a:lstStyle/>
          <a:p>
            <a:endParaRPr lang="en-US"/>
          </a:p>
        </p:txBody>
      </p:sp>
      <p:sp>
        <p:nvSpPr>
          <p:cNvPr id="38" name="Text 22">
            <a:extLst>
              <a:ext uri="{FF2B5EF4-FFF2-40B4-BE49-F238E27FC236}">
                <a16:creationId xmlns:a16="http://schemas.microsoft.com/office/drawing/2014/main" id="{FF0E0EEF-14EA-FC6A-9783-D69F6266522A}"/>
              </a:ext>
            </a:extLst>
          </p:cNvPr>
          <p:cNvSpPr/>
          <p:nvPr/>
        </p:nvSpPr>
        <p:spPr>
          <a:xfrm>
            <a:off x="8247888" y="2423160"/>
            <a:ext cx="420624" cy="109728"/>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39" name="Text 23">
            <a:extLst>
              <a:ext uri="{FF2B5EF4-FFF2-40B4-BE49-F238E27FC236}">
                <a16:creationId xmlns:a16="http://schemas.microsoft.com/office/drawing/2014/main" id="{FCDA84A9-3946-E20D-B806-C000556594E5}"/>
              </a:ext>
            </a:extLst>
          </p:cNvPr>
          <p:cNvSpPr/>
          <p:nvPr/>
        </p:nvSpPr>
        <p:spPr>
          <a:xfrm>
            <a:off x="8796528" y="2340864"/>
            <a:ext cx="2286000" cy="219456"/>
          </a:xfrm>
          <a:prstGeom prst="rect">
            <a:avLst/>
          </a:prstGeom>
          <a:noFill/>
          <a:ln/>
        </p:spPr>
        <p:txBody>
          <a:bodyPr wrap="square" lIns="0" tIns="0" rIns="0" bIns="0" rtlCol="0" anchor="ctr"/>
          <a:lstStyle/>
          <a:p>
            <a:pPr marL="0" indent="0">
              <a:buNone/>
            </a:pPr>
            <a:r>
              <a:rPr lang="en-US" sz="1200" b="1" dirty="0">
                <a:solidFill>
                  <a:srgbClr val="111827"/>
                </a:solidFill>
              </a:rPr>
              <a:t>OUTPUT</a:t>
            </a:r>
            <a:endParaRPr lang="en-US" sz="1200" dirty="0"/>
          </a:p>
        </p:txBody>
      </p:sp>
      <p:sp>
        <p:nvSpPr>
          <p:cNvPr id="40" name="Text 24">
            <a:extLst>
              <a:ext uri="{FF2B5EF4-FFF2-40B4-BE49-F238E27FC236}">
                <a16:creationId xmlns:a16="http://schemas.microsoft.com/office/drawing/2014/main" id="{BE1C7975-0A5B-A11B-FFE7-40F40E440F07}"/>
              </a:ext>
            </a:extLst>
          </p:cNvPr>
          <p:cNvSpPr/>
          <p:nvPr/>
        </p:nvSpPr>
        <p:spPr>
          <a:xfrm>
            <a:off x="8266176" y="2889504"/>
            <a:ext cx="2944368" cy="832104"/>
          </a:xfrm>
          <a:prstGeom prst="rect">
            <a:avLst/>
          </a:prstGeom>
          <a:noFill/>
          <a:ln/>
        </p:spPr>
        <p:txBody>
          <a:bodyPr wrap="square" lIns="36576" tIns="36576" rIns="36576" bIns="36576" rtlCol="0" anchor="ctr">
            <a:normAutofit/>
          </a:bodyPr>
          <a:lstStyle/>
          <a:p>
            <a:pPr algn="l"/>
            <a:r>
              <a:rPr sz="950" b="0">
                <a:solidFill>
                  <a:srgbClr val="0F172A"/>
                </a:solidFill>
                <a:latin typeface="Aptos"/>
              </a:rPr>
              <a:t>Interactive Action Table with in-session triage, Decisions vs Proposals breakdown, targeted Clarification Questions, and 1-click Jira/Asana CSV &amp; JSON exports.</a:t>
            </a:r>
          </a:p>
        </p:txBody>
      </p:sp>
      <p:sp>
        <p:nvSpPr>
          <p:cNvPr id="41" name="Shape 25">
            <a:extLst>
              <a:ext uri="{FF2B5EF4-FFF2-40B4-BE49-F238E27FC236}">
                <a16:creationId xmlns:a16="http://schemas.microsoft.com/office/drawing/2014/main" id="{2387BDDC-1FD1-94F9-88EA-B1B1A5476958}"/>
              </a:ext>
            </a:extLst>
          </p:cNvPr>
          <p:cNvSpPr/>
          <p:nvPr/>
        </p:nvSpPr>
        <p:spPr>
          <a:xfrm>
            <a:off x="585066" y="4389120"/>
            <a:ext cx="10826496" cy="566928"/>
          </a:xfrm>
          <a:prstGeom prst="roundRect">
            <a:avLst>
              <a:gd name="adj" fmla="val 8065"/>
            </a:avLst>
          </a:prstGeom>
          <a:solidFill>
            <a:srgbClr val="FFFFFF"/>
          </a:solidFill>
          <a:ln w="12700">
            <a:solidFill>
              <a:srgbClr val="DCE5EC"/>
            </a:solidFill>
            <a:prstDash val="solid"/>
          </a:ln>
          <a:effectLst/>
        </p:spPr>
        <p:txBody>
          <a:bodyPr/>
          <a:lstStyle/>
          <a:p>
            <a:endParaRPr lang="en-US"/>
          </a:p>
        </p:txBody>
      </p:sp>
      <p:sp>
        <p:nvSpPr>
          <p:cNvPr id="42" name="Text 26">
            <a:extLst>
              <a:ext uri="{FF2B5EF4-FFF2-40B4-BE49-F238E27FC236}">
                <a16:creationId xmlns:a16="http://schemas.microsoft.com/office/drawing/2014/main" id="{88642670-7401-6942-FA9F-B4B48641D49E}"/>
              </a:ext>
            </a:extLst>
          </p:cNvPr>
          <p:cNvSpPr/>
          <p:nvPr/>
        </p:nvSpPr>
        <p:spPr>
          <a:xfrm>
            <a:off x="713232" y="4462272"/>
            <a:ext cx="10826496" cy="438912"/>
          </a:xfrm>
          <a:prstGeom prst="rect">
            <a:avLst/>
          </a:prstGeom>
          <a:noFill/>
          <a:ln/>
        </p:spPr>
        <p:txBody>
          <a:bodyPr wrap="square" lIns="36576" tIns="36576" rIns="36576" bIns="36576" rtlCol="0" anchor="ctr"/>
          <a:lstStyle/>
          <a:p>
            <a:pPr algn="l"/>
            <a:r>
              <a:rPr sz="1000" b="1">
                <a:solidFill>
                  <a:srgbClr val="003B7A"/>
                </a:solidFill>
                <a:latin typeface="Aptos"/>
              </a:rPr>
              <a:t>KEY VALUE / DIFFERENTIATOR: The Anti-Hallucination Engine — Strictly grounds tasks in verbatim quotes, refuses to invent missing data, and auto-generates targeted clarification questions.</a:t>
            </a:r>
          </a:p>
        </p:txBody>
      </p:sp>
      <p:grpSp>
        <p:nvGrpSpPr>
          <p:cNvPr id="49" name="Group 48">
            <a:extLst>
              <a:ext uri="{FF2B5EF4-FFF2-40B4-BE49-F238E27FC236}">
                <a16:creationId xmlns:a16="http://schemas.microsoft.com/office/drawing/2014/main" id="{530B5A7D-81E5-A6BD-24F6-B04017EACA9D}"/>
              </a:ext>
            </a:extLst>
          </p:cNvPr>
          <p:cNvGrpSpPr/>
          <p:nvPr/>
        </p:nvGrpSpPr>
        <p:grpSpPr>
          <a:xfrm>
            <a:off x="554486" y="5010912"/>
            <a:ext cx="10857076" cy="749808"/>
            <a:chOff x="444758" y="5065776"/>
            <a:chExt cx="11228832" cy="1033272"/>
          </a:xfrm>
        </p:grpSpPr>
        <p:sp>
          <p:nvSpPr>
            <p:cNvPr id="44" name="Shape 28">
              <a:extLst>
                <a:ext uri="{FF2B5EF4-FFF2-40B4-BE49-F238E27FC236}">
                  <a16:creationId xmlns:a16="http://schemas.microsoft.com/office/drawing/2014/main" id="{80037608-3A5E-88A3-5289-6D1A79AC9774}"/>
                </a:ext>
              </a:extLst>
            </p:cNvPr>
            <p:cNvSpPr/>
            <p:nvPr/>
          </p:nvSpPr>
          <p:spPr>
            <a:xfrm>
              <a:off x="444758" y="5065776"/>
              <a:ext cx="11228832" cy="960120"/>
            </a:xfrm>
            <a:prstGeom prst="roundRect">
              <a:avLst>
                <a:gd name="adj" fmla="val 5714"/>
              </a:avLst>
            </a:prstGeom>
            <a:solidFill>
              <a:srgbClr val="F8FAFC"/>
            </a:solidFill>
            <a:ln w="12700">
              <a:solidFill>
                <a:srgbClr val="DCE5EC"/>
              </a:solidFill>
              <a:prstDash val="solid"/>
            </a:ln>
          </p:spPr>
          <p:txBody>
            <a:bodyPr/>
            <a:lstStyle/>
            <a:p>
              <a:endParaRPr lang="en-US"/>
            </a:p>
          </p:txBody>
        </p:sp>
        <p:sp>
          <p:nvSpPr>
            <p:cNvPr id="45" name="Shape 29">
              <a:extLst>
                <a:ext uri="{FF2B5EF4-FFF2-40B4-BE49-F238E27FC236}">
                  <a16:creationId xmlns:a16="http://schemas.microsoft.com/office/drawing/2014/main" id="{E1095448-4699-DBDD-5246-5B6185E2FC94}"/>
                </a:ext>
              </a:extLst>
            </p:cNvPr>
            <p:cNvSpPr/>
            <p:nvPr/>
          </p:nvSpPr>
          <p:spPr>
            <a:xfrm>
              <a:off x="475488" y="5138928"/>
              <a:ext cx="82296" cy="960120"/>
            </a:xfrm>
            <a:prstGeom prst="rect">
              <a:avLst/>
            </a:prstGeom>
            <a:solidFill>
              <a:srgbClr val="007CC3"/>
            </a:solidFill>
            <a:ln w="12700">
              <a:solidFill>
                <a:srgbClr val="007CC3"/>
              </a:solidFill>
              <a:prstDash val="solid"/>
            </a:ln>
          </p:spPr>
          <p:txBody>
            <a:bodyPr/>
            <a:lstStyle/>
            <a:p>
              <a:endParaRPr lang="en-US"/>
            </a:p>
          </p:txBody>
        </p:sp>
        <p:sp>
          <p:nvSpPr>
            <p:cNvPr id="46" name="Text 30">
              <a:extLst>
                <a:ext uri="{FF2B5EF4-FFF2-40B4-BE49-F238E27FC236}">
                  <a16:creationId xmlns:a16="http://schemas.microsoft.com/office/drawing/2014/main" id="{5C4C2726-B3AE-9C1E-A76E-FC42254D9480}"/>
                </a:ext>
              </a:extLst>
            </p:cNvPr>
            <p:cNvSpPr/>
            <p:nvPr/>
          </p:nvSpPr>
          <p:spPr>
            <a:xfrm>
              <a:off x="713232" y="5266944"/>
              <a:ext cx="960120" cy="164592"/>
            </a:xfrm>
            <a:prstGeom prst="rect">
              <a:avLst/>
            </a:prstGeom>
            <a:noFill/>
            <a:ln/>
          </p:spPr>
          <p:txBody>
            <a:bodyPr wrap="square" lIns="0" tIns="0" rIns="0" bIns="0" rtlCol="0" anchor="ctr"/>
            <a:lstStyle/>
            <a:p>
              <a:pPr marL="0" indent="0">
                <a:buNone/>
              </a:pPr>
              <a:r>
                <a:rPr lang="en-US" sz="900" b="1" kern="0" spc="70" dirty="0">
                  <a:solidFill>
                    <a:srgbClr val="007CC3"/>
                  </a:solidFill>
                </a:rPr>
                <a:t>WHAT TO SAY</a:t>
              </a:r>
              <a:endParaRPr lang="en-US" sz="900" dirty="0"/>
            </a:p>
          </p:txBody>
        </p:sp>
        <p:sp>
          <p:nvSpPr>
            <p:cNvPr id="47" name="Text 31">
              <a:extLst>
                <a:ext uri="{FF2B5EF4-FFF2-40B4-BE49-F238E27FC236}">
                  <a16:creationId xmlns:a16="http://schemas.microsoft.com/office/drawing/2014/main" id="{1955E233-948E-C5E8-2CA1-2F05E8F62F43}"/>
                </a:ext>
              </a:extLst>
            </p:cNvPr>
            <p:cNvSpPr/>
            <p:nvPr/>
          </p:nvSpPr>
          <p:spPr>
            <a:xfrm>
              <a:off x="1993392" y="5230368"/>
              <a:ext cx="9326880" cy="795528"/>
            </a:xfrm>
            <a:prstGeom prst="rect">
              <a:avLst/>
            </a:prstGeom>
            <a:noFill/>
            <a:ln/>
          </p:spPr>
          <p:txBody>
            <a:bodyPr wrap="square" lIns="381" tIns="381" rIns="381" bIns="381" rtlCol="0" anchor="ctr"/>
            <a:lstStyle/>
            <a:p>
              <a:pPr marL="177800" indent="-177800">
                <a:buSzPct val="100000"/>
                <a:buChar char="•"/>
              </a:pPr>
              <a:r>
                <a:rPr lang="en-US" sz="1100" dirty="0">
                  <a:solidFill>
                    <a:srgbClr val="111827"/>
                  </a:solidFill>
                </a:rPr>
                <a:t>Describe the end-to-end flow using one simple user journey.</a:t>
              </a:r>
              <a:endParaRPr lang="en-US" sz="1100" dirty="0"/>
            </a:p>
            <a:p>
              <a:pPr marL="177800" indent="-177800">
                <a:buSzPct val="100000"/>
                <a:buChar char="•"/>
              </a:pPr>
              <a:r>
                <a:rPr lang="en-US" sz="1100" dirty="0">
                  <a:solidFill>
                    <a:srgbClr val="111827"/>
                  </a:solidFill>
                </a:rPr>
                <a:t>Call out the benefit and what the working prototype proves today.</a:t>
              </a:r>
              <a:endParaRPr lang="en-US" sz="1100" dirty="0"/>
            </a:p>
          </p:txBody>
        </p:sp>
      </p:grpSp>
      <p:sp>
        <p:nvSpPr>
          <p:cNvPr id="48" name="Slide Number Placeholder 0">
            <a:extLst>
              <a:ext uri="{FF2B5EF4-FFF2-40B4-BE49-F238E27FC236}">
                <a16:creationId xmlns:a16="http://schemas.microsoft.com/office/drawing/2014/main" id="{22928792-56EE-DE35-07ED-8C021E41D61C}"/>
              </a:ext>
            </a:extLst>
          </p:cNvPr>
          <p:cNvSpPr txBox="1">
            <a:spLocks/>
          </p:cNvSpPr>
          <p:nvPr/>
        </p:nvSpPr>
        <p:spPr>
          <a:xfrm>
            <a:off x="11731752" y="6510528"/>
            <a:ext cx="228600" cy="146304"/>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800" kern="1200">
                <a:solidFill>
                  <a:srgbClr val="8A96A3"/>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4</a:t>
            </a:fld>
            <a:endParaRPr lang="en-US"/>
          </a:p>
        </p:txBody>
      </p:sp>
    </p:spTree>
    <p:extLst>
      <p:ext uri="{BB962C8B-B14F-4D97-AF65-F5344CB8AC3E}">
        <p14:creationId xmlns:p14="http://schemas.microsoft.com/office/powerpoint/2010/main" val="1208727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F47E988-0908-036B-1455-F49B5EE4CE02}"/>
              </a:ext>
            </a:extLst>
          </p:cNvPr>
          <p:cNvSpPr/>
          <p:nvPr/>
        </p:nvSpPr>
        <p:spPr>
          <a:xfrm>
            <a:off x="475488" y="256032"/>
            <a:ext cx="8869680" cy="347472"/>
          </a:xfrm>
          <a:prstGeom prst="rect">
            <a:avLst/>
          </a:prstGeom>
          <a:noFill/>
          <a:ln/>
        </p:spPr>
        <p:txBody>
          <a:bodyPr wrap="square" lIns="0" tIns="0" rIns="0" bIns="0" rtlCol="0" anchor="ctr"/>
          <a:lstStyle/>
          <a:p>
            <a:pPr marL="0" indent="0">
              <a:buNone/>
            </a:pPr>
            <a:r>
              <a:rPr lang="en-US" sz="2400" dirty="0">
                <a:solidFill>
                  <a:srgbClr val="111827"/>
                </a:solidFill>
                <a:latin typeface="Aptos Display" pitchFamily="34" charset="0"/>
                <a:ea typeface="Aptos Display" pitchFamily="34" charset="-122"/>
                <a:cs typeface="Aptos Display" pitchFamily="34" charset="-120"/>
              </a:rPr>
              <a:t>Architecture &amp; Technical Design</a:t>
            </a:r>
            <a:endParaRPr lang="en-US" sz="2400" dirty="0"/>
          </a:p>
        </p:txBody>
      </p:sp>
      <p:sp>
        <p:nvSpPr>
          <p:cNvPr id="3" name="Text 1">
            <a:extLst>
              <a:ext uri="{FF2B5EF4-FFF2-40B4-BE49-F238E27FC236}">
                <a16:creationId xmlns:a16="http://schemas.microsoft.com/office/drawing/2014/main" id="{1EF15766-5E67-710C-418E-D286CF23B3CA}"/>
              </a:ext>
            </a:extLst>
          </p:cNvPr>
          <p:cNvSpPr/>
          <p:nvPr/>
        </p:nvSpPr>
        <p:spPr>
          <a:xfrm>
            <a:off x="475488" y="658368"/>
            <a:ext cx="8823960" cy="219456"/>
          </a:xfrm>
          <a:prstGeom prst="rect">
            <a:avLst/>
          </a:prstGeom>
          <a:noFill/>
          <a:ln/>
        </p:spPr>
        <p:txBody>
          <a:bodyPr wrap="square" lIns="0" tIns="0" rIns="0" bIns="0" rtlCol="0" anchor="ctr"/>
          <a:lstStyle/>
          <a:p>
            <a:pPr marL="0" indent="0">
              <a:buNone/>
            </a:pPr>
            <a:r>
              <a:rPr lang="en-US" sz="1050" dirty="0">
                <a:solidFill>
                  <a:srgbClr val="5B6573"/>
                </a:solidFill>
              </a:rPr>
              <a:t>Show the main components, data flow and engineering choices.</a:t>
            </a:r>
            <a:endParaRPr lang="en-US" sz="1050" dirty="0"/>
          </a:p>
        </p:txBody>
      </p:sp>
      <p:sp>
        <p:nvSpPr>
          <p:cNvPr id="5" name="Text 3">
            <a:extLst>
              <a:ext uri="{FF2B5EF4-FFF2-40B4-BE49-F238E27FC236}">
                <a16:creationId xmlns:a16="http://schemas.microsoft.com/office/drawing/2014/main" id="{03D5086C-A368-C401-F126-E27B82EBD8AF}"/>
              </a:ext>
            </a:extLst>
          </p:cNvPr>
          <p:cNvSpPr/>
          <p:nvPr/>
        </p:nvSpPr>
        <p:spPr>
          <a:xfrm>
            <a:off x="9875520" y="704088"/>
            <a:ext cx="1737360" cy="128016"/>
          </a:xfrm>
          <a:prstGeom prst="rect">
            <a:avLst/>
          </a:prstGeom>
          <a:noFill/>
          <a:ln/>
        </p:spPr>
        <p:txBody>
          <a:bodyPr wrap="square" lIns="0" tIns="0" rIns="0" bIns="0" rtlCol="0" anchor="ctr"/>
          <a:lstStyle/>
          <a:p>
            <a:pPr marL="0" indent="0" algn="ctr">
              <a:buNone/>
            </a:pPr>
            <a:r>
              <a:rPr lang="en-US" sz="850" b="1" dirty="0">
                <a:solidFill>
                  <a:srgbClr val="FFFFFF"/>
                </a:solidFill>
              </a:rPr>
              <a:t>SUGGESTED TIME  0:55</a:t>
            </a:r>
            <a:endParaRPr lang="en-US" sz="850" dirty="0"/>
          </a:p>
        </p:txBody>
      </p:sp>
      <p:sp>
        <p:nvSpPr>
          <p:cNvPr id="7" name="Shape 5">
            <a:extLst>
              <a:ext uri="{FF2B5EF4-FFF2-40B4-BE49-F238E27FC236}">
                <a16:creationId xmlns:a16="http://schemas.microsoft.com/office/drawing/2014/main" id="{1FEEAEA4-6F1C-DA0D-70AF-1CD9E57D94C8}"/>
              </a:ext>
            </a:extLst>
          </p:cNvPr>
          <p:cNvSpPr/>
          <p:nvPr/>
        </p:nvSpPr>
        <p:spPr>
          <a:xfrm>
            <a:off x="621792" y="1517904"/>
            <a:ext cx="2249424" cy="1572768"/>
          </a:xfrm>
          <a:prstGeom prst="roundRect">
            <a:avLst>
              <a:gd name="adj" fmla="val 2907"/>
            </a:avLst>
          </a:prstGeom>
          <a:solidFill>
            <a:srgbClr val="EAF7FD"/>
          </a:solidFill>
          <a:ln w="17780">
            <a:solidFill>
              <a:srgbClr val="007CC3"/>
            </a:solidFill>
            <a:prstDash val="solid"/>
          </a:ln>
          <a:effectLst/>
        </p:spPr>
        <p:txBody>
          <a:bodyPr/>
          <a:lstStyle/>
          <a:p>
            <a:endParaRPr lang="en-US"/>
          </a:p>
        </p:txBody>
      </p:sp>
      <p:sp>
        <p:nvSpPr>
          <p:cNvPr id="8" name="Text 6">
            <a:extLst>
              <a:ext uri="{FF2B5EF4-FFF2-40B4-BE49-F238E27FC236}">
                <a16:creationId xmlns:a16="http://schemas.microsoft.com/office/drawing/2014/main" id="{AC937AE1-9B9B-9199-A76E-B2B37B6D9BD0}"/>
              </a:ext>
            </a:extLst>
          </p:cNvPr>
          <p:cNvSpPr/>
          <p:nvPr/>
        </p:nvSpPr>
        <p:spPr>
          <a:xfrm>
            <a:off x="749808" y="1737360"/>
            <a:ext cx="1993392" cy="246888"/>
          </a:xfrm>
          <a:prstGeom prst="rect">
            <a:avLst/>
          </a:prstGeom>
          <a:noFill/>
          <a:ln/>
        </p:spPr>
        <p:txBody>
          <a:bodyPr wrap="square" lIns="0" tIns="0" rIns="0" bIns="0" rtlCol="0" anchor="ctr"/>
          <a:lstStyle/>
          <a:p>
            <a:pPr marL="0" indent="0" algn="ctr">
              <a:buNone/>
            </a:pPr>
            <a:r>
              <a:rPr lang="en-US" sz="1100" b="1" dirty="0">
                <a:solidFill>
                  <a:srgbClr val="007CC3"/>
                </a:solidFill>
              </a:rPr>
              <a:t>USER / DEVICE</a:t>
            </a:r>
            <a:endParaRPr lang="en-US" sz="1100" dirty="0"/>
          </a:p>
        </p:txBody>
      </p:sp>
      <p:sp>
        <p:nvSpPr>
          <p:cNvPr id="9" name="Text 7">
            <a:extLst>
              <a:ext uri="{FF2B5EF4-FFF2-40B4-BE49-F238E27FC236}">
                <a16:creationId xmlns:a16="http://schemas.microsoft.com/office/drawing/2014/main" id="{B4A228E3-0982-1FE1-33B3-FA931D03B8FF}"/>
              </a:ext>
            </a:extLst>
          </p:cNvPr>
          <p:cNvSpPr/>
          <p:nvPr/>
        </p:nvSpPr>
        <p:spPr>
          <a:xfrm>
            <a:off x="786384" y="2194560"/>
            <a:ext cx="1920240" cy="603504"/>
          </a:xfrm>
          <a:prstGeom prst="rect">
            <a:avLst/>
          </a:prstGeom>
          <a:noFill/>
          <a:ln/>
        </p:spPr>
        <p:txBody>
          <a:bodyPr wrap="square" lIns="36576" tIns="36576" rIns="36576" bIns="36576" rtlCol="0" anchor="ctr">
            <a:normAutofit/>
          </a:bodyPr>
          <a:lstStyle/>
          <a:p>
            <a:pPr algn="l"/>
            <a:r>
              <a:rPr sz="900" b="0">
                <a:solidFill>
                  <a:srgbClr val="0F172A"/>
                </a:solidFill>
                <a:latin typeface="Aptos"/>
              </a:rPr>
              <a:t>Web Browser / Engineering Team / Project Lead accessing Streamlit SaaS Dashboard</a:t>
            </a:r>
          </a:p>
        </p:txBody>
      </p:sp>
      <p:sp>
        <p:nvSpPr>
          <p:cNvPr id="10" name="Shape 8">
            <a:extLst>
              <a:ext uri="{FF2B5EF4-FFF2-40B4-BE49-F238E27FC236}">
                <a16:creationId xmlns:a16="http://schemas.microsoft.com/office/drawing/2014/main" id="{223D498E-63CB-4C98-5544-33DE014B29A8}"/>
              </a:ext>
            </a:extLst>
          </p:cNvPr>
          <p:cNvSpPr/>
          <p:nvPr/>
        </p:nvSpPr>
        <p:spPr>
          <a:xfrm>
            <a:off x="2935224" y="1993392"/>
            <a:ext cx="329184" cy="493776"/>
          </a:xfrm>
          <a:prstGeom prst="chevron">
            <a:avLst/>
          </a:prstGeom>
          <a:solidFill>
            <a:srgbClr val="B8C6D1"/>
          </a:solidFill>
          <a:ln w="12700">
            <a:solidFill>
              <a:srgbClr val="B8C6D1"/>
            </a:solidFill>
            <a:prstDash val="solid"/>
          </a:ln>
        </p:spPr>
        <p:txBody>
          <a:bodyPr/>
          <a:lstStyle/>
          <a:p>
            <a:endParaRPr lang="en-US"/>
          </a:p>
        </p:txBody>
      </p:sp>
      <p:sp>
        <p:nvSpPr>
          <p:cNvPr id="11" name="Shape 9">
            <a:extLst>
              <a:ext uri="{FF2B5EF4-FFF2-40B4-BE49-F238E27FC236}">
                <a16:creationId xmlns:a16="http://schemas.microsoft.com/office/drawing/2014/main" id="{5D5C12AC-8141-3434-DBF6-FE60CE10DF80}"/>
              </a:ext>
            </a:extLst>
          </p:cNvPr>
          <p:cNvSpPr/>
          <p:nvPr/>
        </p:nvSpPr>
        <p:spPr>
          <a:xfrm>
            <a:off x="3401568" y="1517904"/>
            <a:ext cx="2249424" cy="1572768"/>
          </a:xfrm>
          <a:prstGeom prst="roundRect">
            <a:avLst>
              <a:gd name="adj" fmla="val 2907"/>
            </a:avLst>
          </a:prstGeom>
          <a:solidFill>
            <a:srgbClr val="F3EEFC"/>
          </a:solidFill>
          <a:ln w="17780">
            <a:solidFill>
              <a:srgbClr val="5417A8"/>
            </a:solidFill>
            <a:prstDash val="solid"/>
          </a:ln>
          <a:effectLst/>
        </p:spPr>
        <p:txBody>
          <a:bodyPr/>
          <a:lstStyle/>
          <a:p>
            <a:endParaRPr lang="en-US"/>
          </a:p>
        </p:txBody>
      </p:sp>
      <p:sp>
        <p:nvSpPr>
          <p:cNvPr id="12" name="Text 10">
            <a:extLst>
              <a:ext uri="{FF2B5EF4-FFF2-40B4-BE49-F238E27FC236}">
                <a16:creationId xmlns:a16="http://schemas.microsoft.com/office/drawing/2014/main" id="{2E952A89-57D4-EF0E-8424-40B83474870A}"/>
              </a:ext>
            </a:extLst>
          </p:cNvPr>
          <p:cNvSpPr/>
          <p:nvPr/>
        </p:nvSpPr>
        <p:spPr>
          <a:xfrm>
            <a:off x="3529584" y="1737360"/>
            <a:ext cx="1993392" cy="246888"/>
          </a:xfrm>
          <a:prstGeom prst="rect">
            <a:avLst/>
          </a:prstGeom>
          <a:noFill/>
          <a:ln/>
        </p:spPr>
        <p:txBody>
          <a:bodyPr wrap="square" lIns="0" tIns="0" rIns="0" bIns="0" rtlCol="0" anchor="ctr"/>
          <a:lstStyle/>
          <a:p>
            <a:pPr marL="0" indent="0" algn="ctr">
              <a:buNone/>
            </a:pPr>
            <a:r>
              <a:rPr lang="en-US" sz="1100" b="1" dirty="0">
                <a:solidFill>
                  <a:srgbClr val="5417A8"/>
                </a:solidFill>
              </a:rPr>
              <a:t>APPLICATION / LOGIC</a:t>
            </a:r>
            <a:endParaRPr lang="en-US" sz="1100" dirty="0"/>
          </a:p>
        </p:txBody>
      </p:sp>
      <p:sp>
        <p:nvSpPr>
          <p:cNvPr id="13" name="Text 11">
            <a:extLst>
              <a:ext uri="{FF2B5EF4-FFF2-40B4-BE49-F238E27FC236}">
                <a16:creationId xmlns:a16="http://schemas.microsoft.com/office/drawing/2014/main" id="{4923AB16-A827-ACE5-2090-A44128AEECB2}"/>
              </a:ext>
            </a:extLst>
          </p:cNvPr>
          <p:cNvSpPr/>
          <p:nvPr/>
        </p:nvSpPr>
        <p:spPr>
          <a:xfrm>
            <a:off x="3566160" y="2194560"/>
            <a:ext cx="1920240" cy="603504"/>
          </a:xfrm>
          <a:prstGeom prst="rect">
            <a:avLst/>
          </a:prstGeom>
          <a:noFill/>
          <a:ln/>
        </p:spPr>
        <p:txBody>
          <a:bodyPr wrap="square" lIns="36576" tIns="36576" rIns="36576" bIns="36576" rtlCol="0" anchor="ctr">
            <a:normAutofit/>
          </a:bodyPr>
          <a:lstStyle/>
          <a:p>
            <a:pPr algn="l"/>
            <a:r>
              <a:rPr sz="900" b="0">
                <a:solidFill>
                  <a:srgbClr val="0F172A"/>
                </a:solidFill>
                <a:latin typeface="Aptos"/>
              </a:rPr>
              <a:t>Streamlit UI (v1.42+), Pydantic v2 validation contracts, Session State triage, and Pandas tabular pipeline</a:t>
            </a:r>
          </a:p>
        </p:txBody>
      </p:sp>
      <p:sp>
        <p:nvSpPr>
          <p:cNvPr id="14" name="Shape 12">
            <a:extLst>
              <a:ext uri="{FF2B5EF4-FFF2-40B4-BE49-F238E27FC236}">
                <a16:creationId xmlns:a16="http://schemas.microsoft.com/office/drawing/2014/main" id="{982C82C2-6F8D-2406-03EB-0A5055A55007}"/>
              </a:ext>
            </a:extLst>
          </p:cNvPr>
          <p:cNvSpPr/>
          <p:nvPr/>
        </p:nvSpPr>
        <p:spPr>
          <a:xfrm>
            <a:off x="5715000" y="1993392"/>
            <a:ext cx="329184" cy="493776"/>
          </a:xfrm>
          <a:prstGeom prst="chevron">
            <a:avLst/>
          </a:prstGeom>
          <a:solidFill>
            <a:srgbClr val="B8C6D1"/>
          </a:solidFill>
          <a:ln w="12700">
            <a:solidFill>
              <a:srgbClr val="B8C6D1"/>
            </a:solidFill>
            <a:prstDash val="solid"/>
          </a:ln>
        </p:spPr>
        <p:txBody>
          <a:bodyPr/>
          <a:lstStyle/>
          <a:p>
            <a:endParaRPr lang="en-US"/>
          </a:p>
        </p:txBody>
      </p:sp>
      <p:sp>
        <p:nvSpPr>
          <p:cNvPr id="15" name="Shape 13">
            <a:extLst>
              <a:ext uri="{FF2B5EF4-FFF2-40B4-BE49-F238E27FC236}">
                <a16:creationId xmlns:a16="http://schemas.microsoft.com/office/drawing/2014/main" id="{10E4247D-E843-275C-B984-C763628E6E99}"/>
              </a:ext>
            </a:extLst>
          </p:cNvPr>
          <p:cNvSpPr/>
          <p:nvPr/>
        </p:nvSpPr>
        <p:spPr>
          <a:xfrm>
            <a:off x="6181344" y="1517904"/>
            <a:ext cx="2249424" cy="1572768"/>
          </a:xfrm>
          <a:prstGeom prst="roundRect">
            <a:avLst>
              <a:gd name="adj" fmla="val 2907"/>
            </a:avLst>
          </a:prstGeom>
          <a:solidFill>
            <a:srgbClr val="FFF4E8"/>
          </a:solidFill>
          <a:ln w="17780">
            <a:solidFill>
              <a:srgbClr val="F28C28"/>
            </a:solidFill>
            <a:prstDash val="solid"/>
          </a:ln>
          <a:effectLst/>
        </p:spPr>
        <p:txBody>
          <a:bodyPr/>
          <a:lstStyle/>
          <a:p>
            <a:endParaRPr lang="en-US"/>
          </a:p>
        </p:txBody>
      </p:sp>
      <p:sp>
        <p:nvSpPr>
          <p:cNvPr id="16" name="Text 14">
            <a:extLst>
              <a:ext uri="{FF2B5EF4-FFF2-40B4-BE49-F238E27FC236}">
                <a16:creationId xmlns:a16="http://schemas.microsoft.com/office/drawing/2014/main" id="{6A6340B7-0679-B082-38AB-44282D46E4BD}"/>
              </a:ext>
            </a:extLst>
          </p:cNvPr>
          <p:cNvSpPr/>
          <p:nvPr/>
        </p:nvSpPr>
        <p:spPr>
          <a:xfrm>
            <a:off x="6309360" y="1737360"/>
            <a:ext cx="1993392" cy="246888"/>
          </a:xfrm>
          <a:prstGeom prst="rect">
            <a:avLst/>
          </a:prstGeom>
          <a:noFill/>
          <a:ln/>
        </p:spPr>
        <p:txBody>
          <a:bodyPr wrap="square" lIns="0" tIns="0" rIns="0" bIns="0" rtlCol="0" anchor="ctr"/>
          <a:lstStyle/>
          <a:p>
            <a:pPr marL="0" indent="0" algn="ctr">
              <a:buNone/>
            </a:pPr>
            <a:r>
              <a:rPr lang="en-US" sz="1100" b="1" dirty="0">
                <a:solidFill>
                  <a:srgbClr val="F28C28"/>
                </a:solidFill>
              </a:rPr>
              <a:t>AI / DATA LAYER</a:t>
            </a:r>
            <a:endParaRPr lang="en-US" sz="1100" dirty="0"/>
          </a:p>
        </p:txBody>
      </p:sp>
      <p:sp>
        <p:nvSpPr>
          <p:cNvPr id="17" name="Text 15">
            <a:extLst>
              <a:ext uri="{FF2B5EF4-FFF2-40B4-BE49-F238E27FC236}">
                <a16:creationId xmlns:a16="http://schemas.microsoft.com/office/drawing/2014/main" id="{795BF9EA-54C5-31AA-4435-03439C09D40B}"/>
              </a:ext>
            </a:extLst>
          </p:cNvPr>
          <p:cNvSpPr/>
          <p:nvPr/>
        </p:nvSpPr>
        <p:spPr>
          <a:xfrm>
            <a:off x="6345936" y="2194560"/>
            <a:ext cx="1920240" cy="603504"/>
          </a:xfrm>
          <a:prstGeom prst="rect">
            <a:avLst/>
          </a:prstGeom>
          <a:noFill/>
          <a:ln/>
        </p:spPr>
        <p:txBody>
          <a:bodyPr wrap="square" lIns="36576" tIns="36576" rIns="36576" bIns="36576" rtlCol="0" anchor="ctr">
            <a:normAutofit/>
          </a:bodyPr>
          <a:lstStyle/>
          <a:p>
            <a:pPr algn="l"/>
            <a:r>
              <a:rPr sz="850" b="0">
                <a:solidFill>
                  <a:srgbClr val="0F172A"/>
                </a:solidFill>
                <a:latin typeface="Aptos"/>
              </a:rPr>
              <a:t>Cirrascale Qualcomm Cloud AI (/apis/v2), DeepSeek-R1-Distill-70B governed by 6 Strict Rules &amp; Pydantic v2 schemas</a:t>
            </a:r>
          </a:p>
        </p:txBody>
      </p:sp>
      <p:sp>
        <p:nvSpPr>
          <p:cNvPr id="18" name="Shape 16">
            <a:extLst>
              <a:ext uri="{FF2B5EF4-FFF2-40B4-BE49-F238E27FC236}">
                <a16:creationId xmlns:a16="http://schemas.microsoft.com/office/drawing/2014/main" id="{0DC59F95-BE2E-2797-4BC0-17ADDD25224B}"/>
              </a:ext>
            </a:extLst>
          </p:cNvPr>
          <p:cNvSpPr/>
          <p:nvPr/>
        </p:nvSpPr>
        <p:spPr>
          <a:xfrm>
            <a:off x="8494776" y="1993392"/>
            <a:ext cx="329184" cy="493776"/>
          </a:xfrm>
          <a:prstGeom prst="chevron">
            <a:avLst/>
          </a:prstGeom>
          <a:solidFill>
            <a:srgbClr val="B8C6D1"/>
          </a:solidFill>
          <a:ln w="12700">
            <a:solidFill>
              <a:srgbClr val="B8C6D1"/>
            </a:solidFill>
            <a:prstDash val="solid"/>
          </a:ln>
        </p:spPr>
        <p:txBody>
          <a:bodyPr/>
          <a:lstStyle/>
          <a:p>
            <a:endParaRPr lang="en-US"/>
          </a:p>
        </p:txBody>
      </p:sp>
      <p:sp>
        <p:nvSpPr>
          <p:cNvPr id="19" name="Shape 17">
            <a:extLst>
              <a:ext uri="{FF2B5EF4-FFF2-40B4-BE49-F238E27FC236}">
                <a16:creationId xmlns:a16="http://schemas.microsoft.com/office/drawing/2014/main" id="{7EB9165A-67EC-3178-70D8-9B83A33FDD1D}"/>
              </a:ext>
            </a:extLst>
          </p:cNvPr>
          <p:cNvSpPr/>
          <p:nvPr/>
        </p:nvSpPr>
        <p:spPr>
          <a:xfrm>
            <a:off x="8961120" y="1517904"/>
            <a:ext cx="2249424" cy="1572768"/>
          </a:xfrm>
          <a:prstGeom prst="roundRect">
            <a:avLst>
              <a:gd name="adj" fmla="val 2907"/>
            </a:avLst>
          </a:prstGeom>
          <a:solidFill>
            <a:srgbClr val="EFF7E9"/>
          </a:solidFill>
          <a:ln w="17780">
            <a:solidFill>
              <a:srgbClr val="63A845"/>
            </a:solidFill>
            <a:prstDash val="solid"/>
          </a:ln>
          <a:effectLst/>
        </p:spPr>
        <p:txBody>
          <a:bodyPr/>
          <a:lstStyle/>
          <a:p>
            <a:endParaRPr lang="en-US"/>
          </a:p>
        </p:txBody>
      </p:sp>
      <p:sp>
        <p:nvSpPr>
          <p:cNvPr id="20" name="Text 18">
            <a:extLst>
              <a:ext uri="{FF2B5EF4-FFF2-40B4-BE49-F238E27FC236}">
                <a16:creationId xmlns:a16="http://schemas.microsoft.com/office/drawing/2014/main" id="{046464D4-1CD6-AB8D-F6AB-D7C4C45C1DEB}"/>
              </a:ext>
            </a:extLst>
          </p:cNvPr>
          <p:cNvSpPr/>
          <p:nvPr/>
        </p:nvSpPr>
        <p:spPr>
          <a:xfrm>
            <a:off x="9089136" y="1737360"/>
            <a:ext cx="1993392" cy="246888"/>
          </a:xfrm>
          <a:prstGeom prst="rect">
            <a:avLst/>
          </a:prstGeom>
          <a:noFill/>
          <a:ln/>
        </p:spPr>
        <p:txBody>
          <a:bodyPr wrap="square" lIns="0" tIns="0" rIns="0" bIns="0" rtlCol="0" anchor="ctr"/>
          <a:lstStyle/>
          <a:p>
            <a:pPr marL="0" indent="0" algn="ctr">
              <a:buNone/>
            </a:pPr>
            <a:r>
              <a:rPr lang="en-US" sz="1100" b="1" dirty="0">
                <a:solidFill>
                  <a:srgbClr val="63A845"/>
                </a:solidFill>
              </a:rPr>
              <a:t>OUTPUT / ACTION</a:t>
            </a:r>
            <a:endParaRPr lang="en-US" sz="1100" dirty="0"/>
          </a:p>
        </p:txBody>
      </p:sp>
      <p:sp>
        <p:nvSpPr>
          <p:cNvPr id="21" name="Text 19">
            <a:extLst>
              <a:ext uri="{FF2B5EF4-FFF2-40B4-BE49-F238E27FC236}">
                <a16:creationId xmlns:a16="http://schemas.microsoft.com/office/drawing/2014/main" id="{605D073B-EE1E-AEE6-1073-30E6B79695C0}"/>
              </a:ext>
            </a:extLst>
          </p:cNvPr>
          <p:cNvSpPr/>
          <p:nvPr/>
        </p:nvSpPr>
        <p:spPr>
          <a:xfrm>
            <a:off x="9125712" y="2194560"/>
            <a:ext cx="1920240" cy="603504"/>
          </a:xfrm>
          <a:prstGeom prst="rect">
            <a:avLst/>
          </a:prstGeom>
          <a:noFill/>
          <a:ln/>
        </p:spPr>
        <p:txBody>
          <a:bodyPr wrap="square" lIns="36576" tIns="36576" rIns="36576" bIns="36576" rtlCol="0" anchor="ctr">
            <a:normAutofit/>
          </a:bodyPr>
          <a:lstStyle/>
          <a:p>
            <a:pPr algn="l"/>
            <a:r>
              <a:rPr sz="900" b="0">
                <a:solidFill>
                  <a:srgbClr val="0F172A"/>
                </a:solidFill>
                <a:latin typeface="Aptos"/>
              </a:rPr>
              <a:t>Interactive Action Table, Jira/Asana-ready CSV export, schema-validated JSON, and Clarification Alerts</a:t>
            </a:r>
          </a:p>
        </p:txBody>
      </p:sp>
      <p:sp>
        <p:nvSpPr>
          <p:cNvPr id="22" name="Shape 20">
            <a:extLst>
              <a:ext uri="{FF2B5EF4-FFF2-40B4-BE49-F238E27FC236}">
                <a16:creationId xmlns:a16="http://schemas.microsoft.com/office/drawing/2014/main" id="{9F9CAB70-B337-8320-AFC5-CB6BAACB78ED}"/>
              </a:ext>
            </a:extLst>
          </p:cNvPr>
          <p:cNvSpPr/>
          <p:nvPr/>
        </p:nvSpPr>
        <p:spPr>
          <a:xfrm>
            <a:off x="621792" y="3456432"/>
            <a:ext cx="3675888" cy="1078992"/>
          </a:xfrm>
          <a:prstGeom prst="roundRect">
            <a:avLst>
              <a:gd name="adj" fmla="val 4237"/>
            </a:avLst>
          </a:prstGeom>
          <a:solidFill>
            <a:srgbClr val="FFFFFF"/>
          </a:solidFill>
          <a:ln w="12700">
            <a:solidFill>
              <a:srgbClr val="DCE5EC"/>
            </a:solidFill>
            <a:prstDash val="solid"/>
          </a:ln>
          <a:effectLst/>
        </p:spPr>
        <p:txBody>
          <a:bodyPr/>
          <a:lstStyle/>
          <a:p>
            <a:endParaRPr lang="en-US"/>
          </a:p>
        </p:txBody>
      </p:sp>
      <p:sp>
        <p:nvSpPr>
          <p:cNvPr id="23" name="Text 21">
            <a:extLst>
              <a:ext uri="{FF2B5EF4-FFF2-40B4-BE49-F238E27FC236}">
                <a16:creationId xmlns:a16="http://schemas.microsoft.com/office/drawing/2014/main" id="{44A828D5-1EA1-FFC3-C801-53E2D08CFAA6}"/>
              </a:ext>
            </a:extLst>
          </p:cNvPr>
          <p:cNvSpPr/>
          <p:nvPr/>
        </p:nvSpPr>
        <p:spPr>
          <a:xfrm>
            <a:off x="786384" y="3584448"/>
            <a:ext cx="3346704" cy="164592"/>
          </a:xfrm>
          <a:prstGeom prst="rect">
            <a:avLst/>
          </a:prstGeom>
          <a:noFill/>
          <a:ln/>
        </p:spPr>
        <p:txBody>
          <a:bodyPr wrap="square" lIns="0" tIns="0" rIns="0" bIns="0" rtlCol="0" anchor="ctr"/>
          <a:lstStyle/>
          <a:p>
            <a:pPr marL="0" indent="0">
              <a:buNone/>
            </a:pPr>
            <a:r>
              <a:rPr lang="en-US" sz="850" b="1" kern="0" spc="70" dirty="0">
                <a:solidFill>
                  <a:srgbClr val="007CC3"/>
                </a:solidFill>
              </a:rPr>
              <a:t>TECHNOLOGY CHOICES</a:t>
            </a:r>
            <a:endParaRPr lang="en-US" sz="850" dirty="0"/>
          </a:p>
        </p:txBody>
      </p:sp>
      <p:sp>
        <p:nvSpPr>
          <p:cNvPr id="24" name="Text 22">
            <a:extLst>
              <a:ext uri="{FF2B5EF4-FFF2-40B4-BE49-F238E27FC236}">
                <a16:creationId xmlns:a16="http://schemas.microsoft.com/office/drawing/2014/main" id="{66E0F82F-940E-8150-FFD0-CB54E47DDFCE}"/>
              </a:ext>
            </a:extLst>
          </p:cNvPr>
          <p:cNvSpPr/>
          <p:nvPr/>
        </p:nvSpPr>
        <p:spPr>
          <a:xfrm>
            <a:off x="786384" y="3849624"/>
            <a:ext cx="3346704" cy="566928"/>
          </a:xfrm>
          <a:prstGeom prst="rect">
            <a:avLst/>
          </a:prstGeom>
          <a:noFill/>
          <a:ln/>
        </p:spPr>
        <p:txBody>
          <a:bodyPr wrap="square" lIns="36576" tIns="36576" rIns="36576" bIns="36576" rtlCol="0" anchor="ctr">
            <a:normAutofit/>
          </a:bodyPr>
          <a:lstStyle/>
          <a:p>
            <a:pPr algn="l"/>
            <a:r>
              <a:rPr sz="900" b="0">
                <a:solidFill>
                  <a:srgbClr val="0F172A"/>
                </a:solidFill>
                <a:latin typeface="Aptos"/>
              </a:rPr>
              <a:t>Python 3.12, Streamlit 1.42+, Pydantic v2, Requests, Pandas, Pytest, Cirrascale Qualcomm Cloud AI (OpenAI REST protocol)</a:t>
            </a:r>
          </a:p>
        </p:txBody>
      </p:sp>
      <p:sp>
        <p:nvSpPr>
          <p:cNvPr id="25" name="Shape 23">
            <a:extLst>
              <a:ext uri="{FF2B5EF4-FFF2-40B4-BE49-F238E27FC236}">
                <a16:creationId xmlns:a16="http://schemas.microsoft.com/office/drawing/2014/main" id="{87F13FAB-C1EC-0177-82D2-F896E864A152}"/>
              </a:ext>
            </a:extLst>
          </p:cNvPr>
          <p:cNvSpPr/>
          <p:nvPr/>
        </p:nvSpPr>
        <p:spPr>
          <a:xfrm>
            <a:off x="4480560" y="3456432"/>
            <a:ext cx="3675888" cy="1078992"/>
          </a:xfrm>
          <a:prstGeom prst="roundRect">
            <a:avLst>
              <a:gd name="adj" fmla="val 4237"/>
            </a:avLst>
          </a:prstGeom>
          <a:solidFill>
            <a:srgbClr val="FFFFFF"/>
          </a:solidFill>
          <a:ln w="12700">
            <a:solidFill>
              <a:srgbClr val="DCE5EC"/>
            </a:solidFill>
            <a:prstDash val="solid"/>
          </a:ln>
          <a:effectLst/>
        </p:spPr>
        <p:txBody>
          <a:bodyPr/>
          <a:lstStyle/>
          <a:p>
            <a:endParaRPr lang="en-US"/>
          </a:p>
        </p:txBody>
      </p:sp>
      <p:sp>
        <p:nvSpPr>
          <p:cNvPr id="26" name="Text 24">
            <a:extLst>
              <a:ext uri="{FF2B5EF4-FFF2-40B4-BE49-F238E27FC236}">
                <a16:creationId xmlns:a16="http://schemas.microsoft.com/office/drawing/2014/main" id="{5CC225F5-C44D-CE5D-5355-896FEC671C71}"/>
              </a:ext>
            </a:extLst>
          </p:cNvPr>
          <p:cNvSpPr/>
          <p:nvPr/>
        </p:nvSpPr>
        <p:spPr>
          <a:xfrm>
            <a:off x="4645152" y="3584448"/>
            <a:ext cx="3346704" cy="164592"/>
          </a:xfrm>
          <a:prstGeom prst="rect">
            <a:avLst/>
          </a:prstGeom>
          <a:noFill/>
          <a:ln/>
        </p:spPr>
        <p:txBody>
          <a:bodyPr wrap="square" lIns="0" tIns="0" rIns="0" bIns="0" rtlCol="0" anchor="ctr"/>
          <a:lstStyle/>
          <a:p>
            <a:pPr marL="0" indent="0">
              <a:buNone/>
            </a:pPr>
            <a:r>
              <a:rPr lang="en-US" sz="850" b="1" kern="0" spc="70" dirty="0">
                <a:solidFill>
                  <a:srgbClr val="5417A8"/>
                </a:solidFill>
              </a:rPr>
              <a:t>ENGINEERING RATIONALE</a:t>
            </a:r>
            <a:endParaRPr lang="en-US" sz="850" dirty="0"/>
          </a:p>
        </p:txBody>
      </p:sp>
      <p:sp>
        <p:nvSpPr>
          <p:cNvPr id="27" name="Text 25">
            <a:extLst>
              <a:ext uri="{FF2B5EF4-FFF2-40B4-BE49-F238E27FC236}">
                <a16:creationId xmlns:a16="http://schemas.microsoft.com/office/drawing/2014/main" id="{82B0562F-A937-0D7F-DB67-97891BB9E2A5}"/>
              </a:ext>
            </a:extLst>
          </p:cNvPr>
          <p:cNvSpPr/>
          <p:nvPr/>
        </p:nvSpPr>
        <p:spPr>
          <a:xfrm>
            <a:off x="4645152" y="3849624"/>
            <a:ext cx="3346704" cy="566928"/>
          </a:xfrm>
          <a:prstGeom prst="rect">
            <a:avLst/>
          </a:prstGeom>
          <a:noFill/>
          <a:ln/>
        </p:spPr>
        <p:txBody>
          <a:bodyPr wrap="square" lIns="36576" tIns="36576" rIns="36576" bIns="36576" rtlCol="0" anchor="ctr">
            <a:normAutofit/>
          </a:bodyPr>
          <a:lstStyle/>
          <a:p>
            <a:pPr algn="l"/>
            <a:r>
              <a:rPr sz="850" b="0">
                <a:solidFill>
                  <a:srgbClr val="0F172A"/>
                </a:solidFill>
                <a:latin typeface="Aptos"/>
              </a:rPr>
              <a:t>• Single-Request Invariant: Guarantees staying within $3 budget (~3,820 runs).</a:t>
            </a:r>
          </a:p>
          <a:p>
            <a:pPr algn="l"/>
            <a:r>
              <a:rPr sz="850" b="0">
                <a:solidFill>
                  <a:srgbClr val="0F172A"/>
                </a:solidFill>
                <a:latin typeface="Aptos"/>
              </a:rPr>
              <a:t>• Separation of Concerns: LLM handles semantics under 6 rules; deterministic code audits business integrity.</a:t>
            </a:r>
          </a:p>
        </p:txBody>
      </p:sp>
      <p:sp>
        <p:nvSpPr>
          <p:cNvPr id="28" name="Shape 26">
            <a:extLst>
              <a:ext uri="{FF2B5EF4-FFF2-40B4-BE49-F238E27FC236}">
                <a16:creationId xmlns:a16="http://schemas.microsoft.com/office/drawing/2014/main" id="{815A366A-1EE2-88F4-56F2-42C078164B5E}"/>
              </a:ext>
            </a:extLst>
          </p:cNvPr>
          <p:cNvSpPr/>
          <p:nvPr/>
        </p:nvSpPr>
        <p:spPr>
          <a:xfrm>
            <a:off x="8339328" y="3456432"/>
            <a:ext cx="2871216" cy="1078992"/>
          </a:xfrm>
          <a:prstGeom prst="roundRect">
            <a:avLst>
              <a:gd name="adj" fmla="val 4237"/>
            </a:avLst>
          </a:prstGeom>
          <a:solidFill>
            <a:srgbClr val="FFFFFF"/>
          </a:solidFill>
          <a:ln w="12700">
            <a:solidFill>
              <a:srgbClr val="DCE5EC"/>
            </a:solidFill>
            <a:prstDash val="solid"/>
          </a:ln>
          <a:effectLst/>
        </p:spPr>
        <p:txBody>
          <a:bodyPr/>
          <a:lstStyle/>
          <a:p>
            <a:endParaRPr lang="en-US"/>
          </a:p>
        </p:txBody>
      </p:sp>
      <p:sp>
        <p:nvSpPr>
          <p:cNvPr id="29" name="Text 27">
            <a:extLst>
              <a:ext uri="{FF2B5EF4-FFF2-40B4-BE49-F238E27FC236}">
                <a16:creationId xmlns:a16="http://schemas.microsoft.com/office/drawing/2014/main" id="{36686840-71C6-A9F9-75E4-170B0B1182B6}"/>
              </a:ext>
            </a:extLst>
          </p:cNvPr>
          <p:cNvSpPr/>
          <p:nvPr/>
        </p:nvSpPr>
        <p:spPr>
          <a:xfrm>
            <a:off x="8503920" y="3584448"/>
            <a:ext cx="2542032" cy="164592"/>
          </a:xfrm>
          <a:prstGeom prst="rect">
            <a:avLst/>
          </a:prstGeom>
          <a:noFill/>
          <a:ln/>
        </p:spPr>
        <p:txBody>
          <a:bodyPr wrap="square" lIns="0" tIns="0" rIns="0" bIns="0" rtlCol="0" anchor="ctr"/>
          <a:lstStyle/>
          <a:p>
            <a:pPr marL="0" indent="0">
              <a:buNone/>
            </a:pPr>
            <a:r>
              <a:rPr lang="en-US" sz="850" b="1" kern="0" spc="70" dirty="0">
                <a:solidFill>
                  <a:srgbClr val="63A845"/>
                </a:solidFill>
              </a:rPr>
              <a:t>VALIDATION / RELIABILITY</a:t>
            </a:r>
            <a:endParaRPr lang="en-US" sz="850" dirty="0"/>
          </a:p>
        </p:txBody>
      </p:sp>
      <p:sp>
        <p:nvSpPr>
          <p:cNvPr id="30" name="Text 28">
            <a:extLst>
              <a:ext uri="{FF2B5EF4-FFF2-40B4-BE49-F238E27FC236}">
                <a16:creationId xmlns:a16="http://schemas.microsoft.com/office/drawing/2014/main" id="{C7CB37CB-C380-2D9F-165F-2A8122EB8261}"/>
              </a:ext>
            </a:extLst>
          </p:cNvPr>
          <p:cNvSpPr/>
          <p:nvPr/>
        </p:nvSpPr>
        <p:spPr>
          <a:xfrm>
            <a:off x="8503920" y="3849624"/>
            <a:ext cx="2542032" cy="566928"/>
          </a:xfrm>
          <a:prstGeom prst="rect">
            <a:avLst/>
          </a:prstGeom>
          <a:noFill/>
          <a:ln/>
        </p:spPr>
        <p:txBody>
          <a:bodyPr wrap="square" lIns="36576" tIns="36576" rIns="36576" bIns="36576" rtlCol="0" anchor="ctr">
            <a:normAutofit/>
          </a:bodyPr>
          <a:lstStyle/>
          <a:p>
            <a:pPr algn="l"/>
            <a:r>
              <a:rPr sz="850" b="0">
                <a:solidFill>
                  <a:srgbClr val="0F172A"/>
                </a:solidFill>
                <a:latin typeface="Aptos"/>
              </a:rPr>
              <a:t>• 31 Automated Pytest Tests (100% Pass Rate) covering schemas, heuristics, and network drops (401, 429, timeout).</a:t>
            </a:r>
          </a:p>
          <a:p>
            <a:pPr algn="l"/>
            <a:r>
              <a:rPr sz="850" b="0">
                <a:solidFill>
                  <a:srgbClr val="0F172A"/>
                </a:solidFill>
                <a:latin typeface="Aptos"/>
              </a:rPr>
              <a:t>• Fail-safe zero-credit benchmark mode.</a:t>
            </a:r>
          </a:p>
        </p:txBody>
      </p:sp>
      <p:grpSp>
        <p:nvGrpSpPr>
          <p:cNvPr id="36" name="Group 35">
            <a:extLst>
              <a:ext uri="{FF2B5EF4-FFF2-40B4-BE49-F238E27FC236}">
                <a16:creationId xmlns:a16="http://schemas.microsoft.com/office/drawing/2014/main" id="{E9CECD31-9346-B133-361B-91810BDBDC9F}"/>
              </a:ext>
            </a:extLst>
          </p:cNvPr>
          <p:cNvGrpSpPr/>
          <p:nvPr/>
        </p:nvGrpSpPr>
        <p:grpSpPr>
          <a:xfrm>
            <a:off x="566928" y="4663440"/>
            <a:ext cx="10643616" cy="1088136"/>
            <a:chOff x="439137" y="4937760"/>
            <a:chExt cx="11228832" cy="1088136"/>
          </a:xfrm>
        </p:grpSpPr>
        <p:sp>
          <p:nvSpPr>
            <p:cNvPr id="31" name="Shape 29">
              <a:extLst>
                <a:ext uri="{FF2B5EF4-FFF2-40B4-BE49-F238E27FC236}">
                  <a16:creationId xmlns:a16="http://schemas.microsoft.com/office/drawing/2014/main" id="{432B9BDE-B7B0-9F10-900A-DBCB797ECDC0}"/>
                </a:ext>
              </a:extLst>
            </p:cNvPr>
            <p:cNvSpPr/>
            <p:nvPr/>
          </p:nvSpPr>
          <p:spPr>
            <a:xfrm>
              <a:off x="439137" y="4937760"/>
              <a:ext cx="11228832" cy="960120"/>
            </a:xfrm>
            <a:prstGeom prst="roundRect">
              <a:avLst>
                <a:gd name="adj" fmla="val 5714"/>
              </a:avLst>
            </a:prstGeom>
            <a:solidFill>
              <a:srgbClr val="F8FAFC"/>
            </a:solidFill>
            <a:ln w="12700">
              <a:solidFill>
                <a:srgbClr val="DCE5EC"/>
              </a:solidFill>
              <a:prstDash val="solid"/>
            </a:ln>
          </p:spPr>
          <p:txBody>
            <a:bodyPr/>
            <a:lstStyle/>
            <a:p>
              <a:endParaRPr lang="en-US"/>
            </a:p>
          </p:txBody>
        </p:sp>
        <p:sp>
          <p:nvSpPr>
            <p:cNvPr id="32" name="Shape 30">
              <a:extLst>
                <a:ext uri="{FF2B5EF4-FFF2-40B4-BE49-F238E27FC236}">
                  <a16:creationId xmlns:a16="http://schemas.microsoft.com/office/drawing/2014/main" id="{5154E5A4-0722-E4BF-5BA4-92434E8B54EF}"/>
                </a:ext>
              </a:extLst>
            </p:cNvPr>
            <p:cNvSpPr/>
            <p:nvPr/>
          </p:nvSpPr>
          <p:spPr>
            <a:xfrm>
              <a:off x="475488" y="4937760"/>
              <a:ext cx="82296" cy="960120"/>
            </a:xfrm>
            <a:prstGeom prst="rect">
              <a:avLst/>
            </a:prstGeom>
            <a:solidFill>
              <a:srgbClr val="5417A8"/>
            </a:solidFill>
            <a:ln w="12700">
              <a:solidFill>
                <a:srgbClr val="5417A8"/>
              </a:solidFill>
              <a:prstDash val="solid"/>
            </a:ln>
          </p:spPr>
          <p:txBody>
            <a:bodyPr/>
            <a:lstStyle/>
            <a:p>
              <a:endParaRPr lang="en-US"/>
            </a:p>
          </p:txBody>
        </p:sp>
        <p:sp>
          <p:nvSpPr>
            <p:cNvPr id="33" name="Text 31">
              <a:extLst>
                <a:ext uri="{FF2B5EF4-FFF2-40B4-BE49-F238E27FC236}">
                  <a16:creationId xmlns:a16="http://schemas.microsoft.com/office/drawing/2014/main" id="{8B99DE13-20C0-89C2-4080-05D8735E2B76}"/>
                </a:ext>
              </a:extLst>
            </p:cNvPr>
            <p:cNvSpPr/>
            <p:nvPr/>
          </p:nvSpPr>
          <p:spPr>
            <a:xfrm>
              <a:off x="749808" y="5050336"/>
              <a:ext cx="960120" cy="164592"/>
            </a:xfrm>
            <a:prstGeom prst="rect">
              <a:avLst/>
            </a:prstGeom>
            <a:noFill/>
            <a:ln/>
          </p:spPr>
          <p:txBody>
            <a:bodyPr wrap="square" lIns="0" tIns="0" rIns="0" bIns="0" rtlCol="0" anchor="ctr"/>
            <a:lstStyle/>
            <a:p>
              <a:pPr marL="0" indent="0">
                <a:buNone/>
              </a:pPr>
              <a:r>
                <a:rPr lang="en-US" sz="900" b="1" kern="0" spc="70" dirty="0">
                  <a:solidFill>
                    <a:srgbClr val="5417A8"/>
                  </a:solidFill>
                </a:rPr>
                <a:t>WHAT TO SAY</a:t>
              </a:r>
              <a:endParaRPr lang="en-US" sz="900" dirty="0"/>
            </a:p>
          </p:txBody>
        </p:sp>
        <p:sp>
          <p:nvSpPr>
            <p:cNvPr id="34" name="Text 32">
              <a:extLst>
                <a:ext uri="{FF2B5EF4-FFF2-40B4-BE49-F238E27FC236}">
                  <a16:creationId xmlns:a16="http://schemas.microsoft.com/office/drawing/2014/main" id="{CE201EC5-B2F4-3153-A5BD-B26F8647F63D}"/>
                </a:ext>
              </a:extLst>
            </p:cNvPr>
            <p:cNvSpPr/>
            <p:nvPr/>
          </p:nvSpPr>
          <p:spPr>
            <a:xfrm>
              <a:off x="1993392" y="5230368"/>
              <a:ext cx="9326880" cy="795528"/>
            </a:xfrm>
            <a:prstGeom prst="rect">
              <a:avLst/>
            </a:prstGeom>
            <a:noFill/>
            <a:ln/>
          </p:spPr>
          <p:txBody>
            <a:bodyPr wrap="square" lIns="381" tIns="381" rIns="381" bIns="381" rtlCol="0" anchor="ctr"/>
            <a:lstStyle/>
            <a:p>
              <a:pPr marL="177800" indent="-177800">
                <a:buSzPct val="100000"/>
                <a:buChar char="•"/>
              </a:pPr>
              <a:r>
                <a:rPr lang="en-US" sz="1100" dirty="0">
                  <a:solidFill>
                    <a:srgbClr val="111827"/>
                  </a:solidFill>
                </a:rPr>
                <a:t>Walk left to right through the diagram and explain the most important design decision.</a:t>
              </a:r>
              <a:endParaRPr lang="en-US" sz="1100" dirty="0"/>
            </a:p>
            <a:p>
              <a:pPr marL="177800" indent="-177800">
                <a:buSzPct val="100000"/>
                <a:buChar char="•"/>
              </a:pPr>
              <a:r>
                <a:rPr lang="en-US" sz="1100" dirty="0">
                  <a:solidFill>
                    <a:srgbClr val="111827"/>
                  </a:solidFill>
                </a:rPr>
                <a:t>Mention one constraint, test or fallback that demonstrates engineering depth.</a:t>
              </a:r>
              <a:endParaRPr lang="en-US" sz="1100" dirty="0"/>
            </a:p>
          </p:txBody>
        </p:sp>
      </p:grpSp>
      <p:sp>
        <p:nvSpPr>
          <p:cNvPr id="35" name="Slide Number Placeholder 0">
            <a:extLst>
              <a:ext uri="{FF2B5EF4-FFF2-40B4-BE49-F238E27FC236}">
                <a16:creationId xmlns:a16="http://schemas.microsoft.com/office/drawing/2014/main" id="{F7E2D82D-0BB9-C325-982D-2E558A022841}"/>
              </a:ext>
            </a:extLst>
          </p:cNvPr>
          <p:cNvSpPr txBox="1">
            <a:spLocks/>
          </p:cNvSpPr>
          <p:nvPr/>
        </p:nvSpPr>
        <p:spPr>
          <a:xfrm>
            <a:off x="11731752" y="6510528"/>
            <a:ext cx="228600" cy="146304"/>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800" kern="1200">
                <a:solidFill>
                  <a:srgbClr val="8A96A3"/>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5</a:t>
            </a:fld>
            <a:endParaRPr lang="en-US"/>
          </a:p>
        </p:txBody>
      </p:sp>
    </p:spTree>
    <p:extLst>
      <p:ext uri="{BB962C8B-B14F-4D97-AF65-F5344CB8AC3E}">
        <p14:creationId xmlns:p14="http://schemas.microsoft.com/office/powerpoint/2010/main" val="1531607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0083E88-70F7-CA62-AE05-4BFEBB0BFC2C}"/>
              </a:ext>
            </a:extLst>
          </p:cNvPr>
          <p:cNvSpPr/>
          <p:nvPr/>
        </p:nvSpPr>
        <p:spPr>
          <a:xfrm>
            <a:off x="475488" y="256032"/>
            <a:ext cx="8869680" cy="347472"/>
          </a:xfrm>
          <a:prstGeom prst="rect">
            <a:avLst/>
          </a:prstGeom>
          <a:noFill/>
          <a:ln/>
        </p:spPr>
        <p:txBody>
          <a:bodyPr wrap="square" lIns="0" tIns="0" rIns="0" bIns="0" rtlCol="0" anchor="ctr"/>
          <a:lstStyle/>
          <a:p>
            <a:pPr marL="0" indent="0">
              <a:buNone/>
            </a:pPr>
            <a:r>
              <a:rPr lang="en-US" sz="2400" dirty="0">
                <a:solidFill>
                  <a:srgbClr val="111827"/>
                </a:solidFill>
                <a:latin typeface="Aptos Display" pitchFamily="34" charset="0"/>
                <a:ea typeface="Aptos Display" pitchFamily="34" charset="-122"/>
                <a:cs typeface="Aptos Display" pitchFamily="34" charset="-120"/>
              </a:rPr>
              <a:t>AI Usage &amp; Innovation</a:t>
            </a:r>
            <a:endParaRPr lang="en-US" sz="2400" dirty="0"/>
          </a:p>
        </p:txBody>
      </p:sp>
      <p:sp>
        <p:nvSpPr>
          <p:cNvPr id="3" name="Text 1">
            <a:extLst>
              <a:ext uri="{FF2B5EF4-FFF2-40B4-BE49-F238E27FC236}">
                <a16:creationId xmlns:a16="http://schemas.microsoft.com/office/drawing/2014/main" id="{427B73A9-2566-B743-B014-B875767223F0}"/>
              </a:ext>
            </a:extLst>
          </p:cNvPr>
          <p:cNvSpPr/>
          <p:nvPr/>
        </p:nvSpPr>
        <p:spPr>
          <a:xfrm>
            <a:off x="475488" y="658368"/>
            <a:ext cx="8823960" cy="219456"/>
          </a:xfrm>
          <a:prstGeom prst="rect">
            <a:avLst/>
          </a:prstGeom>
          <a:noFill/>
          <a:ln/>
        </p:spPr>
        <p:txBody>
          <a:bodyPr wrap="square" lIns="0" tIns="0" rIns="0" bIns="0" rtlCol="0" anchor="ctr"/>
          <a:lstStyle/>
          <a:p>
            <a:pPr marL="0" indent="0">
              <a:buNone/>
            </a:pPr>
            <a:r>
              <a:rPr lang="en-US" sz="1050" dirty="0">
                <a:solidFill>
                  <a:srgbClr val="5B6573"/>
                </a:solidFill>
              </a:rPr>
              <a:t>Demonstrate meaningful AI use, not AI added only for appearance.</a:t>
            </a:r>
            <a:endParaRPr lang="en-US" sz="1050" dirty="0"/>
          </a:p>
        </p:txBody>
      </p:sp>
      <p:sp>
        <p:nvSpPr>
          <p:cNvPr id="5" name="Text 3">
            <a:extLst>
              <a:ext uri="{FF2B5EF4-FFF2-40B4-BE49-F238E27FC236}">
                <a16:creationId xmlns:a16="http://schemas.microsoft.com/office/drawing/2014/main" id="{C55C909D-A0E0-EA5E-27F8-6FE7B4FC5003}"/>
              </a:ext>
            </a:extLst>
          </p:cNvPr>
          <p:cNvSpPr/>
          <p:nvPr/>
        </p:nvSpPr>
        <p:spPr>
          <a:xfrm>
            <a:off x="9875520" y="704088"/>
            <a:ext cx="1737360" cy="128016"/>
          </a:xfrm>
          <a:prstGeom prst="rect">
            <a:avLst/>
          </a:prstGeom>
          <a:noFill/>
          <a:ln/>
        </p:spPr>
        <p:txBody>
          <a:bodyPr wrap="square" lIns="0" tIns="0" rIns="0" bIns="0" rtlCol="0" anchor="ctr"/>
          <a:lstStyle/>
          <a:p>
            <a:pPr marL="0" indent="0" algn="ctr">
              <a:buNone/>
            </a:pPr>
            <a:r>
              <a:rPr lang="en-US" sz="850" b="1" dirty="0">
                <a:solidFill>
                  <a:srgbClr val="FFFFFF"/>
                </a:solidFill>
              </a:rPr>
              <a:t>SUGGESTED TIME  0:45</a:t>
            </a:r>
            <a:endParaRPr lang="en-US" sz="850" dirty="0"/>
          </a:p>
        </p:txBody>
      </p:sp>
      <p:sp>
        <p:nvSpPr>
          <p:cNvPr id="7" name="Shape 5">
            <a:extLst>
              <a:ext uri="{FF2B5EF4-FFF2-40B4-BE49-F238E27FC236}">
                <a16:creationId xmlns:a16="http://schemas.microsoft.com/office/drawing/2014/main" id="{AB0320BF-4576-44DC-008E-7170FC5D54B6}"/>
              </a:ext>
            </a:extLst>
          </p:cNvPr>
          <p:cNvSpPr/>
          <p:nvPr/>
        </p:nvSpPr>
        <p:spPr>
          <a:xfrm>
            <a:off x="548640" y="1097280"/>
            <a:ext cx="6565392" cy="822960"/>
          </a:xfrm>
          <a:prstGeom prst="roundRect">
            <a:avLst>
              <a:gd name="adj" fmla="val 5556"/>
            </a:avLst>
          </a:prstGeom>
          <a:solidFill>
            <a:srgbClr val="FFFFFF"/>
          </a:solidFill>
          <a:ln w="12700">
            <a:solidFill>
              <a:srgbClr val="DCE5EC"/>
            </a:solidFill>
            <a:prstDash val="solid"/>
          </a:ln>
          <a:effectLst/>
        </p:spPr>
        <p:txBody>
          <a:bodyPr/>
          <a:lstStyle/>
          <a:p>
            <a:endParaRPr lang="en-US"/>
          </a:p>
        </p:txBody>
      </p:sp>
      <p:sp>
        <p:nvSpPr>
          <p:cNvPr id="8" name="Text 6">
            <a:extLst>
              <a:ext uri="{FF2B5EF4-FFF2-40B4-BE49-F238E27FC236}">
                <a16:creationId xmlns:a16="http://schemas.microsoft.com/office/drawing/2014/main" id="{A71FA962-3E84-81BE-E032-5CA447B1776D}"/>
              </a:ext>
            </a:extLst>
          </p:cNvPr>
          <p:cNvSpPr/>
          <p:nvPr/>
        </p:nvSpPr>
        <p:spPr>
          <a:xfrm>
            <a:off x="713232" y="1225296"/>
            <a:ext cx="6236208" cy="164592"/>
          </a:xfrm>
          <a:prstGeom prst="rect">
            <a:avLst/>
          </a:prstGeom>
          <a:noFill/>
          <a:ln/>
        </p:spPr>
        <p:txBody>
          <a:bodyPr wrap="square" lIns="0" tIns="0" rIns="0" bIns="0" rtlCol="0" anchor="ctr"/>
          <a:lstStyle/>
          <a:p>
            <a:pPr marL="0" indent="0">
              <a:buNone/>
            </a:pPr>
            <a:r>
              <a:rPr lang="en-US" sz="850" b="1" kern="0" spc="70" dirty="0">
                <a:solidFill>
                  <a:srgbClr val="5417A8"/>
                </a:solidFill>
              </a:rPr>
              <a:t>AI CAPABILITY USED</a:t>
            </a:r>
            <a:endParaRPr lang="en-US" sz="850" dirty="0"/>
          </a:p>
        </p:txBody>
      </p:sp>
      <p:sp>
        <p:nvSpPr>
          <p:cNvPr id="9" name="Text 7">
            <a:extLst>
              <a:ext uri="{FF2B5EF4-FFF2-40B4-BE49-F238E27FC236}">
                <a16:creationId xmlns:a16="http://schemas.microsoft.com/office/drawing/2014/main" id="{9477DE1A-2424-E361-E905-AE829023E9C0}"/>
              </a:ext>
            </a:extLst>
          </p:cNvPr>
          <p:cNvSpPr/>
          <p:nvPr/>
        </p:nvSpPr>
        <p:spPr>
          <a:xfrm>
            <a:off x="713232" y="1490472"/>
            <a:ext cx="6236208" cy="310896"/>
          </a:xfrm>
          <a:prstGeom prst="rect">
            <a:avLst/>
          </a:prstGeom>
          <a:noFill/>
          <a:ln/>
        </p:spPr>
        <p:txBody>
          <a:bodyPr wrap="square" lIns="36576" tIns="36576" rIns="36576" bIns="36576" rtlCol="0" anchor="ctr">
            <a:normAutofit fontScale="62500" lnSpcReduction="20000"/>
          </a:bodyPr>
          <a:lstStyle/>
          <a:p>
            <a:pPr algn="l"/>
            <a:r>
              <a:rPr sz="1000" b="0">
                <a:solidFill>
                  <a:srgbClr val="0F172A"/>
                </a:solidFill>
                <a:latin typeface="Aptos"/>
              </a:rPr>
              <a:t>Hardware-accelerated LLM on Qualcomm Cloud AI (Cirrascale Inference Suite)</a:t>
            </a:r>
          </a:p>
          <a:p>
            <a:pPr algn="l"/>
            <a:r>
              <a:rPr sz="1000" b="0">
                <a:solidFill>
                  <a:srgbClr val="0F172A"/>
                </a:solidFill>
                <a:latin typeface="Aptos"/>
              </a:rPr>
              <a:t>• Models: DeepSeek-R1-Distill-Llama-70B &amp; Llama-3.1-8B</a:t>
            </a:r>
          </a:p>
        </p:txBody>
      </p:sp>
      <p:sp>
        <p:nvSpPr>
          <p:cNvPr id="10" name="Shape 8">
            <a:extLst>
              <a:ext uri="{FF2B5EF4-FFF2-40B4-BE49-F238E27FC236}">
                <a16:creationId xmlns:a16="http://schemas.microsoft.com/office/drawing/2014/main" id="{9DE2606D-4FB8-66AE-31AE-BBCD9ED07D14}"/>
              </a:ext>
            </a:extLst>
          </p:cNvPr>
          <p:cNvSpPr/>
          <p:nvPr/>
        </p:nvSpPr>
        <p:spPr>
          <a:xfrm>
            <a:off x="7333488" y="1097280"/>
            <a:ext cx="4041648" cy="822960"/>
          </a:xfrm>
          <a:prstGeom prst="roundRect">
            <a:avLst>
              <a:gd name="adj" fmla="val 5556"/>
            </a:avLst>
          </a:prstGeom>
          <a:solidFill>
            <a:srgbClr val="FFFFFF"/>
          </a:solidFill>
          <a:ln w="12700">
            <a:solidFill>
              <a:srgbClr val="DCE5EC"/>
            </a:solidFill>
            <a:prstDash val="solid"/>
          </a:ln>
          <a:effectLst/>
        </p:spPr>
        <p:txBody>
          <a:bodyPr/>
          <a:lstStyle/>
          <a:p>
            <a:endParaRPr lang="en-US"/>
          </a:p>
        </p:txBody>
      </p:sp>
      <p:sp>
        <p:nvSpPr>
          <p:cNvPr id="11" name="Text 9">
            <a:extLst>
              <a:ext uri="{FF2B5EF4-FFF2-40B4-BE49-F238E27FC236}">
                <a16:creationId xmlns:a16="http://schemas.microsoft.com/office/drawing/2014/main" id="{9A39E1F4-7B4A-2571-33FD-03D81EE95CD4}"/>
              </a:ext>
            </a:extLst>
          </p:cNvPr>
          <p:cNvSpPr/>
          <p:nvPr/>
        </p:nvSpPr>
        <p:spPr>
          <a:xfrm>
            <a:off x="7498080" y="1225296"/>
            <a:ext cx="4041648" cy="164592"/>
          </a:xfrm>
          <a:prstGeom prst="rect">
            <a:avLst/>
          </a:prstGeom>
          <a:noFill/>
          <a:ln/>
        </p:spPr>
        <p:txBody>
          <a:bodyPr wrap="square" lIns="0" tIns="0" rIns="0" bIns="0" rtlCol="0" anchor="ctr"/>
          <a:lstStyle/>
          <a:p>
            <a:pPr marL="0" indent="0">
              <a:buNone/>
            </a:pPr>
            <a:r>
              <a:rPr lang="en-US" sz="850" b="1" kern="0" spc="70" dirty="0">
                <a:solidFill>
                  <a:srgbClr val="F28C28"/>
                </a:solidFill>
              </a:rPr>
              <a:t>INNOVATION / DIFFERENTIATION</a:t>
            </a:r>
            <a:endParaRPr lang="en-US" sz="850" dirty="0"/>
          </a:p>
        </p:txBody>
      </p:sp>
      <p:sp>
        <p:nvSpPr>
          <p:cNvPr id="12" name="Text 10">
            <a:extLst>
              <a:ext uri="{FF2B5EF4-FFF2-40B4-BE49-F238E27FC236}">
                <a16:creationId xmlns:a16="http://schemas.microsoft.com/office/drawing/2014/main" id="{E70AF57C-9B6F-28FF-2071-1C1D8F02182C}"/>
              </a:ext>
            </a:extLst>
          </p:cNvPr>
          <p:cNvSpPr/>
          <p:nvPr/>
        </p:nvSpPr>
        <p:spPr>
          <a:xfrm>
            <a:off x="7498080" y="1490472"/>
            <a:ext cx="4041648" cy="310896"/>
          </a:xfrm>
          <a:prstGeom prst="rect">
            <a:avLst/>
          </a:prstGeom>
          <a:noFill/>
          <a:ln/>
        </p:spPr>
        <p:txBody>
          <a:bodyPr wrap="square" lIns="36576" tIns="36576" rIns="36576" bIns="36576" rtlCol="0" anchor="ctr">
            <a:normAutofit/>
          </a:bodyPr>
          <a:lstStyle/>
          <a:p>
            <a:pPr algn="l"/>
            <a:r>
              <a:rPr sz="900" b="0">
                <a:solidFill>
                  <a:srgbClr val="0F172A"/>
                </a:solidFill>
                <a:latin typeface="Aptos"/>
              </a:rPr>
              <a:t>Dual-Layer Hybrid Intelligence: Qualcomm LLM extraction enforced by 6 Strict Rules, paired with deterministic Python auditing to eliminate hallucinations.</a:t>
            </a:r>
          </a:p>
        </p:txBody>
      </p:sp>
      <p:sp>
        <p:nvSpPr>
          <p:cNvPr id="13" name="Shape 11">
            <a:extLst>
              <a:ext uri="{FF2B5EF4-FFF2-40B4-BE49-F238E27FC236}">
                <a16:creationId xmlns:a16="http://schemas.microsoft.com/office/drawing/2014/main" id="{625D3005-099E-9478-831C-E9C6F3ABC6F4}"/>
              </a:ext>
            </a:extLst>
          </p:cNvPr>
          <p:cNvSpPr/>
          <p:nvPr/>
        </p:nvSpPr>
        <p:spPr>
          <a:xfrm>
            <a:off x="548640" y="2194560"/>
            <a:ext cx="5358384" cy="1033272"/>
          </a:xfrm>
          <a:prstGeom prst="roundRect">
            <a:avLst>
              <a:gd name="adj" fmla="val 4425"/>
            </a:avLst>
          </a:prstGeom>
          <a:solidFill>
            <a:srgbClr val="EAF7FD"/>
          </a:solidFill>
          <a:ln w="12700">
            <a:solidFill>
              <a:srgbClr val="007CC3"/>
            </a:solidFill>
            <a:prstDash val="solid"/>
          </a:ln>
        </p:spPr>
        <p:txBody>
          <a:bodyPr/>
          <a:lstStyle/>
          <a:p>
            <a:endParaRPr lang="en-US"/>
          </a:p>
        </p:txBody>
      </p:sp>
      <p:sp>
        <p:nvSpPr>
          <p:cNvPr id="14" name="Text 12">
            <a:extLst>
              <a:ext uri="{FF2B5EF4-FFF2-40B4-BE49-F238E27FC236}">
                <a16:creationId xmlns:a16="http://schemas.microsoft.com/office/drawing/2014/main" id="{B1BDEBF7-3C23-C854-55C0-A36818548845}"/>
              </a:ext>
            </a:extLst>
          </p:cNvPr>
          <p:cNvSpPr/>
          <p:nvPr/>
        </p:nvSpPr>
        <p:spPr>
          <a:xfrm>
            <a:off x="731520" y="2359152"/>
            <a:ext cx="1335024" cy="182880"/>
          </a:xfrm>
          <a:prstGeom prst="rect">
            <a:avLst/>
          </a:prstGeom>
          <a:noFill/>
          <a:ln/>
        </p:spPr>
        <p:txBody>
          <a:bodyPr wrap="square" lIns="0" tIns="0" rIns="0" bIns="0" rtlCol="0" anchor="ctr"/>
          <a:lstStyle/>
          <a:p>
            <a:pPr marL="0" indent="0">
              <a:buNone/>
            </a:pPr>
            <a:r>
              <a:rPr lang="en-US" sz="900" b="1" kern="0" spc="80" dirty="0">
                <a:solidFill>
                  <a:srgbClr val="007CC3"/>
                </a:solidFill>
              </a:rPr>
              <a:t>AI ROLE</a:t>
            </a:r>
            <a:endParaRPr lang="en-US" sz="900" dirty="0"/>
          </a:p>
        </p:txBody>
      </p:sp>
      <p:sp>
        <p:nvSpPr>
          <p:cNvPr id="15" name="Text 13">
            <a:extLst>
              <a:ext uri="{FF2B5EF4-FFF2-40B4-BE49-F238E27FC236}">
                <a16:creationId xmlns:a16="http://schemas.microsoft.com/office/drawing/2014/main" id="{02136FE3-12A6-3BAF-937A-81862D7B9BF5}"/>
              </a:ext>
            </a:extLst>
          </p:cNvPr>
          <p:cNvSpPr/>
          <p:nvPr/>
        </p:nvSpPr>
        <p:spPr>
          <a:xfrm>
            <a:off x="2121408" y="2322576"/>
            <a:ext cx="3566160" cy="612648"/>
          </a:xfrm>
          <a:prstGeom prst="rect">
            <a:avLst/>
          </a:prstGeom>
          <a:noFill/>
          <a:ln/>
        </p:spPr>
        <p:txBody>
          <a:bodyPr wrap="square" lIns="36576" tIns="36576" rIns="36576" bIns="36576" rtlCol="0" anchor="ctr">
            <a:normAutofit/>
          </a:bodyPr>
          <a:lstStyle/>
          <a:p>
            <a:pPr algn="l"/>
            <a:r>
              <a:rPr sz="900" b="0">
                <a:solidFill>
                  <a:srgbClr val="0F172A"/>
                </a:solidFill>
                <a:latin typeface="Aptos"/>
              </a:rPr>
              <a:t>Semantic extraction of actionable tasks, isolation of confirmed decisions vs tentative proposals, and verbatim citation grounding.</a:t>
            </a:r>
          </a:p>
        </p:txBody>
      </p:sp>
      <p:sp>
        <p:nvSpPr>
          <p:cNvPr id="16" name="Shape 14">
            <a:extLst>
              <a:ext uri="{FF2B5EF4-FFF2-40B4-BE49-F238E27FC236}">
                <a16:creationId xmlns:a16="http://schemas.microsoft.com/office/drawing/2014/main" id="{D2541D1A-B196-3DE4-651B-3E516AF80947}"/>
              </a:ext>
            </a:extLst>
          </p:cNvPr>
          <p:cNvSpPr/>
          <p:nvPr/>
        </p:nvSpPr>
        <p:spPr>
          <a:xfrm>
            <a:off x="6126480" y="2194560"/>
            <a:ext cx="5358384" cy="1033272"/>
          </a:xfrm>
          <a:prstGeom prst="roundRect">
            <a:avLst>
              <a:gd name="adj" fmla="val 4425"/>
            </a:avLst>
          </a:prstGeom>
          <a:solidFill>
            <a:srgbClr val="F3EEFC"/>
          </a:solidFill>
          <a:ln w="12700">
            <a:solidFill>
              <a:srgbClr val="5417A8"/>
            </a:solidFill>
            <a:prstDash val="solid"/>
          </a:ln>
        </p:spPr>
        <p:txBody>
          <a:bodyPr/>
          <a:lstStyle/>
          <a:p>
            <a:endParaRPr lang="en-US"/>
          </a:p>
        </p:txBody>
      </p:sp>
      <p:sp>
        <p:nvSpPr>
          <p:cNvPr id="17" name="Text 15">
            <a:extLst>
              <a:ext uri="{FF2B5EF4-FFF2-40B4-BE49-F238E27FC236}">
                <a16:creationId xmlns:a16="http://schemas.microsoft.com/office/drawing/2014/main" id="{9C81BA97-A912-BF86-22A9-6DEE773C8CEE}"/>
              </a:ext>
            </a:extLst>
          </p:cNvPr>
          <p:cNvSpPr/>
          <p:nvPr/>
        </p:nvSpPr>
        <p:spPr>
          <a:xfrm>
            <a:off x="6309360" y="2359152"/>
            <a:ext cx="1335024" cy="182880"/>
          </a:xfrm>
          <a:prstGeom prst="rect">
            <a:avLst/>
          </a:prstGeom>
          <a:noFill/>
          <a:ln/>
        </p:spPr>
        <p:txBody>
          <a:bodyPr wrap="square" lIns="0" tIns="0" rIns="0" bIns="0" rtlCol="0" anchor="ctr"/>
          <a:lstStyle/>
          <a:p>
            <a:pPr marL="0" indent="0">
              <a:buNone/>
            </a:pPr>
            <a:r>
              <a:rPr lang="en-US" sz="900" b="1" kern="0" spc="80" dirty="0">
                <a:solidFill>
                  <a:srgbClr val="5417A8"/>
                </a:solidFill>
              </a:rPr>
              <a:t>INPUT &amp; MODEL</a:t>
            </a:r>
            <a:endParaRPr lang="en-US" sz="900" dirty="0"/>
          </a:p>
        </p:txBody>
      </p:sp>
      <p:sp>
        <p:nvSpPr>
          <p:cNvPr id="18" name="Text 16">
            <a:extLst>
              <a:ext uri="{FF2B5EF4-FFF2-40B4-BE49-F238E27FC236}">
                <a16:creationId xmlns:a16="http://schemas.microsoft.com/office/drawing/2014/main" id="{29921B6C-8162-664F-1834-EEB6928463BF}"/>
              </a:ext>
            </a:extLst>
          </p:cNvPr>
          <p:cNvSpPr/>
          <p:nvPr/>
        </p:nvSpPr>
        <p:spPr>
          <a:xfrm>
            <a:off x="7699248" y="2231136"/>
            <a:ext cx="3566160" cy="960120"/>
          </a:xfrm>
          <a:prstGeom prst="rect">
            <a:avLst/>
          </a:prstGeom>
          <a:noFill/>
          <a:ln/>
        </p:spPr>
        <p:txBody>
          <a:bodyPr wrap="square" lIns="36576" tIns="36576" rIns="36576" bIns="36576" rtlCol="0" anchor="ctr">
            <a:normAutofit/>
          </a:bodyPr>
          <a:lstStyle/>
          <a:p>
            <a:pPr algn="l"/>
            <a:r>
              <a:rPr sz="720" b="0">
                <a:solidFill>
                  <a:srgbClr val="0F172A"/>
                </a:solidFill>
                <a:latin typeface="Aptos"/>
              </a:rPr>
              <a:t>Qualcomm Cloud AI (DeepSeek-R1-70B) via 6 Strict Rules:</a:t>
            </a:r>
          </a:p>
          <a:p>
            <a:pPr algn="l"/>
            <a:r>
              <a:rPr sz="720" b="0">
                <a:solidFill>
                  <a:srgbClr val="0F172A"/>
                </a:solidFill>
                <a:latin typeface="Aptos"/>
              </a:rPr>
              <a:t>1. Strict Accuracy: Null if missing, never guess dates</a:t>
            </a:r>
          </a:p>
          <a:p>
            <a:pPr algn="l"/>
            <a:r>
              <a:rPr sz="720" b="0">
                <a:solidFill>
                  <a:srgbClr val="0F172A"/>
                </a:solidFill>
                <a:latin typeface="Aptos"/>
              </a:rPr>
              <a:t>2. Confirmed vs Tentative: Separate proposals &amp; decisions</a:t>
            </a:r>
          </a:p>
          <a:p>
            <a:pPr algn="l"/>
            <a:r>
              <a:rPr sz="720" b="0">
                <a:solidFill>
                  <a:srgbClr val="0F172A"/>
                </a:solidFill>
                <a:latin typeface="Aptos"/>
              </a:rPr>
              <a:t>3. Vague Commitments: Flag 'soon'/'next week' with alerts</a:t>
            </a:r>
          </a:p>
          <a:p>
            <a:pPr algn="l"/>
            <a:r>
              <a:rPr sz="720" b="0">
                <a:solidFill>
                  <a:srgbClr val="0F172A"/>
                </a:solidFill>
                <a:latin typeface="Aptos"/>
              </a:rPr>
              <a:t>4. Verbatim Citations: Exact quote required for all items</a:t>
            </a:r>
          </a:p>
          <a:p>
            <a:pPr algn="l"/>
            <a:r>
              <a:rPr sz="720" b="0">
                <a:solidFill>
                  <a:srgbClr val="0F172A"/>
                </a:solidFill>
                <a:latin typeface="Aptos"/>
              </a:rPr>
              <a:t>5. Confidence Scoring: 0.0-1.0 indicative certainty signal</a:t>
            </a:r>
          </a:p>
          <a:p>
            <a:pPr algn="l"/>
            <a:r>
              <a:rPr sz="720" b="0">
                <a:solidFill>
                  <a:srgbClr val="0F172A"/>
                </a:solidFill>
                <a:latin typeface="Aptos"/>
              </a:rPr>
              <a:t>6. Reasoning Conciseness: &lt;50 words (slashes latency to 25s)</a:t>
            </a:r>
          </a:p>
        </p:txBody>
      </p:sp>
      <p:sp>
        <p:nvSpPr>
          <p:cNvPr id="19" name="Shape 17">
            <a:extLst>
              <a:ext uri="{FF2B5EF4-FFF2-40B4-BE49-F238E27FC236}">
                <a16:creationId xmlns:a16="http://schemas.microsoft.com/office/drawing/2014/main" id="{A4A2DD8C-DD2D-F12D-5910-ED29B2FE1A09}"/>
              </a:ext>
            </a:extLst>
          </p:cNvPr>
          <p:cNvSpPr/>
          <p:nvPr/>
        </p:nvSpPr>
        <p:spPr>
          <a:xfrm>
            <a:off x="548640" y="3493008"/>
            <a:ext cx="5358384" cy="1033272"/>
          </a:xfrm>
          <a:prstGeom prst="roundRect">
            <a:avLst>
              <a:gd name="adj" fmla="val 4425"/>
            </a:avLst>
          </a:prstGeom>
          <a:solidFill>
            <a:srgbClr val="FFF4E8"/>
          </a:solidFill>
          <a:ln w="12700">
            <a:solidFill>
              <a:srgbClr val="F28C28"/>
            </a:solidFill>
            <a:prstDash val="solid"/>
          </a:ln>
        </p:spPr>
        <p:txBody>
          <a:bodyPr/>
          <a:lstStyle/>
          <a:p>
            <a:endParaRPr lang="en-US"/>
          </a:p>
        </p:txBody>
      </p:sp>
      <p:sp>
        <p:nvSpPr>
          <p:cNvPr id="20" name="Text 18">
            <a:extLst>
              <a:ext uri="{FF2B5EF4-FFF2-40B4-BE49-F238E27FC236}">
                <a16:creationId xmlns:a16="http://schemas.microsoft.com/office/drawing/2014/main" id="{B1749330-EA34-2AA5-7965-13FB7F9D9286}"/>
              </a:ext>
            </a:extLst>
          </p:cNvPr>
          <p:cNvSpPr/>
          <p:nvPr/>
        </p:nvSpPr>
        <p:spPr>
          <a:xfrm>
            <a:off x="731520" y="3657600"/>
            <a:ext cx="1335024" cy="182880"/>
          </a:xfrm>
          <a:prstGeom prst="rect">
            <a:avLst/>
          </a:prstGeom>
          <a:noFill/>
          <a:ln/>
        </p:spPr>
        <p:txBody>
          <a:bodyPr wrap="square" lIns="0" tIns="0" rIns="0" bIns="0" rtlCol="0" anchor="ctr"/>
          <a:lstStyle/>
          <a:p>
            <a:pPr marL="0" indent="0">
              <a:buNone/>
            </a:pPr>
            <a:r>
              <a:rPr lang="en-US" sz="900" b="1" kern="0" spc="80" dirty="0">
                <a:solidFill>
                  <a:srgbClr val="F28C28"/>
                </a:solidFill>
              </a:rPr>
              <a:t>QUALITY CHECK</a:t>
            </a:r>
            <a:endParaRPr lang="en-US" sz="900" dirty="0"/>
          </a:p>
        </p:txBody>
      </p:sp>
      <p:sp>
        <p:nvSpPr>
          <p:cNvPr id="21" name="Text 19">
            <a:extLst>
              <a:ext uri="{FF2B5EF4-FFF2-40B4-BE49-F238E27FC236}">
                <a16:creationId xmlns:a16="http://schemas.microsoft.com/office/drawing/2014/main" id="{D55B06EA-D753-EFE8-671F-C1F733EB2D2F}"/>
              </a:ext>
            </a:extLst>
          </p:cNvPr>
          <p:cNvSpPr/>
          <p:nvPr/>
        </p:nvSpPr>
        <p:spPr>
          <a:xfrm>
            <a:off x="2121408" y="3621024"/>
            <a:ext cx="3566160" cy="612648"/>
          </a:xfrm>
          <a:prstGeom prst="rect">
            <a:avLst/>
          </a:prstGeom>
          <a:noFill/>
          <a:ln/>
        </p:spPr>
        <p:txBody>
          <a:bodyPr wrap="square" lIns="36576" tIns="36576" rIns="36576" bIns="36576" rtlCol="0" anchor="ctr">
            <a:normAutofit/>
          </a:bodyPr>
          <a:lstStyle/>
          <a:p>
            <a:pPr algn="l"/>
            <a:r>
              <a:rPr sz="800" b="0">
                <a:solidFill>
                  <a:srgbClr val="0F172A"/>
                </a:solidFill>
                <a:latin typeface="Aptos"/>
              </a:rPr>
              <a:t>Quality &amp; Grounding Enforcement:</a:t>
            </a:r>
          </a:p>
          <a:p>
            <a:pPr algn="l"/>
            <a:r>
              <a:rPr sz="800" b="0">
                <a:solidFill>
                  <a:srgbClr val="0F172A"/>
                </a:solidFill>
                <a:latin typeface="Aptos"/>
              </a:rPr>
              <a:t>• Verbatim citations enforced for all tasks/decisions.</a:t>
            </a:r>
          </a:p>
          <a:p>
            <a:pPr algn="l"/>
            <a:r>
              <a:rPr sz="800" b="0">
                <a:solidFill>
                  <a:srgbClr val="0F172A"/>
                </a:solidFill>
                <a:latin typeface="Aptos"/>
              </a:rPr>
              <a:t>• Deterministic null-handling: zero invented owners or dates.</a:t>
            </a:r>
          </a:p>
          <a:p>
            <a:pPr algn="l"/>
            <a:r>
              <a:rPr sz="800" b="0">
                <a:solidFill>
                  <a:srgbClr val="0F172A"/>
                </a:solidFill>
                <a:latin typeface="Aptos"/>
              </a:rPr>
              <a:t>• Pydantic v2 schemas + 31 Pytest automated tests (100% pass).</a:t>
            </a:r>
          </a:p>
        </p:txBody>
      </p:sp>
      <p:sp>
        <p:nvSpPr>
          <p:cNvPr id="22" name="Shape 20">
            <a:extLst>
              <a:ext uri="{FF2B5EF4-FFF2-40B4-BE49-F238E27FC236}">
                <a16:creationId xmlns:a16="http://schemas.microsoft.com/office/drawing/2014/main" id="{B1ED7539-4D80-3DA4-A54B-371DE4CBE611}"/>
              </a:ext>
            </a:extLst>
          </p:cNvPr>
          <p:cNvSpPr/>
          <p:nvPr/>
        </p:nvSpPr>
        <p:spPr>
          <a:xfrm>
            <a:off x="6126480" y="3493008"/>
            <a:ext cx="5358384" cy="1033272"/>
          </a:xfrm>
          <a:prstGeom prst="roundRect">
            <a:avLst>
              <a:gd name="adj" fmla="val 4425"/>
            </a:avLst>
          </a:prstGeom>
          <a:solidFill>
            <a:srgbClr val="EFF7E9"/>
          </a:solidFill>
          <a:ln w="12700">
            <a:solidFill>
              <a:srgbClr val="63A845"/>
            </a:solidFill>
            <a:prstDash val="solid"/>
          </a:ln>
        </p:spPr>
        <p:txBody>
          <a:bodyPr/>
          <a:lstStyle/>
          <a:p>
            <a:endParaRPr lang="en-US"/>
          </a:p>
        </p:txBody>
      </p:sp>
      <p:sp>
        <p:nvSpPr>
          <p:cNvPr id="23" name="Text 21">
            <a:extLst>
              <a:ext uri="{FF2B5EF4-FFF2-40B4-BE49-F238E27FC236}">
                <a16:creationId xmlns:a16="http://schemas.microsoft.com/office/drawing/2014/main" id="{3C18B500-DD37-72C7-18AF-26BF71E98CBE}"/>
              </a:ext>
            </a:extLst>
          </p:cNvPr>
          <p:cNvSpPr/>
          <p:nvPr/>
        </p:nvSpPr>
        <p:spPr>
          <a:xfrm>
            <a:off x="6309360" y="3657600"/>
            <a:ext cx="1335024" cy="182880"/>
          </a:xfrm>
          <a:prstGeom prst="rect">
            <a:avLst/>
          </a:prstGeom>
          <a:noFill/>
          <a:ln/>
        </p:spPr>
        <p:txBody>
          <a:bodyPr wrap="square" lIns="0" tIns="0" rIns="0" bIns="0" rtlCol="0" anchor="ctr"/>
          <a:lstStyle/>
          <a:p>
            <a:pPr marL="0" indent="0">
              <a:buNone/>
            </a:pPr>
            <a:r>
              <a:rPr lang="en-US" sz="900" b="1" kern="0" spc="80" dirty="0">
                <a:solidFill>
                  <a:srgbClr val="63A845"/>
                </a:solidFill>
              </a:rPr>
              <a:t>VALUE CREATED</a:t>
            </a:r>
            <a:endParaRPr lang="en-US" sz="900" dirty="0"/>
          </a:p>
        </p:txBody>
      </p:sp>
      <p:sp>
        <p:nvSpPr>
          <p:cNvPr id="24" name="Text 22">
            <a:extLst>
              <a:ext uri="{FF2B5EF4-FFF2-40B4-BE49-F238E27FC236}">
                <a16:creationId xmlns:a16="http://schemas.microsoft.com/office/drawing/2014/main" id="{7C326B15-E05A-C924-5A52-BFA9E79A0C76}"/>
              </a:ext>
            </a:extLst>
          </p:cNvPr>
          <p:cNvSpPr/>
          <p:nvPr/>
        </p:nvSpPr>
        <p:spPr>
          <a:xfrm>
            <a:off x="7699248" y="3621024"/>
            <a:ext cx="3566160" cy="612648"/>
          </a:xfrm>
          <a:prstGeom prst="rect">
            <a:avLst/>
          </a:prstGeom>
          <a:noFill/>
          <a:ln/>
        </p:spPr>
        <p:txBody>
          <a:bodyPr wrap="square" lIns="36576" tIns="36576" rIns="36576" bIns="36576" rtlCol="0" anchor="ctr">
            <a:normAutofit/>
          </a:bodyPr>
          <a:lstStyle/>
          <a:p>
            <a:pPr algn="l"/>
            <a:r>
              <a:rPr sz="850" b="0">
                <a:solidFill>
                  <a:srgbClr val="0F172A"/>
                </a:solidFill>
                <a:latin typeface="Aptos"/>
              </a:rPr>
              <a:t>90% reduction in post-meeting triage time. Official Cirrascale unit economics: $0.00078 per meeting on 70B (&lt; 1/10th of a cent), costing &lt; $1.00/month for 1,000 enterprise meetings.</a:t>
            </a:r>
          </a:p>
        </p:txBody>
      </p:sp>
      <p:grpSp>
        <p:nvGrpSpPr>
          <p:cNvPr id="30" name="Group 29">
            <a:extLst>
              <a:ext uri="{FF2B5EF4-FFF2-40B4-BE49-F238E27FC236}">
                <a16:creationId xmlns:a16="http://schemas.microsoft.com/office/drawing/2014/main" id="{985829E1-6B93-F1D7-3CE8-A5CA27F8FECD}"/>
              </a:ext>
            </a:extLst>
          </p:cNvPr>
          <p:cNvGrpSpPr/>
          <p:nvPr/>
        </p:nvGrpSpPr>
        <p:grpSpPr>
          <a:xfrm>
            <a:off x="548640" y="4690872"/>
            <a:ext cx="10991088" cy="1120365"/>
            <a:chOff x="466344" y="4905531"/>
            <a:chExt cx="11237976" cy="1120365"/>
          </a:xfrm>
        </p:grpSpPr>
        <p:sp>
          <p:nvSpPr>
            <p:cNvPr id="25" name="Shape 23">
              <a:extLst>
                <a:ext uri="{FF2B5EF4-FFF2-40B4-BE49-F238E27FC236}">
                  <a16:creationId xmlns:a16="http://schemas.microsoft.com/office/drawing/2014/main" id="{A4E43D51-1B96-DC7B-F24F-EAE8EDC78953}"/>
                </a:ext>
              </a:extLst>
            </p:cNvPr>
            <p:cNvSpPr/>
            <p:nvPr/>
          </p:nvSpPr>
          <p:spPr>
            <a:xfrm>
              <a:off x="475488" y="4937760"/>
              <a:ext cx="11228832" cy="960120"/>
            </a:xfrm>
            <a:prstGeom prst="roundRect">
              <a:avLst>
                <a:gd name="adj" fmla="val 5714"/>
              </a:avLst>
            </a:prstGeom>
            <a:solidFill>
              <a:srgbClr val="F8FAFC"/>
            </a:solidFill>
            <a:ln w="12700">
              <a:solidFill>
                <a:srgbClr val="DCE5EC"/>
              </a:solidFill>
              <a:prstDash val="solid"/>
            </a:ln>
          </p:spPr>
          <p:txBody>
            <a:bodyPr/>
            <a:lstStyle/>
            <a:p>
              <a:endParaRPr lang="en-US"/>
            </a:p>
          </p:txBody>
        </p:sp>
        <p:sp>
          <p:nvSpPr>
            <p:cNvPr id="26" name="Shape 24">
              <a:extLst>
                <a:ext uri="{FF2B5EF4-FFF2-40B4-BE49-F238E27FC236}">
                  <a16:creationId xmlns:a16="http://schemas.microsoft.com/office/drawing/2014/main" id="{78932CB2-04C4-9119-FE7A-9815A0C9D929}"/>
                </a:ext>
              </a:extLst>
            </p:cNvPr>
            <p:cNvSpPr/>
            <p:nvPr/>
          </p:nvSpPr>
          <p:spPr>
            <a:xfrm>
              <a:off x="466344" y="4905531"/>
              <a:ext cx="82296" cy="960120"/>
            </a:xfrm>
            <a:prstGeom prst="rect">
              <a:avLst/>
            </a:prstGeom>
            <a:solidFill>
              <a:srgbClr val="F28C28"/>
            </a:solidFill>
            <a:ln w="12700">
              <a:solidFill>
                <a:srgbClr val="F28C28"/>
              </a:solidFill>
              <a:prstDash val="solid"/>
            </a:ln>
          </p:spPr>
          <p:txBody>
            <a:bodyPr/>
            <a:lstStyle/>
            <a:p>
              <a:endParaRPr lang="en-US"/>
            </a:p>
          </p:txBody>
        </p:sp>
        <p:sp>
          <p:nvSpPr>
            <p:cNvPr id="27" name="Text 25">
              <a:extLst>
                <a:ext uri="{FF2B5EF4-FFF2-40B4-BE49-F238E27FC236}">
                  <a16:creationId xmlns:a16="http://schemas.microsoft.com/office/drawing/2014/main" id="{1A5D14C5-8E1E-E916-6DA5-E3A2A3B3E825}"/>
                </a:ext>
              </a:extLst>
            </p:cNvPr>
            <p:cNvSpPr/>
            <p:nvPr/>
          </p:nvSpPr>
          <p:spPr>
            <a:xfrm>
              <a:off x="713232" y="5266944"/>
              <a:ext cx="960120" cy="164592"/>
            </a:xfrm>
            <a:prstGeom prst="rect">
              <a:avLst/>
            </a:prstGeom>
            <a:noFill/>
            <a:ln/>
          </p:spPr>
          <p:txBody>
            <a:bodyPr wrap="square" lIns="0" tIns="0" rIns="0" bIns="0" rtlCol="0" anchor="ctr"/>
            <a:lstStyle/>
            <a:p>
              <a:pPr marL="0" indent="0">
                <a:buNone/>
              </a:pPr>
              <a:r>
                <a:rPr lang="en-US" sz="900" b="1" kern="0" spc="70" dirty="0">
                  <a:solidFill>
                    <a:srgbClr val="F28C28"/>
                  </a:solidFill>
                </a:rPr>
                <a:t>WHAT TO SAY</a:t>
              </a:r>
              <a:endParaRPr lang="en-US" sz="900" dirty="0"/>
            </a:p>
          </p:txBody>
        </p:sp>
        <p:sp>
          <p:nvSpPr>
            <p:cNvPr id="28" name="Text 26">
              <a:extLst>
                <a:ext uri="{FF2B5EF4-FFF2-40B4-BE49-F238E27FC236}">
                  <a16:creationId xmlns:a16="http://schemas.microsoft.com/office/drawing/2014/main" id="{8E35749B-E88F-28FE-EAD4-28EF9504D9A7}"/>
                </a:ext>
              </a:extLst>
            </p:cNvPr>
            <p:cNvSpPr/>
            <p:nvPr/>
          </p:nvSpPr>
          <p:spPr>
            <a:xfrm>
              <a:off x="1993392" y="5230368"/>
              <a:ext cx="9326880" cy="795528"/>
            </a:xfrm>
            <a:prstGeom prst="rect">
              <a:avLst/>
            </a:prstGeom>
            <a:noFill/>
            <a:ln/>
          </p:spPr>
          <p:txBody>
            <a:bodyPr wrap="square" lIns="381" tIns="381" rIns="381" bIns="381" rtlCol="0" anchor="ctr"/>
            <a:lstStyle/>
            <a:p>
              <a:pPr marL="177800" indent="-177800">
                <a:buSzPct val="100000"/>
                <a:buChar char="•"/>
              </a:pPr>
              <a:r>
                <a:rPr lang="en-US" sz="1100" dirty="0">
                  <a:solidFill>
                    <a:srgbClr val="111827"/>
                  </a:solidFill>
                </a:rPr>
                <a:t>State exactly where AI is used and why a simpler rule-based approach is insufficient.</a:t>
              </a:r>
              <a:endParaRPr lang="en-US" sz="1100" dirty="0"/>
            </a:p>
            <a:p>
              <a:pPr marL="177800" indent="-177800">
                <a:buSzPct val="100000"/>
                <a:buChar char="•"/>
              </a:pPr>
              <a:r>
                <a:rPr lang="en-US" sz="1100" dirty="0">
                  <a:solidFill>
                    <a:srgbClr val="111827"/>
                  </a:solidFill>
                </a:rPr>
                <a:t>Be ready to explain data quality, reliability and what happens when AI is uncertain.</a:t>
              </a:r>
              <a:endParaRPr lang="en-US" sz="1100" dirty="0"/>
            </a:p>
          </p:txBody>
        </p:sp>
      </p:grpSp>
      <p:sp>
        <p:nvSpPr>
          <p:cNvPr id="29" name="Slide Number Placeholder 0">
            <a:extLst>
              <a:ext uri="{FF2B5EF4-FFF2-40B4-BE49-F238E27FC236}">
                <a16:creationId xmlns:a16="http://schemas.microsoft.com/office/drawing/2014/main" id="{1D029A2C-F19C-3F02-3469-DD4D706D2B00}"/>
              </a:ext>
            </a:extLst>
          </p:cNvPr>
          <p:cNvSpPr txBox="1">
            <a:spLocks/>
          </p:cNvSpPr>
          <p:nvPr/>
        </p:nvSpPr>
        <p:spPr>
          <a:xfrm>
            <a:off x="11731752" y="6510528"/>
            <a:ext cx="228600" cy="146304"/>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800" kern="1200">
                <a:solidFill>
                  <a:srgbClr val="8A96A3"/>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6</a:t>
            </a:fld>
            <a:endParaRPr lang="en-US"/>
          </a:p>
        </p:txBody>
      </p:sp>
    </p:spTree>
    <p:extLst>
      <p:ext uri="{BB962C8B-B14F-4D97-AF65-F5344CB8AC3E}">
        <p14:creationId xmlns:p14="http://schemas.microsoft.com/office/powerpoint/2010/main" val="3280116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5BDF586-71D9-9229-8097-D3089FBBF03E}"/>
              </a:ext>
            </a:extLst>
          </p:cNvPr>
          <p:cNvSpPr/>
          <p:nvPr/>
        </p:nvSpPr>
        <p:spPr>
          <a:xfrm>
            <a:off x="475488" y="256032"/>
            <a:ext cx="8869680" cy="347472"/>
          </a:xfrm>
          <a:prstGeom prst="rect">
            <a:avLst/>
          </a:prstGeom>
          <a:noFill/>
          <a:ln/>
        </p:spPr>
        <p:txBody>
          <a:bodyPr wrap="square" lIns="0" tIns="0" rIns="0" bIns="0" rtlCol="0" anchor="ctr"/>
          <a:lstStyle/>
          <a:p>
            <a:pPr marL="0" indent="0">
              <a:buNone/>
            </a:pPr>
            <a:r>
              <a:rPr lang="en-US" sz="2400" dirty="0">
                <a:solidFill>
                  <a:srgbClr val="111827"/>
                </a:solidFill>
                <a:latin typeface="Aptos Display" pitchFamily="34" charset="0"/>
                <a:ea typeface="Aptos Display" pitchFamily="34" charset="-122"/>
                <a:cs typeface="Aptos Display" pitchFamily="34" charset="-120"/>
              </a:rPr>
              <a:t>Future Enhancements, Scalability &amp; Security</a:t>
            </a:r>
            <a:endParaRPr lang="en-US" sz="2400" dirty="0"/>
          </a:p>
        </p:txBody>
      </p:sp>
      <p:sp>
        <p:nvSpPr>
          <p:cNvPr id="3" name="Text 1">
            <a:extLst>
              <a:ext uri="{FF2B5EF4-FFF2-40B4-BE49-F238E27FC236}">
                <a16:creationId xmlns:a16="http://schemas.microsoft.com/office/drawing/2014/main" id="{B751ECCD-D428-5559-65E2-C0C33FD0C25F}"/>
              </a:ext>
            </a:extLst>
          </p:cNvPr>
          <p:cNvSpPr/>
          <p:nvPr/>
        </p:nvSpPr>
        <p:spPr>
          <a:xfrm>
            <a:off x="475488" y="658368"/>
            <a:ext cx="8823960" cy="219456"/>
          </a:xfrm>
          <a:prstGeom prst="rect">
            <a:avLst/>
          </a:prstGeom>
          <a:noFill/>
          <a:ln/>
        </p:spPr>
        <p:txBody>
          <a:bodyPr wrap="square" lIns="0" tIns="0" rIns="0" bIns="0" rtlCol="0" anchor="ctr"/>
          <a:lstStyle/>
          <a:p>
            <a:pPr marL="0" indent="0">
              <a:buNone/>
            </a:pPr>
            <a:r>
              <a:rPr lang="en-US" sz="1050" dirty="0">
                <a:solidFill>
                  <a:srgbClr val="5B6573"/>
                </a:solidFill>
              </a:rPr>
              <a:t>Present a credible next-step roadmap and the safeguards considered.</a:t>
            </a:r>
            <a:endParaRPr lang="en-US" sz="1050" dirty="0"/>
          </a:p>
        </p:txBody>
      </p:sp>
      <p:sp>
        <p:nvSpPr>
          <p:cNvPr id="5" name="Text 3">
            <a:extLst>
              <a:ext uri="{FF2B5EF4-FFF2-40B4-BE49-F238E27FC236}">
                <a16:creationId xmlns:a16="http://schemas.microsoft.com/office/drawing/2014/main" id="{F862B695-A59D-0E83-5A72-834BAD7DB910}"/>
              </a:ext>
            </a:extLst>
          </p:cNvPr>
          <p:cNvSpPr/>
          <p:nvPr/>
        </p:nvSpPr>
        <p:spPr>
          <a:xfrm>
            <a:off x="9875520" y="704088"/>
            <a:ext cx="1737360" cy="128016"/>
          </a:xfrm>
          <a:prstGeom prst="rect">
            <a:avLst/>
          </a:prstGeom>
          <a:noFill/>
          <a:ln/>
        </p:spPr>
        <p:txBody>
          <a:bodyPr wrap="square" lIns="0" tIns="0" rIns="0" bIns="0" rtlCol="0" anchor="ctr"/>
          <a:lstStyle/>
          <a:p>
            <a:pPr marL="0" indent="0" algn="ctr">
              <a:buNone/>
            </a:pPr>
            <a:r>
              <a:rPr lang="en-US" sz="850" b="1" dirty="0">
                <a:solidFill>
                  <a:srgbClr val="FFFFFF"/>
                </a:solidFill>
              </a:rPr>
              <a:t>SUGGESTED TIME  0:35</a:t>
            </a:r>
            <a:endParaRPr lang="en-US" sz="850" dirty="0"/>
          </a:p>
        </p:txBody>
      </p:sp>
      <p:sp>
        <p:nvSpPr>
          <p:cNvPr id="7" name="Shape 5">
            <a:extLst>
              <a:ext uri="{FF2B5EF4-FFF2-40B4-BE49-F238E27FC236}">
                <a16:creationId xmlns:a16="http://schemas.microsoft.com/office/drawing/2014/main" id="{A49828B3-3E97-5779-FD97-F886A6DE30C8}"/>
              </a:ext>
            </a:extLst>
          </p:cNvPr>
          <p:cNvSpPr/>
          <p:nvPr/>
        </p:nvSpPr>
        <p:spPr>
          <a:xfrm>
            <a:off x="548640" y="1234440"/>
            <a:ext cx="3328416" cy="3328416"/>
          </a:xfrm>
          <a:prstGeom prst="roundRect">
            <a:avLst>
              <a:gd name="adj" fmla="val 1374"/>
            </a:avLst>
          </a:prstGeom>
          <a:solidFill>
            <a:srgbClr val="EAF7FD"/>
          </a:solidFill>
          <a:ln w="15240">
            <a:solidFill>
              <a:srgbClr val="007CC3"/>
            </a:solidFill>
            <a:prstDash val="solid"/>
          </a:ln>
          <a:effectLst/>
        </p:spPr>
        <p:txBody>
          <a:bodyPr/>
          <a:lstStyle/>
          <a:p>
            <a:endParaRPr lang="en-US"/>
          </a:p>
        </p:txBody>
      </p:sp>
      <p:sp>
        <p:nvSpPr>
          <p:cNvPr id="8" name="Text 6">
            <a:extLst>
              <a:ext uri="{FF2B5EF4-FFF2-40B4-BE49-F238E27FC236}">
                <a16:creationId xmlns:a16="http://schemas.microsoft.com/office/drawing/2014/main" id="{9F8A0B38-3599-241D-D380-A5865C95561F}"/>
              </a:ext>
            </a:extLst>
          </p:cNvPr>
          <p:cNvSpPr/>
          <p:nvPr/>
        </p:nvSpPr>
        <p:spPr>
          <a:xfrm>
            <a:off x="731520" y="1517904"/>
            <a:ext cx="2962656" cy="256032"/>
          </a:xfrm>
          <a:prstGeom prst="rect">
            <a:avLst/>
          </a:prstGeom>
          <a:noFill/>
          <a:ln/>
        </p:spPr>
        <p:txBody>
          <a:bodyPr wrap="square" lIns="0" tIns="0" rIns="0" bIns="0" rtlCol="0" anchor="ctr"/>
          <a:lstStyle/>
          <a:p>
            <a:pPr marL="0" indent="0" algn="ctr">
              <a:buNone/>
            </a:pPr>
            <a:r>
              <a:rPr lang="en-US" sz="1100" b="1" dirty="0">
                <a:solidFill>
                  <a:srgbClr val="007CC3"/>
                </a:solidFill>
              </a:rPr>
              <a:t>NEXT ENHANCEMENTS</a:t>
            </a:r>
            <a:endParaRPr lang="en-US" sz="1100" dirty="0"/>
          </a:p>
        </p:txBody>
      </p:sp>
      <p:sp>
        <p:nvSpPr>
          <p:cNvPr id="9" name="Shape 7">
            <a:extLst>
              <a:ext uri="{FF2B5EF4-FFF2-40B4-BE49-F238E27FC236}">
                <a16:creationId xmlns:a16="http://schemas.microsoft.com/office/drawing/2014/main" id="{AB58F033-E8D4-7743-A174-24673F83D777}"/>
              </a:ext>
            </a:extLst>
          </p:cNvPr>
          <p:cNvSpPr/>
          <p:nvPr/>
        </p:nvSpPr>
        <p:spPr>
          <a:xfrm>
            <a:off x="804672" y="2057400"/>
            <a:ext cx="274320" cy="274320"/>
          </a:xfrm>
          <a:prstGeom prst="ellipse">
            <a:avLst/>
          </a:prstGeom>
          <a:solidFill>
            <a:srgbClr val="007CC3"/>
          </a:solidFill>
          <a:ln w="12700">
            <a:solidFill>
              <a:srgbClr val="007CC3"/>
            </a:solidFill>
            <a:prstDash val="solid"/>
          </a:ln>
        </p:spPr>
        <p:txBody>
          <a:bodyPr/>
          <a:lstStyle/>
          <a:p>
            <a:endParaRPr lang="en-US"/>
          </a:p>
        </p:txBody>
      </p:sp>
      <p:sp>
        <p:nvSpPr>
          <p:cNvPr id="10" name="Text 8">
            <a:extLst>
              <a:ext uri="{FF2B5EF4-FFF2-40B4-BE49-F238E27FC236}">
                <a16:creationId xmlns:a16="http://schemas.microsoft.com/office/drawing/2014/main" id="{A12CF532-F321-8AB0-4FF1-868F2FDD3AC5}"/>
              </a:ext>
            </a:extLst>
          </p:cNvPr>
          <p:cNvSpPr/>
          <p:nvPr/>
        </p:nvSpPr>
        <p:spPr>
          <a:xfrm>
            <a:off x="804672" y="2121408"/>
            <a:ext cx="274320" cy="73152"/>
          </a:xfrm>
          <a:prstGeom prst="rect">
            <a:avLst/>
          </a:prstGeom>
          <a:noFill/>
          <a:ln/>
        </p:spPr>
        <p:txBody>
          <a:bodyPr wrap="square" lIns="0" tIns="0" rIns="0" bIns="0" rtlCol="0" anchor="ctr"/>
          <a:lstStyle/>
          <a:p>
            <a:pPr marL="0" indent="0" algn="ctr">
              <a:buNone/>
            </a:pPr>
            <a:r>
              <a:rPr lang="en-US" sz="750" b="1" dirty="0">
                <a:solidFill>
                  <a:srgbClr val="FFFFFF"/>
                </a:solidFill>
              </a:rPr>
              <a:t>1</a:t>
            </a:r>
            <a:endParaRPr lang="en-US" sz="750" dirty="0"/>
          </a:p>
        </p:txBody>
      </p:sp>
      <p:sp>
        <p:nvSpPr>
          <p:cNvPr id="11" name="Text 9">
            <a:extLst>
              <a:ext uri="{FF2B5EF4-FFF2-40B4-BE49-F238E27FC236}">
                <a16:creationId xmlns:a16="http://schemas.microsoft.com/office/drawing/2014/main" id="{46FA2070-0FA7-9D97-2294-792BC7D0BDE6}"/>
              </a:ext>
            </a:extLst>
          </p:cNvPr>
          <p:cNvSpPr/>
          <p:nvPr/>
        </p:nvSpPr>
        <p:spPr>
          <a:xfrm>
            <a:off x="1207008" y="2011680"/>
            <a:ext cx="2359152" cy="448056"/>
          </a:xfrm>
          <a:prstGeom prst="rect">
            <a:avLst/>
          </a:prstGeom>
          <a:noFill/>
          <a:ln/>
        </p:spPr>
        <p:txBody>
          <a:bodyPr wrap="square" lIns="36576" tIns="36576" rIns="36576" bIns="36576" rtlCol="0" anchor="ctr">
            <a:normAutofit/>
          </a:bodyPr>
          <a:lstStyle/>
          <a:p>
            <a:pPr algn="l"/>
            <a:r>
              <a:rPr sz="800" b="0">
                <a:solidFill>
                  <a:srgbClr val="0F172A"/>
                </a:solidFill>
                <a:latin typeface="Aptos"/>
              </a:rPr>
              <a:t>Google Meet &amp; MS Teams Pipeline: Zero-touch ingestion via Microsoft Graph &amp; Google Workspace APIs, plus local Whisper on Snapdragon X Elite NPU.</a:t>
            </a:r>
          </a:p>
        </p:txBody>
      </p:sp>
      <p:sp>
        <p:nvSpPr>
          <p:cNvPr id="12" name="Shape 10">
            <a:extLst>
              <a:ext uri="{FF2B5EF4-FFF2-40B4-BE49-F238E27FC236}">
                <a16:creationId xmlns:a16="http://schemas.microsoft.com/office/drawing/2014/main" id="{227D180F-D477-4BC2-3F0E-A4EA83FB1589}"/>
              </a:ext>
            </a:extLst>
          </p:cNvPr>
          <p:cNvSpPr/>
          <p:nvPr/>
        </p:nvSpPr>
        <p:spPr>
          <a:xfrm>
            <a:off x="804672" y="2807208"/>
            <a:ext cx="274320" cy="274320"/>
          </a:xfrm>
          <a:prstGeom prst="ellipse">
            <a:avLst/>
          </a:prstGeom>
          <a:solidFill>
            <a:srgbClr val="007CC3"/>
          </a:solidFill>
          <a:ln w="12700">
            <a:solidFill>
              <a:srgbClr val="007CC3"/>
            </a:solidFill>
            <a:prstDash val="solid"/>
          </a:ln>
        </p:spPr>
        <p:txBody>
          <a:bodyPr/>
          <a:lstStyle/>
          <a:p>
            <a:endParaRPr lang="en-US"/>
          </a:p>
        </p:txBody>
      </p:sp>
      <p:sp>
        <p:nvSpPr>
          <p:cNvPr id="13" name="Text 11">
            <a:extLst>
              <a:ext uri="{FF2B5EF4-FFF2-40B4-BE49-F238E27FC236}">
                <a16:creationId xmlns:a16="http://schemas.microsoft.com/office/drawing/2014/main" id="{3525CE00-3D5D-EF85-EB7B-867AB4B90E52}"/>
              </a:ext>
            </a:extLst>
          </p:cNvPr>
          <p:cNvSpPr/>
          <p:nvPr/>
        </p:nvSpPr>
        <p:spPr>
          <a:xfrm>
            <a:off x="804672" y="2871216"/>
            <a:ext cx="274320" cy="73152"/>
          </a:xfrm>
          <a:prstGeom prst="rect">
            <a:avLst/>
          </a:prstGeom>
          <a:noFill/>
          <a:ln/>
        </p:spPr>
        <p:txBody>
          <a:bodyPr wrap="square" lIns="0" tIns="0" rIns="0" bIns="0" rtlCol="0" anchor="ctr"/>
          <a:lstStyle/>
          <a:p>
            <a:pPr marL="0" indent="0" algn="ctr">
              <a:buNone/>
            </a:pPr>
            <a:r>
              <a:rPr lang="en-US" sz="750" b="1" dirty="0">
                <a:solidFill>
                  <a:srgbClr val="FFFFFF"/>
                </a:solidFill>
              </a:rPr>
              <a:t>2</a:t>
            </a:r>
            <a:endParaRPr lang="en-US" sz="750" dirty="0"/>
          </a:p>
        </p:txBody>
      </p:sp>
      <p:sp>
        <p:nvSpPr>
          <p:cNvPr id="14" name="Text 12">
            <a:extLst>
              <a:ext uri="{FF2B5EF4-FFF2-40B4-BE49-F238E27FC236}">
                <a16:creationId xmlns:a16="http://schemas.microsoft.com/office/drawing/2014/main" id="{7F1BE36D-EE88-F1E9-0499-5B9B0311F210}"/>
              </a:ext>
            </a:extLst>
          </p:cNvPr>
          <p:cNvSpPr/>
          <p:nvPr/>
        </p:nvSpPr>
        <p:spPr>
          <a:xfrm>
            <a:off x="1207008" y="2761488"/>
            <a:ext cx="2359152" cy="448056"/>
          </a:xfrm>
          <a:prstGeom prst="rect">
            <a:avLst/>
          </a:prstGeom>
          <a:noFill/>
          <a:ln/>
        </p:spPr>
        <p:txBody>
          <a:bodyPr wrap="square" lIns="36576" tIns="36576" rIns="36576" bIns="36576" rtlCol="0" anchor="ctr">
            <a:normAutofit/>
          </a:bodyPr>
          <a:lstStyle/>
          <a:p>
            <a:pPr algn="l"/>
            <a:r>
              <a:rPr sz="850" b="0">
                <a:solidFill>
                  <a:srgbClr val="0F172A"/>
                </a:solidFill>
                <a:latin typeface="Aptos"/>
              </a:rPr>
              <a:t>Two-Way Enterprise Ticketing: Direct REST API connectors for Jira, Linear, Asana, and GitHub Issues.</a:t>
            </a:r>
          </a:p>
        </p:txBody>
      </p:sp>
      <p:sp>
        <p:nvSpPr>
          <p:cNvPr id="15" name="Shape 13">
            <a:extLst>
              <a:ext uri="{FF2B5EF4-FFF2-40B4-BE49-F238E27FC236}">
                <a16:creationId xmlns:a16="http://schemas.microsoft.com/office/drawing/2014/main" id="{211B5BA5-3D31-80F2-D1B6-892A4751A9B6}"/>
              </a:ext>
            </a:extLst>
          </p:cNvPr>
          <p:cNvSpPr/>
          <p:nvPr/>
        </p:nvSpPr>
        <p:spPr>
          <a:xfrm>
            <a:off x="804672" y="3557016"/>
            <a:ext cx="274320" cy="274320"/>
          </a:xfrm>
          <a:prstGeom prst="ellipse">
            <a:avLst/>
          </a:prstGeom>
          <a:solidFill>
            <a:srgbClr val="007CC3"/>
          </a:solidFill>
          <a:ln w="12700">
            <a:solidFill>
              <a:srgbClr val="007CC3"/>
            </a:solidFill>
            <a:prstDash val="solid"/>
          </a:ln>
        </p:spPr>
        <p:txBody>
          <a:bodyPr/>
          <a:lstStyle/>
          <a:p>
            <a:endParaRPr lang="en-US"/>
          </a:p>
        </p:txBody>
      </p:sp>
      <p:sp>
        <p:nvSpPr>
          <p:cNvPr id="16" name="Text 14">
            <a:extLst>
              <a:ext uri="{FF2B5EF4-FFF2-40B4-BE49-F238E27FC236}">
                <a16:creationId xmlns:a16="http://schemas.microsoft.com/office/drawing/2014/main" id="{46A98EE9-B47D-4B49-68F4-3D402C378950}"/>
              </a:ext>
            </a:extLst>
          </p:cNvPr>
          <p:cNvSpPr/>
          <p:nvPr/>
        </p:nvSpPr>
        <p:spPr>
          <a:xfrm>
            <a:off x="804672" y="3621024"/>
            <a:ext cx="274320" cy="73152"/>
          </a:xfrm>
          <a:prstGeom prst="rect">
            <a:avLst/>
          </a:prstGeom>
          <a:noFill/>
          <a:ln/>
        </p:spPr>
        <p:txBody>
          <a:bodyPr wrap="square" lIns="0" tIns="0" rIns="0" bIns="0" rtlCol="0" anchor="ctr"/>
          <a:lstStyle/>
          <a:p>
            <a:pPr marL="0" indent="0" algn="ctr">
              <a:buNone/>
            </a:pPr>
            <a:r>
              <a:rPr lang="en-US" sz="750" b="1" dirty="0">
                <a:solidFill>
                  <a:srgbClr val="FFFFFF"/>
                </a:solidFill>
              </a:rPr>
              <a:t>3</a:t>
            </a:r>
            <a:endParaRPr lang="en-US" sz="750" dirty="0"/>
          </a:p>
        </p:txBody>
      </p:sp>
      <p:sp>
        <p:nvSpPr>
          <p:cNvPr id="17" name="Text 15">
            <a:extLst>
              <a:ext uri="{FF2B5EF4-FFF2-40B4-BE49-F238E27FC236}">
                <a16:creationId xmlns:a16="http://schemas.microsoft.com/office/drawing/2014/main" id="{E90CD5BC-E538-5142-7305-AF217EE7C750}"/>
              </a:ext>
            </a:extLst>
          </p:cNvPr>
          <p:cNvSpPr/>
          <p:nvPr/>
        </p:nvSpPr>
        <p:spPr>
          <a:xfrm>
            <a:off x="1207008" y="3511296"/>
            <a:ext cx="2359152" cy="448056"/>
          </a:xfrm>
          <a:prstGeom prst="rect">
            <a:avLst/>
          </a:prstGeom>
          <a:noFill/>
          <a:ln/>
        </p:spPr>
        <p:txBody>
          <a:bodyPr wrap="square" lIns="36576" tIns="36576" rIns="36576" bIns="36576" rtlCol="0" anchor="ctr">
            <a:normAutofit/>
          </a:bodyPr>
          <a:lstStyle/>
          <a:p>
            <a:pPr algn="l"/>
            <a:r>
              <a:rPr sz="850" b="0">
                <a:solidFill>
                  <a:srgbClr val="0F172A"/>
                </a:solidFill>
                <a:latin typeface="Aptos"/>
              </a:rPr>
              <a:t>Automated Slack / Microsoft Teams Bot: Proactively pings owners on Slack to confirm tentative assignments or clarify vague deadlines.</a:t>
            </a:r>
          </a:p>
        </p:txBody>
      </p:sp>
      <p:sp>
        <p:nvSpPr>
          <p:cNvPr id="18" name="Shape 16">
            <a:extLst>
              <a:ext uri="{FF2B5EF4-FFF2-40B4-BE49-F238E27FC236}">
                <a16:creationId xmlns:a16="http://schemas.microsoft.com/office/drawing/2014/main" id="{4123D4AD-F615-C37C-E8D3-5A919619C21C}"/>
              </a:ext>
            </a:extLst>
          </p:cNvPr>
          <p:cNvSpPr/>
          <p:nvPr/>
        </p:nvSpPr>
        <p:spPr>
          <a:xfrm>
            <a:off x="4315968" y="1234440"/>
            <a:ext cx="3328416" cy="3328416"/>
          </a:xfrm>
          <a:prstGeom prst="roundRect">
            <a:avLst>
              <a:gd name="adj" fmla="val 1374"/>
            </a:avLst>
          </a:prstGeom>
          <a:solidFill>
            <a:srgbClr val="EFF7E9"/>
          </a:solidFill>
          <a:ln w="15240">
            <a:solidFill>
              <a:srgbClr val="63A845"/>
            </a:solidFill>
            <a:prstDash val="solid"/>
          </a:ln>
          <a:effectLst/>
        </p:spPr>
        <p:txBody>
          <a:bodyPr/>
          <a:lstStyle/>
          <a:p>
            <a:endParaRPr lang="en-US"/>
          </a:p>
        </p:txBody>
      </p:sp>
      <p:sp>
        <p:nvSpPr>
          <p:cNvPr id="19" name="Text 17">
            <a:extLst>
              <a:ext uri="{FF2B5EF4-FFF2-40B4-BE49-F238E27FC236}">
                <a16:creationId xmlns:a16="http://schemas.microsoft.com/office/drawing/2014/main" id="{E78B694E-A30A-0B8A-FD8E-5860BD997613}"/>
              </a:ext>
            </a:extLst>
          </p:cNvPr>
          <p:cNvSpPr/>
          <p:nvPr/>
        </p:nvSpPr>
        <p:spPr>
          <a:xfrm>
            <a:off x="4498848" y="1517904"/>
            <a:ext cx="2962656" cy="256032"/>
          </a:xfrm>
          <a:prstGeom prst="rect">
            <a:avLst/>
          </a:prstGeom>
          <a:noFill/>
          <a:ln/>
        </p:spPr>
        <p:txBody>
          <a:bodyPr wrap="square" lIns="0" tIns="0" rIns="0" bIns="0" rtlCol="0" anchor="ctr"/>
          <a:lstStyle/>
          <a:p>
            <a:pPr marL="0" indent="0" algn="ctr">
              <a:buNone/>
            </a:pPr>
            <a:r>
              <a:rPr lang="en-US" sz="1100" b="1" dirty="0">
                <a:solidFill>
                  <a:srgbClr val="63A845"/>
                </a:solidFill>
              </a:rPr>
              <a:t>SCALABILITY</a:t>
            </a:r>
            <a:endParaRPr lang="en-US" sz="1100" dirty="0"/>
          </a:p>
        </p:txBody>
      </p:sp>
      <p:sp>
        <p:nvSpPr>
          <p:cNvPr id="20" name="Shape 18">
            <a:extLst>
              <a:ext uri="{FF2B5EF4-FFF2-40B4-BE49-F238E27FC236}">
                <a16:creationId xmlns:a16="http://schemas.microsoft.com/office/drawing/2014/main" id="{D6A46235-D561-ADBD-C4A3-3924B3265365}"/>
              </a:ext>
            </a:extLst>
          </p:cNvPr>
          <p:cNvSpPr/>
          <p:nvPr/>
        </p:nvSpPr>
        <p:spPr>
          <a:xfrm>
            <a:off x="4572000" y="2057400"/>
            <a:ext cx="274320" cy="274320"/>
          </a:xfrm>
          <a:prstGeom prst="ellipse">
            <a:avLst/>
          </a:prstGeom>
          <a:solidFill>
            <a:srgbClr val="63A845"/>
          </a:solidFill>
          <a:ln w="12700">
            <a:solidFill>
              <a:srgbClr val="63A845"/>
            </a:solidFill>
            <a:prstDash val="solid"/>
          </a:ln>
        </p:spPr>
        <p:txBody>
          <a:bodyPr/>
          <a:lstStyle/>
          <a:p>
            <a:endParaRPr lang="en-US"/>
          </a:p>
        </p:txBody>
      </p:sp>
      <p:sp>
        <p:nvSpPr>
          <p:cNvPr id="21" name="Text 19">
            <a:extLst>
              <a:ext uri="{FF2B5EF4-FFF2-40B4-BE49-F238E27FC236}">
                <a16:creationId xmlns:a16="http://schemas.microsoft.com/office/drawing/2014/main" id="{ACBD2492-C85F-DFD2-77A4-140CA990A449}"/>
              </a:ext>
            </a:extLst>
          </p:cNvPr>
          <p:cNvSpPr/>
          <p:nvPr/>
        </p:nvSpPr>
        <p:spPr>
          <a:xfrm>
            <a:off x="4572000" y="2121408"/>
            <a:ext cx="274320" cy="73152"/>
          </a:xfrm>
          <a:prstGeom prst="rect">
            <a:avLst/>
          </a:prstGeom>
          <a:noFill/>
          <a:ln/>
        </p:spPr>
        <p:txBody>
          <a:bodyPr wrap="square" lIns="0" tIns="0" rIns="0" bIns="0" rtlCol="0" anchor="ctr"/>
          <a:lstStyle/>
          <a:p>
            <a:pPr marL="0" indent="0" algn="ctr">
              <a:buNone/>
            </a:pPr>
            <a:r>
              <a:rPr lang="en-US" sz="750" b="1" dirty="0">
                <a:solidFill>
                  <a:srgbClr val="FFFFFF"/>
                </a:solidFill>
              </a:rPr>
              <a:t>1</a:t>
            </a:r>
            <a:endParaRPr lang="en-US" sz="750" dirty="0"/>
          </a:p>
        </p:txBody>
      </p:sp>
      <p:sp>
        <p:nvSpPr>
          <p:cNvPr id="22" name="Text 20">
            <a:extLst>
              <a:ext uri="{FF2B5EF4-FFF2-40B4-BE49-F238E27FC236}">
                <a16:creationId xmlns:a16="http://schemas.microsoft.com/office/drawing/2014/main" id="{4523C4A3-AF7A-BCF9-4C79-B65B8C93B5BF}"/>
              </a:ext>
            </a:extLst>
          </p:cNvPr>
          <p:cNvSpPr/>
          <p:nvPr/>
        </p:nvSpPr>
        <p:spPr>
          <a:xfrm>
            <a:off x="4974336" y="2011680"/>
            <a:ext cx="2359152" cy="448056"/>
          </a:xfrm>
          <a:prstGeom prst="rect">
            <a:avLst/>
          </a:prstGeom>
          <a:noFill/>
          <a:ln/>
        </p:spPr>
        <p:txBody>
          <a:bodyPr wrap="square" lIns="36576" tIns="36576" rIns="36576" bIns="36576" rtlCol="0" anchor="ctr">
            <a:normAutofit/>
          </a:bodyPr>
          <a:lstStyle/>
          <a:p>
            <a:pPr algn="l"/>
            <a:r>
              <a:rPr sz="850" b="0">
                <a:solidFill>
                  <a:srgbClr val="0F172A"/>
                </a:solidFill>
                <a:latin typeface="Aptos"/>
              </a:rPr>
              <a:t>Stateless microservice containerization deployable on Kubernetes across multi-tenant enterprise clusters.</a:t>
            </a:r>
          </a:p>
        </p:txBody>
      </p:sp>
      <p:sp>
        <p:nvSpPr>
          <p:cNvPr id="23" name="Shape 21">
            <a:extLst>
              <a:ext uri="{FF2B5EF4-FFF2-40B4-BE49-F238E27FC236}">
                <a16:creationId xmlns:a16="http://schemas.microsoft.com/office/drawing/2014/main" id="{A01F56B0-A693-A209-E08F-D159EC9E6AA5}"/>
              </a:ext>
            </a:extLst>
          </p:cNvPr>
          <p:cNvSpPr/>
          <p:nvPr/>
        </p:nvSpPr>
        <p:spPr>
          <a:xfrm>
            <a:off x="4572000" y="2807208"/>
            <a:ext cx="274320" cy="274320"/>
          </a:xfrm>
          <a:prstGeom prst="ellipse">
            <a:avLst/>
          </a:prstGeom>
          <a:solidFill>
            <a:srgbClr val="63A845"/>
          </a:solidFill>
          <a:ln w="12700">
            <a:solidFill>
              <a:srgbClr val="63A845"/>
            </a:solidFill>
            <a:prstDash val="solid"/>
          </a:ln>
        </p:spPr>
        <p:txBody>
          <a:bodyPr/>
          <a:lstStyle/>
          <a:p>
            <a:endParaRPr lang="en-US"/>
          </a:p>
        </p:txBody>
      </p:sp>
      <p:sp>
        <p:nvSpPr>
          <p:cNvPr id="24" name="Text 22">
            <a:extLst>
              <a:ext uri="{FF2B5EF4-FFF2-40B4-BE49-F238E27FC236}">
                <a16:creationId xmlns:a16="http://schemas.microsoft.com/office/drawing/2014/main" id="{7274A77C-A71A-25BF-B7CB-E507D3F09840}"/>
              </a:ext>
            </a:extLst>
          </p:cNvPr>
          <p:cNvSpPr/>
          <p:nvPr/>
        </p:nvSpPr>
        <p:spPr>
          <a:xfrm>
            <a:off x="4572000" y="2871216"/>
            <a:ext cx="274320" cy="73152"/>
          </a:xfrm>
          <a:prstGeom prst="rect">
            <a:avLst/>
          </a:prstGeom>
          <a:noFill/>
          <a:ln/>
        </p:spPr>
        <p:txBody>
          <a:bodyPr wrap="square" lIns="0" tIns="0" rIns="0" bIns="0" rtlCol="0" anchor="ctr"/>
          <a:lstStyle/>
          <a:p>
            <a:pPr marL="0" indent="0" algn="ctr">
              <a:buNone/>
            </a:pPr>
            <a:r>
              <a:rPr lang="en-US" sz="750" b="1" dirty="0">
                <a:solidFill>
                  <a:srgbClr val="FFFFFF"/>
                </a:solidFill>
              </a:rPr>
              <a:t>2</a:t>
            </a:r>
            <a:endParaRPr lang="en-US" sz="750" dirty="0"/>
          </a:p>
        </p:txBody>
      </p:sp>
      <p:sp>
        <p:nvSpPr>
          <p:cNvPr id="25" name="Text 23">
            <a:extLst>
              <a:ext uri="{FF2B5EF4-FFF2-40B4-BE49-F238E27FC236}">
                <a16:creationId xmlns:a16="http://schemas.microsoft.com/office/drawing/2014/main" id="{F59797C0-B1E9-1A06-FEAC-1BB1DF00DF40}"/>
              </a:ext>
            </a:extLst>
          </p:cNvPr>
          <p:cNvSpPr/>
          <p:nvPr/>
        </p:nvSpPr>
        <p:spPr>
          <a:xfrm>
            <a:off x="4974336" y="2761488"/>
            <a:ext cx="2359152" cy="448056"/>
          </a:xfrm>
          <a:prstGeom prst="rect">
            <a:avLst/>
          </a:prstGeom>
          <a:noFill/>
          <a:ln/>
        </p:spPr>
        <p:txBody>
          <a:bodyPr wrap="square" lIns="36576" tIns="36576" rIns="36576" bIns="36576" rtlCol="0" anchor="ctr">
            <a:normAutofit/>
          </a:bodyPr>
          <a:lstStyle/>
          <a:p>
            <a:pPr algn="l"/>
            <a:r>
              <a:rPr sz="850" b="0">
                <a:solidFill>
                  <a:srgbClr val="0F172A"/>
                </a:solidFill>
                <a:latin typeface="Aptos"/>
              </a:rPr>
              <a:t>100% on-device NPU processing on Snapdragon laptops via Qualcomm AI Hub with zero cloud cost.</a:t>
            </a:r>
          </a:p>
        </p:txBody>
      </p:sp>
      <p:sp>
        <p:nvSpPr>
          <p:cNvPr id="26" name="Shape 24">
            <a:extLst>
              <a:ext uri="{FF2B5EF4-FFF2-40B4-BE49-F238E27FC236}">
                <a16:creationId xmlns:a16="http://schemas.microsoft.com/office/drawing/2014/main" id="{DAA083A2-F0E1-5E36-65CB-1205E57A4789}"/>
              </a:ext>
            </a:extLst>
          </p:cNvPr>
          <p:cNvSpPr/>
          <p:nvPr/>
        </p:nvSpPr>
        <p:spPr>
          <a:xfrm>
            <a:off x="4572000" y="3557016"/>
            <a:ext cx="274320" cy="274320"/>
          </a:xfrm>
          <a:prstGeom prst="ellipse">
            <a:avLst/>
          </a:prstGeom>
          <a:solidFill>
            <a:srgbClr val="63A845"/>
          </a:solidFill>
          <a:ln w="12700">
            <a:solidFill>
              <a:srgbClr val="63A845"/>
            </a:solidFill>
            <a:prstDash val="solid"/>
          </a:ln>
        </p:spPr>
        <p:txBody>
          <a:bodyPr/>
          <a:lstStyle/>
          <a:p>
            <a:endParaRPr lang="en-US"/>
          </a:p>
        </p:txBody>
      </p:sp>
      <p:sp>
        <p:nvSpPr>
          <p:cNvPr id="27" name="Text 25">
            <a:extLst>
              <a:ext uri="{FF2B5EF4-FFF2-40B4-BE49-F238E27FC236}">
                <a16:creationId xmlns:a16="http://schemas.microsoft.com/office/drawing/2014/main" id="{955E400B-0DA7-FB30-AE56-027037CBC9EE}"/>
              </a:ext>
            </a:extLst>
          </p:cNvPr>
          <p:cNvSpPr/>
          <p:nvPr/>
        </p:nvSpPr>
        <p:spPr>
          <a:xfrm>
            <a:off x="4572000" y="3621024"/>
            <a:ext cx="274320" cy="73152"/>
          </a:xfrm>
          <a:prstGeom prst="rect">
            <a:avLst/>
          </a:prstGeom>
          <a:noFill/>
          <a:ln/>
        </p:spPr>
        <p:txBody>
          <a:bodyPr wrap="square" lIns="0" tIns="0" rIns="0" bIns="0" rtlCol="0" anchor="ctr"/>
          <a:lstStyle/>
          <a:p>
            <a:pPr marL="0" indent="0" algn="ctr">
              <a:buNone/>
            </a:pPr>
            <a:r>
              <a:rPr lang="en-US" sz="750" b="1" dirty="0">
                <a:solidFill>
                  <a:srgbClr val="FFFFFF"/>
                </a:solidFill>
              </a:rPr>
              <a:t>3</a:t>
            </a:r>
            <a:endParaRPr lang="en-US" sz="750" dirty="0"/>
          </a:p>
        </p:txBody>
      </p:sp>
      <p:sp>
        <p:nvSpPr>
          <p:cNvPr id="28" name="Text 26">
            <a:extLst>
              <a:ext uri="{FF2B5EF4-FFF2-40B4-BE49-F238E27FC236}">
                <a16:creationId xmlns:a16="http://schemas.microsoft.com/office/drawing/2014/main" id="{EA808832-6AE1-4B46-E1CA-A2D73E9E145C}"/>
              </a:ext>
            </a:extLst>
          </p:cNvPr>
          <p:cNvSpPr/>
          <p:nvPr/>
        </p:nvSpPr>
        <p:spPr>
          <a:xfrm>
            <a:off x="4974336" y="3511296"/>
            <a:ext cx="2359152" cy="448056"/>
          </a:xfrm>
          <a:prstGeom prst="rect">
            <a:avLst/>
          </a:prstGeom>
          <a:noFill/>
          <a:ln/>
        </p:spPr>
        <p:txBody>
          <a:bodyPr wrap="square" lIns="36576" tIns="36576" rIns="36576" bIns="36576" rtlCol="0" anchor="ctr">
            <a:normAutofit/>
          </a:bodyPr>
          <a:lstStyle/>
          <a:p>
            <a:pPr algn="l"/>
            <a:r>
              <a:rPr sz="850" b="0">
                <a:solidFill>
                  <a:srgbClr val="0F172A"/>
                </a:solidFill>
                <a:latin typeface="Aptos"/>
              </a:rPr>
              <a:t>Token bucket rate-limiting with exponential backoff handling 10,000+ concurrent summaries.</a:t>
            </a:r>
          </a:p>
        </p:txBody>
      </p:sp>
      <p:sp>
        <p:nvSpPr>
          <p:cNvPr id="29" name="Shape 27">
            <a:extLst>
              <a:ext uri="{FF2B5EF4-FFF2-40B4-BE49-F238E27FC236}">
                <a16:creationId xmlns:a16="http://schemas.microsoft.com/office/drawing/2014/main" id="{94175C34-82E2-05B7-4850-C3D50815A80A}"/>
              </a:ext>
            </a:extLst>
          </p:cNvPr>
          <p:cNvSpPr/>
          <p:nvPr/>
        </p:nvSpPr>
        <p:spPr>
          <a:xfrm>
            <a:off x="8083296" y="1234440"/>
            <a:ext cx="3328416" cy="3328416"/>
          </a:xfrm>
          <a:prstGeom prst="roundRect">
            <a:avLst>
              <a:gd name="adj" fmla="val 1374"/>
            </a:avLst>
          </a:prstGeom>
          <a:solidFill>
            <a:srgbClr val="F3EEFC"/>
          </a:solidFill>
          <a:ln w="15240">
            <a:solidFill>
              <a:srgbClr val="5417A8"/>
            </a:solidFill>
            <a:prstDash val="solid"/>
          </a:ln>
          <a:effectLst/>
        </p:spPr>
        <p:txBody>
          <a:bodyPr/>
          <a:lstStyle/>
          <a:p>
            <a:endParaRPr lang="en-US"/>
          </a:p>
        </p:txBody>
      </p:sp>
      <p:sp>
        <p:nvSpPr>
          <p:cNvPr id="30" name="Text 28">
            <a:extLst>
              <a:ext uri="{FF2B5EF4-FFF2-40B4-BE49-F238E27FC236}">
                <a16:creationId xmlns:a16="http://schemas.microsoft.com/office/drawing/2014/main" id="{77E5A850-037C-C666-5AFF-114DA39F882E}"/>
              </a:ext>
            </a:extLst>
          </p:cNvPr>
          <p:cNvSpPr/>
          <p:nvPr/>
        </p:nvSpPr>
        <p:spPr>
          <a:xfrm>
            <a:off x="8266176" y="1517904"/>
            <a:ext cx="2962656" cy="256032"/>
          </a:xfrm>
          <a:prstGeom prst="rect">
            <a:avLst/>
          </a:prstGeom>
          <a:noFill/>
          <a:ln/>
        </p:spPr>
        <p:txBody>
          <a:bodyPr wrap="square" lIns="0" tIns="0" rIns="0" bIns="0" rtlCol="0" anchor="ctr"/>
          <a:lstStyle/>
          <a:p>
            <a:pPr marL="0" indent="0" algn="ctr">
              <a:buNone/>
            </a:pPr>
            <a:r>
              <a:rPr lang="en-US" sz="1100" b="1" dirty="0">
                <a:solidFill>
                  <a:srgbClr val="5417A8"/>
                </a:solidFill>
              </a:rPr>
              <a:t>SECURITY &amp; RESPONSIBLE AI</a:t>
            </a:r>
            <a:endParaRPr lang="en-US" sz="1100" dirty="0"/>
          </a:p>
        </p:txBody>
      </p:sp>
      <p:sp>
        <p:nvSpPr>
          <p:cNvPr id="31" name="Shape 29">
            <a:extLst>
              <a:ext uri="{FF2B5EF4-FFF2-40B4-BE49-F238E27FC236}">
                <a16:creationId xmlns:a16="http://schemas.microsoft.com/office/drawing/2014/main" id="{572EF5A6-F6FE-D75C-601C-909357D3363E}"/>
              </a:ext>
            </a:extLst>
          </p:cNvPr>
          <p:cNvSpPr/>
          <p:nvPr/>
        </p:nvSpPr>
        <p:spPr>
          <a:xfrm>
            <a:off x="8339328" y="2057400"/>
            <a:ext cx="274320" cy="274320"/>
          </a:xfrm>
          <a:prstGeom prst="ellipse">
            <a:avLst/>
          </a:prstGeom>
          <a:solidFill>
            <a:srgbClr val="5417A8"/>
          </a:solidFill>
          <a:ln w="12700">
            <a:solidFill>
              <a:srgbClr val="5417A8"/>
            </a:solidFill>
            <a:prstDash val="solid"/>
          </a:ln>
        </p:spPr>
        <p:txBody>
          <a:bodyPr/>
          <a:lstStyle/>
          <a:p>
            <a:endParaRPr lang="en-US"/>
          </a:p>
        </p:txBody>
      </p:sp>
      <p:sp>
        <p:nvSpPr>
          <p:cNvPr id="32" name="Text 30">
            <a:extLst>
              <a:ext uri="{FF2B5EF4-FFF2-40B4-BE49-F238E27FC236}">
                <a16:creationId xmlns:a16="http://schemas.microsoft.com/office/drawing/2014/main" id="{20D54195-A988-4B53-E7FE-B97E5A03DAEF}"/>
              </a:ext>
            </a:extLst>
          </p:cNvPr>
          <p:cNvSpPr/>
          <p:nvPr/>
        </p:nvSpPr>
        <p:spPr>
          <a:xfrm>
            <a:off x="8339328" y="2121408"/>
            <a:ext cx="274320" cy="73152"/>
          </a:xfrm>
          <a:prstGeom prst="rect">
            <a:avLst/>
          </a:prstGeom>
          <a:noFill/>
          <a:ln/>
        </p:spPr>
        <p:txBody>
          <a:bodyPr wrap="square" lIns="0" tIns="0" rIns="0" bIns="0" rtlCol="0" anchor="ctr"/>
          <a:lstStyle/>
          <a:p>
            <a:pPr marL="0" indent="0" algn="ctr">
              <a:buNone/>
            </a:pPr>
            <a:r>
              <a:rPr lang="en-US" sz="750" b="1" dirty="0">
                <a:solidFill>
                  <a:srgbClr val="FFFFFF"/>
                </a:solidFill>
              </a:rPr>
              <a:t>1</a:t>
            </a:r>
            <a:endParaRPr lang="en-US" sz="750" dirty="0"/>
          </a:p>
        </p:txBody>
      </p:sp>
      <p:sp>
        <p:nvSpPr>
          <p:cNvPr id="33" name="Text 31">
            <a:extLst>
              <a:ext uri="{FF2B5EF4-FFF2-40B4-BE49-F238E27FC236}">
                <a16:creationId xmlns:a16="http://schemas.microsoft.com/office/drawing/2014/main" id="{ADF6954F-1764-9F3A-7337-4A8FAACE97CB}"/>
              </a:ext>
            </a:extLst>
          </p:cNvPr>
          <p:cNvSpPr/>
          <p:nvPr/>
        </p:nvSpPr>
        <p:spPr>
          <a:xfrm>
            <a:off x="8741664" y="2011680"/>
            <a:ext cx="2359152" cy="448056"/>
          </a:xfrm>
          <a:prstGeom prst="rect">
            <a:avLst/>
          </a:prstGeom>
          <a:noFill/>
          <a:ln/>
        </p:spPr>
        <p:txBody>
          <a:bodyPr wrap="square" lIns="36576" tIns="36576" rIns="36576" bIns="36576" rtlCol="0" anchor="ctr">
            <a:normAutofit/>
          </a:bodyPr>
          <a:lstStyle/>
          <a:p>
            <a:pPr algn="l"/>
            <a:r>
              <a:rPr sz="850" b="0">
                <a:solidFill>
                  <a:srgbClr val="0F172A"/>
                </a:solidFill>
                <a:latin typeface="Aptos"/>
              </a:rPr>
              <a:t>Role-based enterprise access control (RBAC) and encrypted credential management (.env isolation).</a:t>
            </a:r>
          </a:p>
        </p:txBody>
      </p:sp>
      <p:sp>
        <p:nvSpPr>
          <p:cNvPr id="34" name="Shape 32">
            <a:extLst>
              <a:ext uri="{FF2B5EF4-FFF2-40B4-BE49-F238E27FC236}">
                <a16:creationId xmlns:a16="http://schemas.microsoft.com/office/drawing/2014/main" id="{A78230A6-A314-ECB7-1463-1135EBCEA2EC}"/>
              </a:ext>
            </a:extLst>
          </p:cNvPr>
          <p:cNvSpPr/>
          <p:nvPr/>
        </p:nvSpPr>
        <p:spPr>
          <a:xfrm>
            <a:off x="8339328" y="2807208"/>
            <a:ext cx="274320" cy="274320"/>
          </a:xfrm>
          <a:prstGeom prst="ellipse">
            <a:avLst/>
          </a:prstGeom>
          <a:solidFill>
            <a:srgbClr val="5417A8"/>
          </a:solidFill>
          <a:ln w="12700">
            <a:solidFill>
              <a:srgbClr val="5417A8"/>
            </a:solidFill>
            <a:prstDash val="solid"/>
          </a:ln>
        </p:spPr>
        <p:txBody>
          <a:bodyPr/>
          <a:lstStyle/>
          <a:p>
            <a:endParaRPr lang="en-US"/>
          </a:p>
        </p:txBody>
      </p:sp>
      <p:sp>
        <p:nvSpPr>
          <p:cNvPr id="35" name="Text 33">
            <a:extLst>
              <a:ext uri="{FF2B5EF4-FFF2-40B4-BE49-F238E27FC236}">
                <a16:creationId xmlns:a16="http://schemas.microsoft.com/office/drawing/2014/main" id="{F9156590-143F-3B3B-FF3A-C1648DD71AED}"/>
              </a:ext>
            </a:extLst>
          </p:cNvPr>
          <p:cNvSpPr/>
          <p:nvPr/>
        </p:nvSpPr>
        <p:spPr>
          <a:xfrm>
            <a:off x="8339328" y="2871216"/>
            <a:ext cx="274320" cy="73152"/>
          </a:xfrm>
          <a:prstGeom prst="rect">
            <a:avLst/>
          </a:prstGeom>
          <a:noFill/>
          <a:ln/>
        </p:spPr>
        <p:txBody>
          <a:bodyPr wrap="square" lIns="0" tIns="0" rIns="0" bIns="0" rtlCol="0" anchor="ctr"/>
          <a:lstStyle/>
          <a:p>
            <a:pPr marL="0" indent="0" algn="ctr">
              <a:buNone/>
            </a:pPr>
            <a:r>
              <a:rPr lang="en-US" sz="750" b="1" dirty="0">
                <a:solidFill>
                  <a:srgbClr val="FFFFFF"/>
                </a:solidFill>
              </a:rPr>
              <a:t>2</a:t>
            </a:r>
            <a:endParaRPr lang="en-US" sz="750" dirty="0"/>
          </a:p>
        </p:txBody>
      </p:sp>
      <p:sp>
        <p:nvSpPr>
          <p:cNvPr id="36" name="Text 34">
            <a:extLst>
              <a:ext uri="{FF2B5EF4-FFF2-40B4-BE49-F238E27FC236}">
                <a16:creationId xmlns:a16="http://schemas.microsoft.com/office/drawing/2014/main" id="{0EE7A8D7-660E-8C1F-2A72-0B99BDA4970B}"/>
              </a:ext>
            </a:extLst>
          </p:cNvPr>
          <p:cNvSpPr/>
          <p:nvPr/>
        </p:nvSpPr>
        <p:spPr>
          <a:xfrm>
            <a:off x="8741664" y="2761488"/>
            <a:ext cx="2359152" cy="448056"/>
          </a:xfrm>
          <a:prstGeom prst="rect">
            <a:avLst/>
          </a:prstGeom>
          <a:noFill/>
          <a:ln/>
        </p:spPr>
        <p:txBody>
          <a:bodyPr wrap="square" lIns="36576" tIns="36576" rIns="36576" bIns="36576" rtlCol="0" anchor="ctr">
            <a:normAutofit/>
          </a:bodyPr>
          <a:lstStyle/>
          <a:p>
            <a:pPr algn="l"/>
            <a:r>
              <a:rPr sz="850" b="0">
                <a:solidFill>
                  <a:srgbClr val="0F172A"/>
                </a:solidFill>
                <a:latin typeface="Aptos"/>
              </a:rPr>
              <a:t>Zero persistent transcript retention — raw text is parsed in-memory and immediately purged (GDPR/HIPAA compliant).</a:t>
            </a:r>
          </a:p>
        </p:txBody>
      </p:sp>
      <p:sp>
        <p:nvSpPr>
          <p:cNvPr id="37" name="Shape 35">
            <a:extLst>
              <a:ext uri="{FF2B5EF4-FFF2-40B4-BE49-F238E27FC236}">
                <a16:creationId xmlns:a16="http://schemas.microsoft.com/office/drawing/2014/main" id="{E7D38FEE-337E-80C6-824A-B6C1C06ACFE3}"/>
              </a:ext>
            </a:extLst>
          </p:cNvPr>
          <p:cNvSpPr/>
          <p:nvPr/>
        </p:nvSpPr>
        <p:spPr>
          <a:xfrm>
            <a:off x="8339328" y="3557016"/>
            <a:ext cx="274320" cy="274320"/>
          </a:xfrm>
          <a:prstGeom prst="ellipse">
            <a:avLst/>
          </a:prstGeom>
          <a:solidFill>
            <a:srgbClr val="5417A8"/>
          </a:solidFill>
          <a:ln w="12700">
            <a:solidFill>
              <a:srgbClr val="5417A8"/>
            </a:solidFill>
            <a:prstDash val="solid"/>
          </a:ln>
        </p:spPr>
        <p:txBody>
          <a:bodyPr/>
          <a:lstStyle/>
          <a:p>
            <a:endParaRPr lang="en-US"/>
          </a:p>
        </p:txBody>
      </p:sp>
      <p:sp>
        <p:nvSpPr>
          <p:cNvPr id="38" name="Text 36">
            <a:extLst>
              <a:ext uri="{FF2B5EF4-FFF2-40B4-BE49-F238E27FC236}">
                <a16:creationId xmlns:a16="http://schemas.microsoft.com/office/drawing/2014/main" id="{329D6E21-2C3E-4C29-D882-BDBE35D311A2}"/>
              </a:ext>
            </a:extLst>
          </p:cNvPr>
          <p:cNvSpPr/>
          <p:nvPr/>
        </p:nvSpPr>
        <p:spPr>
          <a:xfrm>
            <a:off x="8339328" y="3621024"/>
            <a:ext cx="274320" cy="73152"/>
          </a:xfrm>
          <a:prstGeom prst="rect">
            <a:avLst/>
          </a:prstGeom>
          <a:noFill/>
          <a:ln/>
        </p:spPr>
        <p:txBody>
          <a:bodyPr wrap="square" lIns="0" tIns="0" rIns="0" bIns="0" rtlCol="0" anchor="ctr"/>
          <a:lstStyle/>
          <a:p>
            <a:pPr marL="0" indent="0" algn="ctr">
              <a:buNone/>
            </a:pPr>
            <a:r>
              <a:rPr lang="en-US" sz="750" b="1" dirty="0">
                <a:solidFill>
                  <a:srgbClr val="FFFFFF"/>
                </a:solidFill>
              </a:rPr>
              <a:t>3</a:t>
            </a:r>
            <a:endParaRPr lang="en-US" sz="750" dirty="0"/>
          </a:p>
        </p:txBody>
      </p:sp>
      <p:sp>
        <p:nvSpPr>
          <p:cNvPr id="39" name="Text 37">
            <a:extLst>
              <a:ext uri="{FF2B5EF4-FFF2-40B4-BE49-F238E27FC236}">
                <a16:creationId xmlns:a16="http://schemas.microsoft.com/office/drawing/2014/main" id="{64E8A2C8-E883-48F1-9F5D-E38C087D7F5B}"/>
              </a:ext>
            </a:extLst>
          </p:cNvPr>
          <p:cNvSpPr/>
          <p:nvPr/>
        </p:nvSpPr>
        <p:spPr>
          <a:xfrm>
            <a:off x="8741664" y="3511296"/>
            <a:ext cx="2359152" cy="448056"/>
          </a:xfrm>
          <a:prstGeom prst="rect">
            <a:avLst/>
          </a:prstGeom>
          <a:noFill/>
          <a:ln/>
        </p:spPr>
        <p:txBody>
          <a:bodyPr wrap="square" lIns="36576" tIns="36576" rIns="36576" bIns="36576" rtlCol="0" anchor="ctr">
            <a:normAutofit/>
          </a:bodyPr>
          <a:lstStyle/>
          <a:p>
            <a:pPr algn="l"/>
            <a:r>
              <a:rPr sz="850" b="0">
                <a:solidFill>
                  <a:srgbClr val="0F172A"/>
                </a:solidFill>
                <a:latin typeface="Aptos"/>
              </a:rPr>
              <a:t>Human-in-the-loop triage: AI confidence signals with mandatory human sign-off before downstream ticketing export.</a:t>
            </a:r>
          </a:p>
        </p:txBody>
      </p:sp>
      <p:grpSp>
        <p:nvGrpSpPr>
          <p:cNvPr id="49" name="Group 48">
            <a:extLst>
              <a:ext uri="{FF2B5EF4-FFF2-40B4-BE49-F238E27FC236}">
                <a16:creationId xmlns:a16="http://schemas.microsoft.com/office/drawing/2014/main" id="{A8AF663B-44B3-A460-4E36-390658D4A35F}"/>
              </a:ext>
            </a:extLst>
          </p:cNvPr>
          <p:cNvGrpSpPr/>
          <p:nvPr/>
        </p:nvGrpSpPr>
        <p:grpSpPr>
          <a:xfrm>
            <a:off x="601630" y="4809744"/>
            <a:ext cx="10810082" cy="621792"/>
            <a:chOff x="475488" y="5468112"/>
            <a:chExt cx="11228832" cy="621792"/>
          </a:xfrm>
        </p:grpSpPr>
        <p:sp>
          <p:nvSpPr>
            <p:cNvPr id="43" name="Shape 41">
              <a:extLst>
                <a:ext uri="{FF2B5EF4-FFF2-40B4-BE49-F238E27FC236}">
                  <a16:creationId xmlns:a16="http://schemas.microsoft.com/office/drawing/2014/main" id="{EA07F995-155A-7F82-35EC-57C0D2675BF7}"/>
                </a:ext>
              </a:extLst>
            </p:cNvPr>
            <p:cNvSpPr/>
            <p:nvPr/>
          </p:nvSpPr>
          <p:spPr>
            <a:xfrm>
              <a:off x="475488" y="5468112"/>
              <a:ext cx="11228832" cy="621792"/>
            </a:xfrm>
            <a:prstGeom prst="roundRect">
              <a:avLst>
                <a:gd name="adj" fmla="val 8824"/>
              </a:avLst>
            </a:prstGeom>
            <a:solidFill>
              <a:srgbClr val="F8FAFC"/>
            </a:solidFill>
            <a:ln w="12700">
              <a:solidFill>
                <a:srgbClr val="DCE5EC"/>
              </a:solidFill>
              <a:prstDash val="solid"/>
            </a:ln>
          </p:spPr>
          <p:txBody>
            <a:bodyPr/>
            <a:lstStyle/>
            <a:p>
              <a:endParaRPr lang="en-US"/>
            </a:p>
          </p:txBody>
        </p:sp>
        <p:sp>
          <p:nvSpPr>
            <p:cNvPr id="44" name="Shape 42">
              <a:extLst>
                <a:ext uri="{FF2B5EF4-FFF2-40B4-BE49-F238E27FC236}">
                  <a16:creationId xmlns:a16="http://schemas.microsoft.com/office/drawing/2014/main" id="{3790E51B-8A20-10D9-EE10-45CC89B643CB}"/>
                </a:ext>
              </a:extLst>
            </p:cNvPr>
            <p:cNvSpPr/>
            <p:nvPr/>
          </p:nvSpPr>
          <p:spPr>
            <a:xfrm>
              <a:off x="475488" y="5468112"/>
              <a:ext cx="82296" cy="621792"/>
            </a:xfrm>
            <a:prstGeom prst="rect">
              <a:avLst/>
            </a:prstGeom>
            <a:solidFill>
              <a:srgbClr val="63A845"/>
            </a:solidFill>
            <a:ln w="12700">
              <a:solidFill>
                <a:srgbClr val="63A845"/>
              </a:solidFill>
              <a:prstDash val="solid"/>
            </a:ln>
          </p:spPr>
          <p:txBody>
            <a:bodyPr/>
            <a:lstStyle/>
            <a:p>
              <a:endParaRPr lang="en-US"/>
            </a:p>
          </p:txBody>
        </p:sp>
        <p:sp>
          <p:nvSpPr>
            <p:cNvPr id="45" name="Text 43">
              <a:extLst>
                <a:ext uri="{FF2B5EF4-FFF2-40B4-BE49-F238E27FC236}">
                  <a16:creationId xmlns:a16="http://schemas.microsoft.com/office/drawing/2014/main" id="{A3A70DFD-9EF8-4647-E39D-B89EA725BF93}"/>
                </a:ext>
              </a:extLst>
            </p:cNvPr>
            <p:cNvSpPr/>
            <p:nvPr/>
          </p:nvSpPr>
          <p:spPr>
            <a:xfrm>
              <a:off x="713232" y="5596128"/>
              <a:ext cx="960120" cy="164592"/>
            </a:xfrm>
            <a:prstGeom prst="rect">
              <a:avLst/>
            </a:prstGeom>
            <a:noFill/>
            <a:ln/>
          </p:spPr>
          <p:txBody>
            <a:bodyPr wrap="square" lIns="0" tIns="0" rIns="0" bIns="0" rtlCol="0" anchor="ctr"/>
            <a:lstStyle/>
            <a:p>
              <a:pPr marL="0" indent="0">
                <a:buNone/>
              </a:pPr>
              <a:r>
                <a:rPr lang="en-US" sz="900" b="1" kern="0" spc="70" dirty="0">
                  <a:solidFill>
                    <a:srgbClr val="63A845"/>
                  </a:solidFill>
                </a:rPr>
                <a:t>WHAT TO SAY</a:t>
              </a:r>
              <a:endParaRPr lang="en-US" sz="900" dirty="0"/>
            </a:p>
          </p:txBody>
        </p:sp>
        <p:sp>
          <p:nvSpPr>
            <p:cNvPr id="46" name="Text 44">
              <a:extLst>
                <a:ext uri="{FF2B5EF4-FFF2-40B4-BE49-F238E27FC236}">
                  <a16:creationId xmlns:a16="http://schemas.microsoft.com/office/drawing/2014/main" id="{C15B45A3-CF6C-BE2C-9CBD-9C54F766EA9F}"/>
                </a:ext>
              </a:extLst>
            </p:cNvPr>
            <p:cNvSpPr/>
            <p:nvPr/>
          </p:nvSpPr>
          <p:spPr>
            <a:xfrm>
              <a:off x="1993392" y="5559552"/>
              <a:ext cx="9326880" cy="457200"/>
            </a:xfrm>
            <a:prstGeom prst="rect">
              <a:avLst/>
            </a:prstGeom>
            <a:noFill/>
            <a:ln/>
          </p:spPr>
          <p:txBody>
            <a:bodyPr wrap="square" lIns="381" tIns="381" rIns="381" bIns="381" rtlCol="0" anchor="ctr"/>
            <a:lstStyle/>
            <a:p>
              <a:pPr marL="177800" indent="-177800">
                <a:buSzPct val="100000"/>
                <a:buChar char="•"/>
              </a:pPr>
              <a:r>
                <a:rPr lang="en-US" sz="1100" dirty="0">
                  <a:solidFill>
                    <a:srgbClr val="111827"/>
                  </a:solidFill>
                </a:rPr>
                <a:t>Separate what works now from what is planned.</a:t>
              </a:r>
              <a:endParaRPr lang="en-US" sz="1100" dirty="0"/>
            </a:p>
            <a:p>
              <a:pPr marL="177800" indent="-177800">
                <a:buSzPct val="100000"/>
                <a:buChar char="•"/>
              </a:pPr>
              <a:r>
                <a:rPr lang="en-US" sz="1100" dirty="0">
                  <a:solidFill>
                    <a:srgbClr val="111827"/>
                  </a:solidFill>
                </a:rPr>
                <a:t>Prioritize one realistic enhancement and one important security safeguard.</a:t>
              </a:r>
              <a:endParaRPr lang="en-US" sz="1100" dirty="0"/>
            </a:p>
          </p:txBody>
        </p:sp>
      </p:grpSp>
      <p:sp>
        <p:nvSpPr>
          <p:cNvPr id="47" name="Slide Number Placeholder 0">
            <a:extLst>
              <a:ext uri="{FF2B5EF4-FFF2-40B4-BE49-F238E27FC236}">
                <a16:creationId xmlns:a16="http://schemas.microsoft.com/office/drawing/2014/main" id="{0506221D-ED44-2465-649A-FB3BBE3BC509}"/>
              </a:ext>
            </a:extLst>
          </p:cNvPr>
          <p:cNvSpPr txBox="1">
            <a:spLocks/>
          </p:cNvSpPr>
          <p:nvPr/>
        </p:nvSpPr>
        <p:spPr>
          <a:xfrm>
            <a:off x="11731752" y="6510528"/>
            <a:ext cx="228600" cy="146304"/>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800" kern="1200">
                <a:solidFill>
                  <a:srgbClr val="8A96A3"/>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7</a:t>
            </a:fld>
            <a:endParaRPr lang="en-US"/>
          </a:p>
        </p:txBody>
      </p:sp>
    </p:spTree>
    <p:extLst>
      <p:ext uri="{BB962C8B-B14F-4D97-AF65-F5344CB8AC3E}">
        <p14:creationId xmlns:p14="http://schemas.microsoft.com/office/powerpoint/2010/main" val="401117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6E8202-D62C-BAF4-43B0-F1FC010967B8}"/>
              </a:ext>
            </a:extLst>
          </p:cNvPr>
          <p:cNvSpPr txBox="1"/>
          <p:nvPr/>
        </p:nvSpPr>
        <p:spPr>
          <a:xfrm>
            <a:off x="1097280" y="1371600"/>
            <a:ext cx="9966960" cy="4389120"/>
          </a:xfrm>
          <a:prstGeom prst="rect">
            <a:avLst/>
          </a:prstGeom>
          <a:noFill/>
        </p:spPr>
        <p:txBody>
          <a:bodyPr wrap="square" rtlCol="0" tIns="91440" bIns="91440">
            <a:spAutoFit/>
          </a:bodyPr>
          <a:lstStyle/>
          <a:p>
            <a:pPr algn="ctr"/>
            <a:r>
              <a:rPr sz="2800" b="1">
                <a:solidFill>
                  <a:srgbClr val="003B7A"/>
                </a:solidFill>
                <a:latin typeface="Aptos Display"/>
              </a:rPr>
              <a:t>LIVE DEMONSTRATION: MEETINGMIND AI</a:t>
            </a:r>
          </a:p>
          <a:p>
            <a:pPr algn="ctr"/>
            <a:r>
              <a:rPr sz="1300" b="1">
                <a:solidFill>
                  <a:srgbClr val="475569"/>
                </a:solidFill>
                <a:latin typeface="Aptos"/>
              </a:rPr>
              <a:t>Problem EP-01: Smart Meeting Action Extractor  •  Qualcomm Cloud AI Track  •  http://localhost:8501</a:t>
            </a:r>
          </a:p>
          <a:p/>
          <a:p>
            <a:pPr algn="l"/>
            <a:r>
              <a:rPr sz="1100">
                <a:solidFill>
                  <a:srgbClr val="0F172A"/>
                </a:solidFill>
                <a:latin typeface="Aptos"/>
              </a:rPr>
              <a:t>1. Sidebar Health Check: Live status indicator verifying active handshake with Cirrascale Qualcomm Cloud AI API.</a:t>
            </a:r>
          </a:p>
          <a:p/>
          <a:p>
            <a:pPr algn="l"/>
            <a:r>
              <a:rPr sz="1100">
                <a:solidFill>
                  <a:srgbClr val="0F172A"/>
                </a:solidFill>
                <a:latin typeface="Aptos"/>
              </a:rPr>
              <a:t>2. Messy Benchmark Transcript: 1-Click loading of real-world notes containing implicit commitments, tentative offers &amp; unassigned work.</a:t>
            </a:r>
          </a:p>
          <a:p/>
          <a:p>
            <a:pPr algn="l"/>
            <a:r>
              <a:rPr sz="1100">
                <a:solidFill>
                  <a:srgbClr val="0F172A"/>
                </a:solidFill>
                <a:latin typeface="Aptos"/>
              </a:rPr>
              <a:t>3. Live Hardware Execution: Real-time inference using DeepSeek-R1-Distill-70B on Qualcomm Cloud AI with verbatim quote grounding.</a:t>
            </a:r>
          </a:p>
          <a:p/>
          <a:p>
            <a:pPr algn="l"/>
            <a:r>
              <a:rPr sz="1100">
                <a:solidFill>
                  <a:srgbClr val="0F172A"/>
                </a:solidFill>
                <a:latin typeface="Aptos"/>
              </a:rPr>
              <a:t>4. Anti-Hallucination Triage: Interactive table isolating missing owners &amp; vague dates, surfacing proactive Clarification Questions.</a:t>
            </a:r>
          </a:p>
          <a:p/>
          <a:p>
            <a:pPr algn="l"/>
            <a:r>
              <a:rPr sz="1100">
                <a:solidFill>
                  <a:srgbClr val="0F172A"/>
                </a:solidFill>
                <a:latin typeface="Aptos"/>
              </a:rPr>
              <a:t>5. Enterprise Deliverables Export: 1-Click download of RFC-compliant Jira/Asana CSV and schema-validated JSON deliverables.</a:t>
            </a:r>
          </a:p>
        </p:txBody>
      </p:sp>
    </p:spTree>
    <p:extLst>
      <p:ext uri="{BB962C8B-B14F-4D97-AF65-F5344CB8AC3E}">
        <p14:creationId xmlns:p14="http://schemas.microsoft.com/office/powerpoint/2010/main" val="3057323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a0819fa7-4367-4500-ba88-dd630d977609}" enabled="1" method="Standard" siteId="{63ce7d59-2f3e-42cd-a8cc-be764cff5eb6}" removed="0"/>
</clbl:labelList>
</file>

<file path=docProps/app.xml><?xml version="1.0" encoding="utf-8"?>
<Properties xmlns="http://schemas.openxmlformats.org/officeDocument/2006/extended-properties" xmlns:vt="http://schemas.openxmlformats.org/officeDocument/2006/docPropsVTypes">
  <TotalTime>71</TotalTime>
  <Words>682</Words>
  <Application>Microsoft Office PowerPoint</Application>
  <PresentationFormat>Widescreen</PresentationFormat>
  <Paragraphs>119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Infosys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Hack-AI-Thon Student Briefing</dc:title>
  <dc:subject>Infosys ENG NEXT 2026 Hack-AI-Thon student briefing</dc:subject>
  <dc:creator>Venkat Kandhari</dc:creator>
  <cp:lastModifiedBy>Venkat Kandhari</cp:lastModifiedBy>
  <cp:revision>3</cp:revision>
  <dcterms:created xsi:type="dcterms:W3CDTF">2026-09-27T06:06:02Z</dcterms:created>
  <dcterms:modified xsi:type="dcterms:W3CDTF">2026-10-04T05:57:12Z</dcterms:modified>
</cp:coreProperties>
</file>